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9" r:id="rId10"/>
    <p:sldId id="293" r:id="rId64"/>
    <p:sldId id="292" r:id="rId63"/>
    <p:sldId id="291" r:id="rId62"/>
    <p:sldId id="290" r:id="rId61"/>
    <p:sldId id="289" r:id="rId60"/>
    <p:sldId id="288" r:id="rId59"/>
    <p:sldId id="287" r:id="rId58"/>
    <p:sldId id="286" r:id="rId57"/>
    <p:sldId id="285" r:id="rId56"/>
    <p:sldId id="284" r:id="rId55"/>
    <p:sldId id="283" r:id="rId54"/>
    <p:sldId id="282" r:id="rId53"/>
    <p:sldId id="281" r:id="rId52"/>
    <p:sldId id="280" r:id="rId51"/>
    <p:sldId id="279" r:id="rId50"/>
    <p:sldId id="278" r:id="rId49"/>
    <p:sldId id="277" r:id="rId48"/>
    <p:sldId id="276" r:id="rId47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1CCE7A-FDF7-472A-909B-C5EBB1D3D8B2}">
  <a:tblStyle styleId="{3A1CCE7A-FDF7-472A-909B-C5EBB1D3D8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0" Type="http://schemas.openxmlformats.org/officeDocument/2006/relationships/slide" Target="slides/slide2.xml"/><Relationship Id="rId27" Type="http://schemas.openxmlformats.org/officeDocument/2006/relationships/font" Target="fonts/DMSansMedium-regular.fntdata"/><Relationship Id="rId28" Type="http://schemas.openxmlformats.org/officeDocument/2006/relationships/font" Target="fonts/DMSansMedium-bold.fntdata"/><Relationship Id="rId29" Type="http://schemas.openxmlformats.org/officeDocument/2006/relationships/font" Target="fonts/DMSansMedium-italic.fntdata"/><Relationship Id="rId30" Type="http://schemas.openxmlformats.org/officeDocument/2006/relationships/font" Target="fonts/DMSansMedium-boldItalic.fntdata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Inter-regular.fntdata"/><Relationship Id="rId36" Type="http://schemas.openxmlformats.org/officeDocument/2006/relationships/font" Target="fonts/Inter-bold.fntdata"/><Relationship Id="rId37" Type="http://schemas.openxmlformats.org/officeDocument/2006/relationships/font" Target="fonts/Inter-italic.fntdata"/><Relationship Id="rId38" Type="http://schemas.openxmlformats.org/officeDocument/2006/relationships/font" Target="fonts/Inter-boldItalic.fntdata"/><Relationship Id="rId39" Type="http://schemas.openxmlformats.org/officeDocument/2006/relationships/font" Target="fonts/PoppinsSemiBold-regular.fntdata"/><Relationship Id="rId40" Type="http://schemas.openxmlformats.org/officeDocument/2006/relationships/font" Target="fonts/PoppinsSemiBold-bold.fntdata"/><Relationship Id="rId41" Type="http://schemas.openxmlformats.org/officeDocument/2006/relationships/font" Target="fonts/PoppinsSemiBold-italic.fntdata"/><Relationship Id="rId42" Type="http://schemas.openxmlformats.org/officeDocument/2006/relationships/font" Target="fonts/PoppinsSemiBold-boldItalic.fntdata"/><Relationship Id="rId43" Type="http://schemas.openxmlformats.org/officeDocument/2006/relationships/font" Target="fonts/DMSans-regular.fntdata"/><Relationship Id="rId44" Type="http://schemas.openxmlformats.org/officeDocument/2006/relationships/font" Target="fonts/DMSans-bold.fntdata"/><Relationship Id="rId45" Type="http://schemas.openxmlformats.org/officeDocument/2006/relationships/font" Target="fonts/DMSans-italic.fntdata"/><Relationship Id="rId46" Type="http://schemas.openxmlformats.org/officeDocument/2006/relationships/font" Target="fonts/DMSans-boldItalic.fntdata"/><Relationship Id="rId47" Type="http://schemas.openxmlformats.org/officeDocument/2006/relationships/slide" Target="slides/slide20.xml"/><Relationship Id="rId48" Type="http://schemas.openxmlformats.org/officeDocument/2006/relationships/slide" Target="slides/slide19.xml"/><Relationship Id="rId49" Type="http://schemas.openxmlformats.org/officeDocument/2006/relationships/slide" Target="slides/slide18.xml"/><Relationship Id="rId50" Type="http://schemas.openxmlformats.org/officeDocument/2006/relationships/slide" Target="slides/slide17.xml"/><Relationship Id="rId51" Type="http://schemas.openxmlformats.org/officeDocument/2006/relationships/slide" Target="slides/slide16.xml"/><Relationship Id="rId52" Type="http://schemas.openxmlformats.org/officeDocument/2006/relationships/slide" Target="slides/slide15.xml"/><Relationship Id="rId53" Type="http://schemas.openxmlformats.org/officeDocument/2006/relationships/slide" Target="slides/slide14.xml"/><Relationship Id="rId54" Type="http://schemas.openxmlformats.org/officeDocument/2006/relationships/slide" Target="slides/slide13.xml"/><Relationship Id="rId55" Type="http://schemas.openxmlformats.org/officeDocument/2006/relationships/slide" Target="slides/slide12.xml"/><Relationship Id="rId56" Type="http://schemas.openxmlformats.org/officeDocument/2006/relationships/slide" Target="slides/slide11.xml"/><Relationship Id="rId57" Type="http://schemas.openxmlformats.org/officeDocument/2006/relationships/slide" Target="slides/slide10.xml"/><Relationship Id="rId58" Type="http://schemas.openxmlformats.org/officeDocument/2006/relationships/slide" Target="slides/slide9.xml"/><Relationship Id="rId59" Type="http://schemas.openxmlformats.org/officeDocument/2006/relationships/slide" Target="slides/slide8.xml"/><Relationship Id="rId60" Type="http://schemas.openxmlformats.org/officeDocument/2006/relationships/slide" Target="slides/slide7.xml"/><Relationship Id="rId61" Type="http://schemas.openxmlformats.org/officeDocument/2006/relationships/slide" Target="slides/slide6.xml"/><Relationship Id="rId62" Type="http://schemas.openxmlformats.org/officeDocument/2006/relationships/slide" Target="slides/slide5.xml"/><Relationship Id="rId63" Type="http://schemas.openxmlformats.org/officeDocument/2006/relationships/slide" Target="slides/slide4.xml"/><Relationship Id="rId6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7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Relationship Id="rId1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31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30.png"/><Relationship Id="rId13" Type="http://schemas.openxmlformats.org/officeDocument/2006/relationships/image" Target="../media/image14.png"/><Relationship Id="rId1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Application ID: [Enter ID]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1069848" y="3931920"/>
            <a:ext cx="10058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59669"/>
                </a:solidFill>
                <a:latin typeface="Poppins SemiBold"/>
              </a:rPr>
              <a:t>VergeLink</a:t>
            </a:r>
            <a:r>
              <a:rPr sz="1300" b="0" i="0">
                <a:solidFill>
                  <a:srgbClr val="334155"/>
                </a:solidFill>
                <a:latin typeface="DM Sans"/>
              </a:rPr>
              <a:t>  —  camera-free eye + jaw-clench control of fan and light for people with quadriplegia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9848" y="4480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DM Sans"/>
              </a:rPr>
              <a:t>Team ID: [Team ID]   |   Track: [Track]   |   Dept. of Biomedical Engineering, VCET Erode (Batch 23BM7A)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9848" y="47731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DM Sans"/>
              </a:rPr>
              <a:t>Faculty guide: Mrs. C. Radhika   ·   Industry mentor: K. P. Amalnath, Mediowel Healthineers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Problem Context (1/2): Who Is Affected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94944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~20,000 / yr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4944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NEW SPINAL CORD INJURIES, INDIA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351276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3515868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1.5 million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515868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INDIANS LIVING WITH SCI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172200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6336792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54.4 lakh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36792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MOVEMENT DISABILITY (CENSUS 2011)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993124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9157715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~12.9 h / day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157715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UNPAID CARE, SCI USERS (US STUDY)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0352" y="1737360"/>
            <a:ext cx="5431536" cy="1920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865375"/>
            <a:ext cx="155448" cy="155448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932688" y="1837943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Project Overview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94944" y="205740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Title: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VergeLink — camera-free eye + jaw-clench control of fan and light.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Team / Track: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[Team ID]  |  [Track]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Core innovation: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bilateral EOG vergence + ToF depth + a deliberate jaw clench (EMG) give two-factor, camera-free appliance control from ₹13,093 of parts.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30352" y="3803904"/>
            <a:ext cx="5431536" cy="1755648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3931920"/>
            <a:ext cx="155448" cy="155448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932688" y="3904488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Problem Statement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4944" y="411480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334155"/>
                </a:solidFill>
                <a:latin typeface="DM Sans"/>
              </a:rPr>
              <a:t>People with quadriplegia who can still move their eyes and jaw cannot switch their own fan or light. Every change waits on a caregiver, and the hands-free options available depend on a camera, on clear speech, or cost well beyond most Indian households.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227064" y="1737360"/>
            <a:ext cx="5431536" cy="3822191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1" name="Picture 18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655" y="1865375"/>
            <a:ext cx="155448" cy="155448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6629399" y="1837943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Target Beneficiary Segment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400800" y="2075688"/>
            <a:ext cx="51206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Primary users: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adults with high cervical spinal cord injury, ALS/MND or similar conditions who keep reliable eye movement and jaw control.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Secondary users: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family caregivers at home, and attendants on rehabilitation wards who handle every environmental request by hand.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Setting: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Indian homes and wards with ordinary ceiling fans, regulators and wall switches — no smart-home wiring assumed.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Who is out of scope (for now):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users without dependable jaw control, and wheelchair driving — that needs separate safety engineering.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Data sources: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International Health Policies (SCI incidence and prevalence), Census of India 2011 (movement disability), SCIRE Project / Robinson-Whelan &amp; Rintala 2003 (care hours, US data) — see References.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Problem Context (2/2): Why Today's Options Fall Short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11128248" cy="3246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060704"/>
            <a:ext cx="155448" cy="15544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32688" y="1033272"/>
            <a:ext cx="10616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Existing hands-free approaches vs the needs of a person with quadriplegia</a:t>
            </a:r>
          </a:p>
        </p:txBody>
      </p:sp>
      <p:graphicFrame>
        <p:nvGraphicFramePr>
          <p:cNvPr id="163" name="Table 162"/>
          <p:cNvGraphicFramePr>
            <a:graphicFrameLocks noGrp="1"/>
          </p:cNvGraphicFramePr>
          <p:nvPr/>
        </p:nvGraphicFramePr>
        <p:xfrm>
          <a:off x="694944" y="1261872"/>
          <a:ext cx="10799062" cy="26883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40280"/>
                <a:gridCol w="2743200"/>
                <a:gridCol w="3977639"/>
                <a:gridCol w="183794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Approach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What it needs from the user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Where it breaks down at home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Cost signal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Calling a caregiver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Voice, and a caregiver within earshot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Every change waits on someone else, day and night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Caregiver time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Camera eye-tracker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Stable head, screen-facing camera, steady lighting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Lighting changes, privacy concerns, needs a screen in view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Imported devices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Voice assistant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Clear, consistent speech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Fails with weak, slurred or absent speech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Low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Sip-and-puff / switch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Breath control or residual movement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Mouth-held tube, caregiver set-up, hygiene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Moderate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EOG communicator (Netravaad)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Eye gestures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Built for communication, not for direct appliance control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₹1.65 lakh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VergeLink (this project)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Eye movement + jaw clench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Prototype stage — performance to be measured in Stage 3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₹13,093 parts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64" name="Rounded Rectangle 163"/>
          <p:cNvSpPr/>
          <p:nvPr/>
        </p:nvSpPr>
        <p:spPr>
          <a:xfrm>
            <a:off x="530352" y="4343400"/>
            <a:ext cx="5477256" cy="1216152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4471416"/>
            <a:ext cx="155448" cy="155448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932688" y="4443984"/>
            <a:ext cx="4965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The gap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94944" y="4645152"/>
            <a:ext cx="5166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1" b="0" i="0">
                <a:solidFill>
                  <a:srgbClr val="334155"/>
                </a:solidFill>
                <a:latin typeface="DM Sans"/>
              </a:rPr>
              <a:t>No low-cost, camera-free option lets the user switch a specific appliance with intent they control — without speech and without a caregiver.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181344" y="4343400"/>
            <a:ext cx="5477256" cy="1216152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4471416"/>
            <a:ext cx="155448" cy="155448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6583679" y="4443984"/>
            <a:ext cx="4965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Public search disclosure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45936" y="4645152"/>
            <a:ext cx="5166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11" b="0" i="0">
                <a:solidFill>
                  <a:srgbClr val="334155"/>
                </a:solidFill>
                <a:latin typeface="DM Sans"/>
              </a:rPr>
              <a:t>VergeIO (2025) showed bilateral EOG can tell 4 depth gestures apart on glasses (97%). It is an input study, not home-appliance control for paralysed users.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Positioning: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VergeLink combines published bilateral-EOG vergence sensing with ToF depth evidence and a jaw-clench confirmation, aimed at one job: independent fan and light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User Journey (1/2): Before State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603504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befo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9" y="1005840"/>
            <a:ext cx="5590785" cy="2551175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30352" y="3675887"/>
            <a:ext cx="6035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"/>
              </a:rPr>
              <a:t>Figure: Current pain-point flow for one fan or light change.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30352" y="3950208"/>
            <a:ext cx="6035040" cy="160934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4078224"/>
            <a:ext cx="155448" cy="15544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32688" y="4050792"/>
            <a:ext cx="55229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Baseline we will record before Stage 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94944" y="4261104"/>
            <a:ext cx="5715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0" i="0">
                <a:solidFill>
                  <a:srgbClr val="334155"/>
                </a:solidFill>
                <a:latin typeface="DM Sans"/>
              </a:rPr>
              <a:t>3-day log with a partner family: each fan/light request, time asked, time done, who helped.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0" i="0">
                <a:solidFill>
                  <a:srgbClr val="334155"/>
                </a:solidFill>
                <a:latin typeface="DM Sans"/>
              </a:rPr>
              <a:t>Same log format reused in Stage 3 trials, so before and after are measured the same way.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748272" y="932688"/>
            <a:ext cx="4910328" cy="462686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2864" y="1060704"/>
            <a:ext cx="155448" cy="15544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7150607" y="1033272"/>
            <a:ext cx="4398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Quantified Inefficiency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912864" y="1325880"/>
            <a:ext cx="457200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7077456" y="1389888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369A1"/>
                </a:solidFill>
                <a:latin typeface="Poppins"/>
              </a:rPr>
              <a:t>100%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077456" y="1700784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OF FAN / LIGHT CHANGES NEED ANOTHER PERSON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912864" y="2112264"/>
            <a:ext cx="457200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7077456" y="217627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369A1"/>
                </a:solidFill>
                <a:latin typeface="Poppins"/>
              </a:rPr>
              <a:t>~12.9 h / day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077456" y="2487168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UNPAID CARE RECEIVED BY SCI USERS (US STUDY)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912864" y="2898648"/>
            <a:ext cx="4572000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7077456" y="2962656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369A1"/>
                </a:solidFill>
                <a:latin typeface="Poppins"/>
              </a:rPr>
              <a:t>₹1.65 lakh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077456" y="3273552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PRICE OF AN INDIAN EOG COMMUNICATOR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12864" y="3767328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Time loss: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user waits for every change; caregiver's own task is interrupted each time.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Safety: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a user left too hot or in the dark cannot fix it alone.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Wait time per change: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not yet measured — the baseline log above will give it.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Honesty note: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the 100% figure follows from the user being unable to reach a switch; the care-hours figure is US data; local wait times will come from our own baseline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User Journey (2/2): After State &amp; Efficiency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65379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aft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41" y="1005840"/>
            <a:ext cx="5633180" cy="2596896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30352" y="3721608"/>
            <a:ext cx="6537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"/>
              </a:rPr>
              <a:t>Figure: Target after-state flow — look, clench, relay switches.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30352" y="3995928"/>
            <a:ext cx="6537960" cy="156362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4123944"/>
            <a:ext cx="155448" cy="15544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32688" y="4096512"/>
            <a:ext cx="6025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How these targets will be measured (Stage 3)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94944" y="4297680"/>
            <a:ext cx="6263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Timed trials: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app logs time from target shown to relay state confirmed, per attempt.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False activations: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30-minute armed sessions of rest, talking, chewing and blinking.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1" b="1" i="0">
                <a:solidFill>
                  <a:srgbClr val="334155"/>
                </a:solidFill>
                <a:latin typeface="DM Sans"/>
              </a:rPr>
              <a:t>Accuracy: </a:t>
            </a:r>
            <a:r>
              <a:rPr sz="1011" b="0" i="0">
                <a:solidFill>
                  <a:srgbClr val="334155"/>
                </a:solidFill>
                <a:latin typeface="DM Sans"/>
              </a:rPr>
              <a:t>2 targets × 2 depths, scripted order, team volunteers under approval.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269480" y="932688"/>
            <a:ext cx="4389120" cy="462686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072" y="1060704"/>
            <a:ext cx="155448" cy="15544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7671816" y="1033272"/>
            <a:ext cx="38770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Quantified Efficiency (targets)</a:t>
            </a: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7424927" y="1280160"/>
          <a:ext cx="4096512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1325880"/>
                <a:gridCol w="158191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Before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VergeLink target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Who switches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Caregiver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User alone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Time per change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Caregiver response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≤ 3 s look → relay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Hands-free cost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₹1.65 L (Netravaad)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₹13,093 BOM (−92%)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Camera / mic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Needed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Neither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False activations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≤ 1 per 30 min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Selection accuracy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≥ 90% (2 × 2 targets)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Caregiver trips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Every change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Zero for fan/light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7424927" y="4343400"/>
            <a:ext cx="411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F172A"/>
                </a:solidFill>
                <a:latin typeface="DM Sans"/>
              </a:rPr>
              <a:t>Scope: </a:t>
            </a:r>
            <a:r>
              <a:rPr sz="919" b="0" i="0">
                <a:solidFill>
                  <a:srgbClr val="475569"/>
                </a:solidFill>
                <a:latin typeface="DM Sans"/>
              </a:rPr>
              <a:t>only the cost row is a fact today. Every other VergeLink figure is a design target to be measured after parts arrive.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Beneficiary impact: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routine fan and light changes become self-directed, so the caregiver's time goes to care that genuinely needs a person.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System Architecture (1/2): Block Diagram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6400800" cy="342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syste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15" y="1005839"/>
            <a:ext cx="6030672" cy="3282696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30352" y="4407408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"/>
              </a:rPr>
              <a:t>Figure: Subsystems — worn sensing unit, laptop application, and mains-side relay.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114032" y="932688"/>
            <a:ext cx="4544568" cy="462686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8624" y="1060704"/>
            <a:ext cx="155448" cy="15544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516368" y="1033272"/>
            <a:ext cx="4032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Subsystems &amp; Firmware / Logic Flow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278624" y="1280160"/>
            <a:ext cx="4224528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Mechanical: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PETG body-worn enclosure + forehead sensor pod on an elastic headband.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Power: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10,000 mAh bank → ESP32 VIN; separate MCP1700 3V3 rail for the bio-amps.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Electronics: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2× EXG Pill, BisCute, ESP32 ADC1, VL53L5CX + MPU6500 on I2C.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Firmware: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timed sampling of 3 analog channels + I2C sensors; every frame time-stamped and health-flagged.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Laptop logic: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DISARMED → ARMED → CANDIDATE (gaze + depth agree) → CONFIRMED (clench in window) → explicit ON/OFF.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30352" y="4681728"/>
            <a:ext cx="6400800" cy="87782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694944" y="4736592"/>
            <a:ext cx="6126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0F172A"/>
                </a:solidFill>
                <a:latin typeface="DM Sans"/>
              </a:rPr>
              <a:t>Signal path: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electrodes → bio-amps → RC filter → ESP32 ADC1 → Bluetooth → laptop decoder → Wi-Fi → DUALR3 relay → fan / light.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Architecture rationale: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analog inputs use ADC1 only because ESP32 ADC2 cannot be used while the radio runs; the body-worn unit has no wired path to 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System Architecture (2/2): Specs &amp; Hardware Selection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5669280" cy="462686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060704"/>
            <a:ext cx="155448" cy="15544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32688" y="1033272"/>
            <a:ext cx="51572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Engineering Target Specifications</a:t>
            </a:r>
          </a:p>
        </p:txBody>
      </p:sp>
      <p:graphicFrame>
        <p:nvGraphicFramePr>
          <p:cNvPr id="163" name="Table 162"/>
          <p:cNvGraphicFramePr>
            <a:graphicFrameLocks noGrp="1"/>
          </p:cNvGraphicFramePr>
          <p:nvPr/>
        </p:nvGraphicFramePr>
        <p:xfrm>
          <a:off x="694944" y="1261872"/>
          <a:ext cx="5349240" cy="3867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2240280"/>
                <a:gridCol w="15087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Parameter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Target spec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Eye signals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2 ch bilateral horizontal EOG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Parts ordered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Intent confirm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 ch jaw EMG (72–720 Hz band)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Parts ordered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Depth evidence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8×8 zones, up to 4 m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Parts ordered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Sampling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≥ 500 Hz per analog channel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Laptop link latency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&lt; 50 ms per frame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Look → relay time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≤ 3 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Session length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≥ 8 h on battery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Appliance channels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2, explicit ON / OFF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Parts ordered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4" name="Rounded Rectangle 163"/>
          <p:cNvSpPr/>
          <p:nvPr/>
        </p:nvSpPr>
        <p:spPr>
          <a:xfrm>
            <a:off x="6382512" y="932688"/>
            <a:ext cx="5276088" cy="462686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7104" y="1060704"/>
            <a:ext cx="155448" cy="155448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6784848" y="1033272"/>
            <a:ext cx="47640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Hardware Selection &amp; Protocols</a:t>
            </a:r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6537960" y="1261872"/>
          <a:ext cx="4965192" cy="3803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1463040"/>
                <a:gridCol w="235915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Block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Why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EOG front-end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2× BioAmp EXG Pill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Single-supply, matches published bilateral set-up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EMG front-end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BisCute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Built-in EMG band-pass; low cost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Controller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ESP32-WROOM-32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3 ADC1 inputs + Bluetooth + Wi-Fi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Depth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VL53L5CX (I2C)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8×8 zones, Class 1 emitter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Head motion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MPU6500 (I2C)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Motion rejection only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Laptop link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Bluetooth serial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No extra radio hardware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Relay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SONOFF DUALR3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2 channels in one retrofit box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Rounded Rectangle 167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Superseded choices: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ADS1293 AFE (₹6,995, cancelled), nRF52840 MCU and two MINIR4 relays from Stage 1 were replaced to stay within the ₹16,000 cap.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CAD Design &amp; Mechanical Specs (1/2)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576072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cad_expl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035" y="1005840"/>
            <a:ext cx="3057352" cy="2962656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30352" y="4087368"/>
            <a:ext cx="5760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"/>
              </a:rPr>
              <a:t>Figure: FreeCAD 1.1 exploded assembly of enclosure, lid, perfboard, modules and sensor pod.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30352" y="4370832"/>
            <a:ext cx="2788920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4" name="Picture 163" descr="cad_iso_assembl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0544" y="4443984"/>
            <a:ext cx="1388535" cy="1042416"/>
          </a:xfrm>
          <a:prstGeom prst="rect">
            <a:avLst/>
          </a:prstGeom>
        </p:spPr>
      </p:pic>
      <p:sp>
        <p:nvSpPr>
          <p:cNvPr id="165" name="Rounded Rectangle 164"/>
          <p:cNvSpPr/>
          <p:nvPr/>
        </p:nvSpPr>
        <p:spPr>
          <a:xfrm>
            <a:off x="3474720" y="4370832"/>
            <a:ext cx="2816352" cy="1188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3611880" y="4425696"/>
            <a:ext cx="2560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369A1"/>
                </a:solidFill>
                <a:latin typeface="Poppins"/>
              </a:rPr>
              <a:t>12 parts</a:t>
            </a:r>
          </a:p>
          <a:p>
            <a:pPr algn="l"/>
            <a:r>
              <a:rPr sz="940" b="0" i="0">
                <a:solidFill>
                  <a:srgbClr val="334155"/>
                </a:solidFill>
                <a:latin typeface="DM Sans"/>
              </a:rPr>
              <a:t>Parametric FreeCAD model; STEP exported for printing.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473952" y="932688"/>
            <a:ext cx="5184648" cy="462686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8544" y="1060704"/>
            <a:ext cx="155448" cy="15544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6876288" y="1033272"/>
            <a:ext cx="4672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Mechanical Specifications</a:t>
            </a: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6629400" y="1261872"/>
          <a:ext cx="4873752" cy="3867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410712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Item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Specification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Enclosure (outer)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116 × 92 × 30 mm, 2.2 mm walls, 5 mm radii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Board mounting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4 × M2.5 standoffs, 3×4 in perfboard pattern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Wall ports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3 electrode leads, pod cable, USB power, ESP32 USB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Lid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Disarm button hole, 2 status LEDs, label pocket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Forehead pod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64 × 30 × 16 mm; 14 × 10 mm ToF window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Headband slots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26 × 3.5 mm, elastic band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Strap loops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2 rear loops for 25 mm webbing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Material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PETG, FDM (college printer)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1" name="Rounded Rectangle 170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Design iteration: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CAD review caught the strap-loop gap modelled on the wrong side (loop was solid against the case) — corrected before FEA.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CAD Design &amp; Mechanical Specs (2/2): FEA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603504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fea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237568"/>
            <a:ext cx="5925312" cy="2910679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30352" y="4498848"/>
            <a:ext cx="6035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"/>
              </a:rPr>
              <a:t>Figure: CalculiX von Mises stress on the strap loop, 50 N pull, deformation ×10.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30352" y="4773168"/>
            <a:ext cx="6035040" cy="7863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694944" y="4809744"/>
            <a:ext cx="5760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80" b="1" i="0">
                <a:solidFill>
                  <a:srgbClr val="0F172A"/>
                </a:solidFill>
                <a:latin typeface="DM Sans"/>
              </a:rPr>
              <a:t>Why this part: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the strap loop carries the whole box if the strap snags on a wheelchair or bed rail.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748272" y="932688"/>
            <a:ext cx="4910328" cy="2395728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2864" y="1060704"/>
            <a:ext cx="155448" cy="15544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7150607" y="1033272"/>
            <a:ext cx="4398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FEA Load Case &amp; Results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912864" y="1261872"/>
            <a:ext cx="4617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60" b="1" i="0">
                <a:solidFill>
                  <a:srgbClr val="334155"/>
                </a:solidFill>
                <a:latin typeface="DM Sans"/>
              </a:rPr>
              <a:t>Geometry: </a:t>
            </a:r>
            <a:r>
              <a:rPr sz="960" b="0" i="0">
                <a:solidFill>
                  <a:srgbClr val="334155"/>
                </a:solidFill>
                <a:latin typeface="DM Sans"/>
              </a:rPr>
              <a:t>30×6×6 mm loop, 2 mm posts, 3 mm bridge, on a 2.2 mm wall patch.</a:t>
            </a:r>
          </a:p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60" b="1" i="0">
                <a:solidFill>
                  <a:srgbClr val="334155"/>
                </a:solidFill>
                <a:latin typeface="DM Sans"/>
              </a:rPr>
              <a:t>Load / support: </a:t>
            </a:r>
            <a:r>
              <a:rPr sz="960" b="0" i="0">
                <a:solidFill>
                  <a:srgbClr val="334155"/>
                </a:solidFill>
                <a:latin typeface="DM Sans"/>
              </a:rPr>
              <a:t>wall face fixed; 50 N pull on the bridge, away from the case.</a:t>
            </a:r>
          </a:p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60" b="1" i="0">
                <a:solidFill>
                  <a:srgbClr val="334155"/>
                </a:solidFill>
                <a:latin typeface="DM Sans"/>
              </a:rPr>
              <a:t>Mesh: </a:t>
            </a:r>
            <a:r>
              <a:rPr sz="960" b="0" i="0">
                <a:solidFill>
                  <a:srgbClr val="334155"/>
                </a:solidFill>
                <a:latin typeface="DM Sans"/>
              </a:rPr>
              <a:t>44,420-node 2nd-order tetrahedra; E = 2.1 GPa, ν = 0.38.</a:t>
            </a:r>
          </a:p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60" b="1" i="0">
                <a:solidFill>
                  <a:srgbClr val="334155"/>
                </a:solidFill>
                <a:latin typeface="DM Sans"/>
              </a:rPr>
              <a:t>Result: </a:t>
            </a:r>
            <a:r>
              <a:rPr sz="960" b="0" i="0">
                <a:solidFill>
                  <a:srgbClr val="334155"/>
                </a:solidFill>
                <a:latin typeface="DM Sans"/>
              </a:rPr>
              <a:t>peak 21.3 MPa at the sharp bridge/post corner; max displacement 0.20 mm; FoS ≈ 2.1–2.3 vs ~45–50 MPa PETG yield.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748272" y="3474720"/>
            <a:ext cx="4910328" cy="2084831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2864" y="3602735"/>
            <a:ext cx="155448" cy="155448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7150607" y="3575303"/>
            <a:ext cx="4398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Material Selection</a:t>
            </a:r>
          </a:p>
        </p:txBody>
      </p:sp>
      <p:graphicFrame>
        <p:nvGraphicFramePr>
          <p:cNvPr id="172" name="Table 171"/>
          <p:cNvGraphicFramePr>
            <a:graphicFrameLocks noGrp="1"/>
          </p:cNvGraphicFramePr>
          <p:nvPr/>
        </p:nvGraphicFramePr>
        <p:xfrm>
          <a:off x="6912864" y="3785615"/>
          <a:ext cx="4590288" cy="16093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/>
                <a:gridCol w="2606040"/>
                <a:gridCol w="1161288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Material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For this device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Decision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PETG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Tough, prints well, tolerates warm rooms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PLA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Softens at modest temperatures, brittle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Rejected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ABS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Warps on an open-frame printer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Rejected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Rounded Rectangle 172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Next action: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add a 1 mm fillet at the stress corner and print with layers along the load path, since FDM inter-layer strength is below bulk.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Electronics Schematics &amp; BOM (1/2): Schematic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7406640" cy="4224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schematic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019480"/>
            <a:ext cx="7260336" cy="4050943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30352" y="5202936"/>
            <a:ext cx="7406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"/>
              </a:rPr>
              <a:t>Figure: KiCad 10 schematic, Rev A — ERC 0 errors / 0 warnings (kicad/VergeLink_Mainboard.kicad_sch).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119872" y="932688"/>
            <a:ext cx="3538728" cy="462686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4464" y="1060704"/>
            <a:ext cx="155448" cy="15544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8522208" y="1033272"/>
            <a:ext cx="3026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ESP32 Pin Map</a:t>
            </a:r>
          </a:p>
        </p:txBody>
      </p:sp>
      <p:graphicFrame>
        <p:nvGraphicFramePr>
          <p:cNvPr id="166" name="Table 165"/>
          <p:cNvGraphicFramePr>
            <a:graphicFrameLocks noGrp="1"/>
          </p:cNvGraphicFramePr>
          <p:nvPr/>
        </p:nvGraphicFramePr>
        <p:xfrm>
          <a:off x="8266175" y="1261872"/>
          <a:ext cx="3246120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6459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Pin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Signal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GPIO34 (ADC1_CH6)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Left EOG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GPIO35 (ADC1_CH7)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Right EOG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GPIO36 (ADC1_CH0)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Jaw EMG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GPIO21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I2C SDA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GPIO22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I2C SCL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GPIO32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Disarm button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GPIO13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Status LED (330 Ω)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VIN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5 V from power bank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3V3 out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ToF + IMU supply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Rounded Rectangle 166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Power distribution: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power bank 5 V → ESP32 VIN; MCP1700 LDO (1 µF in/out, 10 µF + 100 nF bulk) feeds only the three bio-amps; 1 kΩ + 100 nF RC (1.6 kHz) on each ADC input.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Electronics Schematics &amp; BOM (2/2): Itemized BOM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11128248" cy="462686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060704"/>
            <a:ext cx="155448" cy="15544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32688" y="1033272"/>
            <a:ext cx="10616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Itemized Prototype Bill of Materials (as ordered, incl. GST &amp; shipping)</a:t>
            </a:r>
          </a:p>
        </p:txBody>
      </p:sp>
      <p:graphicFrame>
        <p:nvGraphicFramePr>
          <p:cNvPr id="163" name="Table 162"/>
          <p:cNvGraphicFramePr>
            <a:graphicFrameLocks noGrp="1"/>
          </p:cNvGraphicFramePr>
          <p:nvPr/>
        </p:nvGraphicFramePr>
        <p:xfrm>
          <a:off x="694944" y="1261872"/>
          <a:ext cx="10799064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291840"/>
                <a:gridCol w="457200"/>
                <a:gridCol w="1828800"/>
                <a:gridCol w="2432304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Component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Part / specification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Qty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Vendor (India)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Order status (6 Oct 2026)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Cost ₹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EOG front-end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Upside Down Labs BioAmp EXG Pill kit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Upside Down Labs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Paid, order received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5,198.00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EMG front-end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BisCute kit + 100 cm cable + 2 electrode packs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Upside Down Labs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Paid, order received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1,346.00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Wi-Fi relay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SONOFF DUALR3, 2 channel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SONOFF India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Paid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1,665.06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Power bank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Portronics Aero 10, 10,000 mAh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Portronics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COD, confirmed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1,303.00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Depth sensor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SmartElex VL53L5CX ToF breakout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RoboTechMinds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Paid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1,096.80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MCU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ESP32-WROOM-32 38-pin DevKit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Robu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421.00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IMU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GY-6500 MPU6500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FlyRobo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COD, confirmed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345.00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LDO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MCP1700T-3302E/TT, SOT-23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Robu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Paid, processing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145.00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Passives &amp; build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Resistor kit, caps, LEDs, perfboard, headers, wire, button, OLED, cables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lot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Robu / IHC / ElectronComponents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Paid / completed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1,573.41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Cap ₹16,000 → headroom ₹2,906.73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13,093.27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64" name="Rounded Rectangle 163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Procurement: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every part is from Indian sellers — no imports. Delivery inventory and module-revision checks are in progress, so no lead time is claimed as met yet.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Your Maker Journey (1/2): Stage 1 → Stage 2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5431536" cy="13350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freecad_ui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998253"/>
            <a:ext cx="5358384" cy="1203893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30352" y="2304288"/>
            <a:ext cx="54315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"/>
              </a:rPr>
              <a:t>Figure: FreeCAD 1.1 session — VergeLink_Enclosure feature tree and model.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30352" y="2596896"/>
            <a:ext cx="5431536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713232" y="2734056"/>
            <a:ext cx="5065776" cy="2688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  <a:latin typeface="DM Sans"/>
              </a:rPr>
              <a:t>[Add photo]</a:t>
            </a:r>
          </a:p>
          <a:p>
            <a:pPr algn="ctr"/>
            <a:r>
              <a:rPr sz="960" b="0" i="0">
                <a:solidFill>
                  <a:srgbClr val="64748B"/>
                </a:solidFill>
                <a:latin typeface="DM Sans"/>
              </a:rPr>
              <a:t>Team members soldering the perfboard / assembling the enclosure, wearing institutional ID badges.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227064" y="932688"/>
            <a:ext cx="5431536" cy="462686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655" y="1060704"/>
            <a:ext cx="155448" cy="15544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6629399" y="1033272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Stage 1 to Stage 2 Engineering Iterations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00800" y="1280160"/>
            <a:ext cx="5120640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7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1" i="0">
                <a:solidFill>
                  <a:srgbClr val="334155"/>
                </a:solidFill>
                <a:latin typeface="DM Sans"/>
              </a:rPr>
              <a:t>Front-end pivot: </a:t>
            </a:r>
            <a:r>
              <a:rPr sz="1000" b="0" i="0">
                <a:solidFill>
                  <a:srgbClr val="334155"/>
                </a:solidFill>
                <a:latin typeface="DM Sans"/>
              </a:rPr>
              <a:t>Stage 1 planned ADS1293 + AD8232 + nRF52840. The ₹6,995 ADS1293 order was cancelled; two EXG Pills + BisCute + ESP32 keep the build inside ₹16,000.</a:t>
            </a:r>
          </a:p>
          <a:p>
            <a:pPr marL="155448" indent="-155448">
              <a:spcAft>
                <a:spcPts val="7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1" i="0">
                <a:solidFill>
                  <a:srgbClr val="334155"/>
                </a:solidFill>
                <a:latin typeface="DM Sans"/>
              </a:rPr>
              <a:t>Scope made honest: </a:t>
            </a:r>
            <a:r>
              <a:rPr sz="1000" b="0" i="0">
                <a:solidFill>
                  <a:srgbClr val="334155"/>
                </a:solidFill>
                <a:latin typeface="DM Sans"/>
              </a:rPr>
              <a:t>vertical EOG channel, magnetometer heading, wheelchair DAC and dry electrodes are out of this build; Stage 1 simulation figures are not reported as results.</a:t>
            </a:r>
          </a:p>
          <a:p>
            <a:pPr marL="155448" indent="-155448">
              <a:spcAft>
                <a:spcPts val="7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1" i="0">
                <a:solidFill>
                  <a:srgbClr val="334155"/>
                </a:solidFill>
                <a:latin typeface="DM Sans"/>
              </a:rPr>
              <a:t>Actuation: </a:t>
            </a:r>
            <a:r>
              <a:rPr sz="1000" b="0" i="0">
                <a:solidFill>
                  <a:srgbClr val="334155"/>
                </a:solidFill>
                <a:latin typeface="DM Sans"/>
              </a:rPr>
              <a:t>two MINIR4 relays replaced by one SONOFF DUALR3.</a:t>
            </a:r>
          </a:p>
          <a:p>
            <a:pPr marL="155448" indent="-155448">
              <a:spcAft>
                <a:spcPts val="7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1" i="0">
                <a:solidFill>
                  <a:srgbClr val="334155"/>
                </a:solidFill>
                <a:latin typeface="DM Sans"/>
              </a:rPr>
              <a:t>CAD milestone: </a:t>
            </a:r>
            <a:r>
              <a:rPr sz="1000" b="0" i="0">
                <a:solidFill>
                  <a:srgbClr val="334155"/>
                </a:solidFill>
                <a:latin typeface="DM Sans"/>
              </a:rPr>
              <a:t>12-part FreeCAD assembly, STEP export and CalculiX FEA completed 14 Oct 2026.</a:t>
            </a:r>
          </a:p>
          <a:p>
            <a:pPr marL="155448" indent="-155448">
              <a:spcAft>
                <a:spcPts val="7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1" i="0">
                <a:solidFill>
                  <a:srgbClr val="334155"/>
                </a:solidFill>
                <a:latin typeface="DM Sans"/>
              </a:rPr>
              <a:t>EDA milestone: </a:t>
            </a:r>
            <a:r>
              <a:rPr sz="1000" b="0" i="0">
                <a:solidFill>
                  <a:srgbClr val="334155"/>
                </a:solidFill>
                <a:latin typeface="DM Sans"/>
              </a:rPr>
              <a:t>KiCad 10 schematic, 21 components, 15 named nets; ERC 0 errors / 0 warnings on 14 Oct 2026.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Institutional sign-off: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Faculty guide Mrs. C. Radhika, Dept. of Biomedical Engineering, VCET Erode (Batch 23BM7A) — [add review date / signature].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Your Maker Journey (2/2): Evidence &amp; Repository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5431536" cy="26974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060704"/>
            <a:ext cx="155448" cy="15544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32688" y="1033272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Raw Repository Linkage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94944" y="12618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369A1"/>
                </a:solidFill>
                <a:latin typeface="DM Sans"/>
              </a:rPr>
              <a:t>github.com/amalnathkp13-boop/vergelink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4944" y="1572768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60" b="0" i="0">
                <a:solidFill>
                  <a:srgbClr val="334155"/>
                </a:solidFill>
                <a:latin typeface="Courier New"/>
              </a:rPr>
              <a:t>presentation/   deck (.pptx) + PDF</a:t>
            </a:r>
          </a:p>
          <a:p>
            <a:pPr>
              <a:spcAft>
                <a:spcPts val="300"/>
              </a:spcAft>
            </a:pPr>
            <a:r>
              <a:rPr sz="960" b="0" i="0">
                <a:solidFill>
                  <a:srgbClr val="334155"/>
                </a:solidFill>
                <a:latin typeface="Courier New"/>
              </a:rPr>
              <a:t>cad/            .FCStd, .step, FEA model + results</a:t>
            </a:r>
          </a:p>
          <a:p>
            <a:pPr>
              <a:spcAft>
                <a:spcPts val="300"/>
              </a:spcAft>
            </a:pPr>
            <a:r>
              <a:rPr sz="960" b="0" i="0">
                <a:solidFill>
                  <a:srgbClr val="334155"/>
                </a:solidFill>
                <a:latin typeface="Courier New"/>
              </a:rPr>
              <a:t>kicad/          .kicad_sch, netlist, BOM, ERC report</a:t>
            </a:r>
          </a:p>
          <a:p>
            <a:pPr>
              <a:spcAft>
                <a:spcPts val="300"/>
              </a:spcAft>
            </a:pPr>
            <a:r>
              <a:rPr sz="960" b="0" i="0">
                <a:solidFill>
                  <a:srgbClr val="334155"/>
                </a:solidFill>
                <a:latin typeface="Courier New"/>
              </a:rPr>
              <a:t>figures/        every figure used in this deck</a:t>
            </a:r>
          </a:p>
          <a:p>
            <a:pPr>
              <a:spcAft>
                <a:spcPts val="300"/>
              </a:spcAft>
            </a:pPr>
            <a:r>
              <a:rPr sz="960" b="0" i="0">
                <a:solidFill>
                  <a:srgbClr val="334155"/>
                </a:solidFill>
                <a:latin typeface="Courier New"/>
              </a:rPr>
              <a:t>README.md       status, FEA summary, safety notes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30352" y="3776472"/>
            <a:ext cx="5431536" cy="17830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3904488"/>
            <a:ext cx="155448" cy="15544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932688" y="3877056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Work-in-Progress Software Evidence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94944" y="4087368"/>
            <a:ext cx="51206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CAD: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parametric FreeCAD tree with unsuppressed features (slide 12 screenshot).</a:t>
            </a:r>
          </a:p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EDA: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KiCad ERC report — 0 errors, 0 warnings (kicad/erc_report.rpt).</a:t>
            </a:r>
          </a:p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FEA: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44,420-node mesh and CalculiX result stored in the .FCStd file.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227064" y="932688"/>
            <a:ext cx="2633472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6409944" y="1069848"/>
            <a:ext cx="2267712" cy="2423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  <a:latin typeface="DM Sans"/>
              </a:rPr>
              <a:t>[Add photo]</a:t>
            </a:r>
          </a:p>
          <a:p>
            <a:pPr algn="ctr"/>
            <a:r>
              <a:rPr sz="960" b="0" i="0">
                <a:solidFill>
                  <a:srgbClr val="64748B"/>
                </a:solidFill>
                <a:latin typeface="DM Sans"/>
              </a:rPr>
              <a:t>Parts laid out on delivery, with order labels visible.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025128" y="932688"/>
            <a:ext cx="2633472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9208007" y="1069848"/>
            <a:ext cx="2267712" cy="2423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369A1"/>
                </a:solidFill>
                <a:latin typeface="DM Sans"/>
              </a:rPr>
              <a:t>[Add photo]</a:t>
            </a:r>
          </a:p>
          <a:p>
            <a:pPr algn="ctr"/>
            <a:r>
              <a:rPr sz="960" b="0" i="0">
                <a:solidFill>
                  <a:srgbClr val="64748B"/>
                </a:solidFill>
                <a:latin typeface="DM Sans"/>
              </a:rPr>
              <a:t>Joint review with the faculty guide.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227064" y="3776472"/>
            <a:ext cx="5431536" cy="17830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655" y="3904488"/>
            <a:ext cx="155448" cy="155448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6629399" y="3877056"/>
            <a:ext cx="4919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Authenticity Verification Plan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391656" y="4087368"/>
            <a:ext cx="51206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0" i="0">
                <a:solidFill>
                  <a:srgbClr val="334155"/>
                </a:solidFill>
                <a:latin typeface="DM Sans"/>
              </a:rPr>
              <a:t>Team members commit their own build logs, photos and firmware to the repository as each milestone lands.</a:t>
            </a:r>
          </a:p>
          <a:p>
            <a:pPr marL="155448" indent="-155448">
              <a:spcAft>
                <a:spcPts val="4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0" i="0">
                <a:solidFill>
                  <a:srgbClr val="334155"/>
                </a:solidFill>
                <a:latin typeface="DM Sans"/>
              </a:rPr>
              <a:t>All photos taken with institutional ID badges in frame; no embedded videos — links only.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Timestamps: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native files carry their creation dates; each new commit adds a dated record of Stage 2 progress for audit.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Safety &amp; Hazard Mitigation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11128248" cy="2761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060704"/>
            <a:ext cx="155448" cy="15544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32688" y="1033272"/>
            <a:ext cx="10616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FMEA Matrix — failure modes and embedded protections</a:t>
            </a:r>
          </a:p>
        </p:txBody>
      </p:sp>
      <p:graphicFrame>
        <p:nvGraphicFramePr>
          <p:cNvPr id="163" name="Table 162"/>
          <p:cNvGraphicFramePr>
            <a:graphicFrameLocks noGrp="1"/>
          </p:cNvGraphicFramePr>
          <p:nvPr/>
        </p:nvGraphicFramePr>
        <p:xfrm>
          <a:off x="694944" y="1298448"/>
          <a:ext cx="10799064" cy="24323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194560"/>
                <a:gridCol w="5861304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Failure mode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Potential hazard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Embedded fail-safe / mitigation response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Electrodes worn while USB goes to a mains PC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Leakage current through skin electrodes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Battery-only operation whenever electrodes are attached; program over USB only with electrodes removed; no wired path to the relay.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Chewing / talking produces jaw EMG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Fan or light switches unintentionally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EMG accepted only inside a candidate window after gaze + depth agree; refractory period; physical disarm button (GPIO32).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EOG drift, electrode peel, sensor dropout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Wrong target selected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Clipping / stale / missing-sensor flags force FAULT; per-session calibration; candidates expire automatically.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Bluetooth or Wi-Fi link drops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Command lost or repeated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Restart in DISARMED; explicit ON / OFF (never toggle); app shows requested vs actual relay state.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Supply sag / LDO overload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Noisy or clipped bio-signals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Bio-amps on a separate MCP1700 rail; ESP32 and radio on the DevKit regulator; rail currents measured at bring-up.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80" b="1" i="0">
                          <a:solidFill>
                            <a:srgbClr val="0F172A"/>
                          </a:solidFill>
                          <a:latin typeface="DM Sans"/>
                        </a:rPr>
                        <a:t>Mains wiring of the DUALR3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Shock or fire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 i="0">
                          <a:solidFill>
                            <a:srgbClr val="334155"/>
                          </a:solidFill>
                          <a:latin typeface="DM Sans"/>
                        </a:rPr>
                        <a:t>Licensed electrician installs in existing switchboard; wall switch and fan regulator stay in service.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4" name="Rounded Rectangle 163"/>
          <p:cNvSpPr/>
          <p:nvPr/>
        </p:nvSpPr>
        <p:spPr>
          <a:xfrm>
            <a:off x="530352" y="3858768"/>
            <a:ext cx="5477256" cy="170078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3986784"/>
            <a:ext cx="155448" cy="155448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932688" y="3959352"/>
            <a:ext cx="4965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Physical Fail-safes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94944" y="4169663"/>
            <a:ext cx="51663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Disarm button: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momentary PSB-110 on GPIO32 drops the system to DISARMED at once.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Enclosures: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PETG case and pod cover all boards; no exposed conductors near the skin.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Isolation: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body-worn unit and mains relay share no wire — only Wi-Fi.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181344" y="3858768"/>
            <a:ext cx="5477256" cy="170078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3986784"/>
            <a:ext cx="155448" cy="155448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6583679" y="3959352"/>
            <a:ext cx="49651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Standards Compliance (considered, not certified)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45936" y="4169663"/>
            <a:ext cx="51663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ISO 14971: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risk-management file started from this FMEA.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IEC 60601-1: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leakage-current principles for body-worn electrodes.</a:t>
            </a:r>
          </a:p>
          <a:p>
            <a:pPr marL="155448" indent="-155448">
              <a:spcAft>
                <a:spcPts val="5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980" b="1" i="0">
                <a:solidFill>
                  <a:srgbClr val="334155"/>
                </a:solidFill>
                <a:latin typeface="DM Sans"/>
              </a:rPr>
              <a:t>IEC 60825-1: </a:t>
            </a:r>
            <a:r>
              <a:rPr sz="980" b="0" i="0">
                <a:solidFill>
                  <a:srgbClr val="334155"/>
                </a:solidFill>
                <a:latin typeface="DM Sans"/>
              </a:rPr>
              <a:t>VL53L5CX emitter is Class 1 (per ST).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Human testing: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electrode trials on team members first; volunteer sessions only after institutional ethics approval. No medical-device claim is made.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Roadmap: 4-Month Fabrication Plan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2679192" cy="30175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76656" y="10241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369A1"/>
                </a:solidFill>
                <a:latin typeface="Poppins"/>
              </a:rPr>
              <a:t>M1</a:t>
            </a:r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1581912"/>
            <a:ext cx="155448" cy="15544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896112" y="1554480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DM Sans"/>
              </a:rPr>
              <a:t>Oct 2026 · Fabrication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58368" y="1883664"/>
            <a:ext cx="24323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Delivery inventory and module revision checks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Perfboard soldering per Rev A schematic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ADC bring-up with a signal generator — no body contact yet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346704" y="932688"/>
            <a:ext cx="2679192" cy="30175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3493008" y="10241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369A1"/>
                </a:solidFill>
                <a:latin typeface="Poppins"/>
              </a:rPr>
              <a:t>M2</a:t>
            </a:r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4720" y="1581912"/>
            <a:ext cx="155448" cy="155448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712464" y="1554480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DM Sans"/>
              </a:rPr>
              <a:t>Nov 2026 · Fabrication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474720" y="1883664"/>
            <a:ext cx="24323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PETG print of enclosure + pod on the college printer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Firmware: timed acquisition + health flags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Laptop app v0; electrode trials on team members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163056" y="932688"/>
            <a:ext cx="2679192" cy="30175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6309360" y="10241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369A1"/>
                </a:solidFill>
                <a:latin typeface="Poppins"/>
              </a:rPr>
              <a:t>M3</a:t>
            </a:r>
          </a:p>
        </p:txBody>
      </p:sp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072" y="1581912"/>
            <a:ext cx="155448" cy="15544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528816" y="1554480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DM Sans"/>
              </a:rPr>
              <a:t>Dec 2026 · Integration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291072" y="1883664"/>
            <a:ext cx="24323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Calibration routine and two-factor state machine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ToF depth gating, IMU motion rejection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DUALR3 fitted by an electrician and integrated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979408" y="932688"/>
            <a:ext cx="2679192" cy="30175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9125712" y="10241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369A1"/>
                </a:solidFill>
                <a:latin typeface="Poppins"/>
              </a:rPr>
              <a:t>M4</a:t>
            </a:r>
          </a:p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7424" y="1581912"/>
            <a:ext cx="155448" cy="155448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9345168" y="1554480"/>
            <a:ext cx="2231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DM Sans"/>
              </a:rPr>
              <a:t>Jan 2027 · Field demo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07424" y="1883664"/>
            <a:ext cx="243230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Timed trials: accuracy, false triggers, latency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Stage 2 → 3 report with measured data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0" i="0">
                <a:solidFill>
                  <a:srgbClr val="334155"/>
                </a:solidFill>
                <a:latin typeface="DM Sans"/>
              </a:rPr>
              <a:t>Demo rehearsal with the faculty guide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30352" y="4114800"/>
            <a:ext cx="11128248" cy="144475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1" name="Picture 18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4242816"/>
            <a:ext cx="155448" cy="155448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932688" y="4215384"/>
            <a:ext cx="10616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Stage 3 Target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94944" y="4425696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1" i="0">
                <a:solidFill>
                  <a:srgbClr val="334155"/>
                </a:solidFill>
                <a:latin typeface="DM Sans"/>
              </a:rPr>
              <a:t>Commitment: </a:t>
            </a:r>
            <a:r>
              <a:rPr sz="1000" b="0" i="0">
                <a:solidFill>
                  <a:srgbClr val="334155"/>
                </a:solidFill>
                <a:latin typeface="DM Sans"/>
              </a:rPr>
              <a:t>a working prototype that switches a real fan and light from look + clench, ready for functional testing in Stage 3.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00" b="1" i="0">
                <a:solidFill>
                  <a:srgbClr val="334155"/>
                </a:solidFill>
                <a:latin typeface="DM Sans"/>
              </a:rPr>
              <a:t>Evidence we will bring: </a:t>
            </a:r>
            <a:r>
              <a:rPr sz="1000" b="0" i="0">
                <a:solidFill>
                  <a:srgbClr val="334155"/>
                </a:solidFill>
                <a:latin typeface="DM Sans"/>
              </a:rPr>
              <a:t>logged accuracy, false-activation and latency numbers from scripted sessions, plus the commits and photos for each milestone.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Dependencies: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parts delivery (ordered by 6 Oct 2026), college 3D-printer slot, electrician visit for the DUALR3, and ethics approval before volunteer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Technical Challenges &amp; Risks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3611880" cy="2560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060704"/>
            <a:ext cx="155448" cy="15544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32688" y="1033272"/>
            <a:ext cx="3099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DM Sans"/>
              </a:rPr>
              <a:t>Bottleneck: EOG drift vs vergence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85800" y="1426464"/>
            <a:ext cx="33101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10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100" b="1" i="0">
                <a:solidFill>
                  <a:srgbClr val="334155"/>
                </a:solidFill>
                <a:latin typeface="DM Sans"/>
              </a:rPr>
              <a:t>Constraint: </a:t>
            </a:r>
            <a:r>
              <a:rPr sz="1100" b="0" i="0">
                <a:solidFill>
                  <a:srgbClr val="334155"/>
                </a:solidFill>
                <a:latin typeface="DM Sans"/>
              </a:rPr>
              <a:t>The near/far vergence change is small next to slow electrode drift. A strong high-pass filter would remove the drift — and the vergence signal with it.</a:t>
            </a:r>
          </a:p>
          <a:p>
            <a:pPr marL="155448" indent="-155448">
              <a:spcAft>
                <a:spcPts val="10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100" b="1" i="0">
                <a:solidFill>
                  <a:srgbClr val="334155"/>
                </a:solidFill>
                <a:latin typeface="DM Sans"/>
              </a:rPr>
              <a:t>If unmanaged: </a:t>
            </a:r>
            <a:r>
              <a:rPr sz="1100" b="0" i="0">
                <a:solidFill>
                  <a:srgbClr val="334155"/>
                </a:solidFill>
                <a:latin typeface="DM Sans"/>
              </a:rPr>
              <a:t>Wrong depth chosen; selections that wander over a session.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288536" y="932688"/>
            <a:ext cx="3611880" cy="2560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3128" y="1060704"/>
            <a:ext cx="155448" cy="155448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4690872" y="1033272"/>
            <a:ext cx="3099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DM Sans"/>
              </a:rPr>
              <a:t>Bottleneck: ESP32 ADC quality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443984" y="1426464"/>
            <a:ext cx="33101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10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100" b="1" i="0">
                <a:solidFill>
                  <a:srgbClr val="334155"/>
                </a:solidFill>
                <a:latin typeface="DM Sans"/>
              </a:rPr>
              <a:t>Constraint: </a:t>
            </a:r>
            <a:r>
              <a:rPr sz="1100" b="0" i="0">
                <a:solidFill>
                  <a:srgbClr val="334155"/>
                </a:solidFill>
                <a:latin typeface="DM Sans"/>
              </a:rPr>
              <a:t>The ESP32 ADC is non-linear near its range limits and noisy, and ADC2 is unavailable while Wi-Fi or Bluetooth runs.</a:t>
            </a:r>
          </a:p>
          <a:p>
            <a:pPr marL="155448" indent="-155448">
              <a:spcAft>
                <a:spcPts val="10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100" b="1" i="0">
                <a:solidFill>
                  <a:srgbClr val="334155"/>
                </a:solidFill>
                <a:latin typeface="DM Sans"/>
              </a:rPr>
              <a:t>If unmanaged: </a:t>
            </a:r>
            <a:r>
              <a:rPr sz="1100" b="0" i="0">
                <a:solidFill>
                  <a:srgbClr val="334155"/>
                </a:solidFill>
                <a:latin typeface="DM Sans"/>
              </a:rPr>
              <a:t>Distorted EOG / EMG traces; poor repeatability between units.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046720" y="932688"/>
            <a:ext cx="3611880" cy="2560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1312" y="1060704"/>
            <a:ext cx="155448" cy="155448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8449056" y="1033272"/>
            <a:ext cx="3099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1" i="0">
                <a:solidFill>
                  <a:srgbClr val="0F172A"/>
                </a:solidFill>
                <a:latin typeface="DM Sans"/>
              </a:rPr>
              <a:t>Bottleneck: false jaw-clench triggers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202168" y="1426464"/>
            <a:ext cx="33101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10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100" b="1" i="0">
                <a:solidFill>
                  <a:srgbClr val="334155"/>
                </a:solidFill>
                <a:latin typeface="DM Sans"/>
              </a:rPr>
              <a:t>Constraint: </a:t>
            </a:r>
            <a:r>
              <a:rPr sz="1100" b="0" i="0">
                <a:solidFill>
                  <a:srgbClr val="334155"/>
                </a:solidFill>
                <a:latin typeface="DM Sans"/>
              </a:rPr>
              <a:t>Chewing, talking and swallowing all produce masseter EMG that can look like a deliberate clench.</a:t>
            </a:r>
          </a:p>
          <a:p>
            <a:pPr marL="155448" indent="-155448">
              <a:spcAft>
                <a:spcPts val="10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100" b="1" i="0">
                <a:solidFill>
                  <a:srgbClr val="334155"/>
                </a:solidFill>
                <a:latin typeface="DM Sans"/>
              </a:rPr>
              <a:t>If unmanaged: </a:t>
            </a:r>
            <a:r>
              <a:rPr sz="1100" b="0" i="0">
                <a:solidFill>
                  <a:srgbClr val="334155"/>
                </a:solidFill>
                <a:latin typeface="DM Sans"/>
              </a:rPr>
              <a:t>Unwanted fan or light switching during meals or conversation.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0352" y="3657600"/>
            <a:ext cx="11128248" cy="190195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3785616"/>
            <a:ext cx="155448" cy="155448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932688" y="3758184"/>
            <a:ext cx="10616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Other risks tracked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94944" y="4096512"/>
            <a:ext cx="10789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60" b="1" i="0">
                <a:solidFill>
                  <a:srgbClr val="334155"/>
                </a:solidFill>
                <a:latin typeface="DM Sans"/>
              </a:rPr>
              <a:t>ToF on dark / glossy targets: </a:t>
            </a:r>
            <a:r>
              <a:rPr sz="1060" b="0" i="0">
                <a:solidFill>
                  <a:srgbClr val="334155"/>
                </a:solidFill>
                <a:latin typeface="DM Sans"/>
              </a:rPr>
              <a:t>measured surface distance may not match where the eyes converge.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60" b="1" i="0">
                <a:solidFill>
                  <a:srgbClr val="334155"/>
                </a:solidFill>
                <a:latin typeface="DM Sans"/>
              </a:rPr>
              <a:t>No magnetometer: </a:t>
            </a:r>
            <a:r>
              <a:rPr sz="1060" b="0" i="0">
                <a:solidFill>
                  <a:srgbClr val="334155"/>
                </a:solidFill>
                <a:latin typeface="DM Sans"/>
              </a:rPr>
              <a:t>MPU6500 yaw drifts, so it cannot give a stable room heading.</a:t>
            </a:r>
          </a:p>
          <a:p>
            <a:pPr marL="155448" indent="-155448">
              <a:spcAft>
                <a:spcPts val="8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60" b="1" i="0">
                <a:solidFill>
                  <a:srgbClr val="334155"/>
                </a:solidFill>
                <a:latin typeface="DM Sans"/>
              </a:rPr>
              <a:t>Relay control path: </a:t>
            </a:r>
            <a:r>
              <a:rPr sz="1060" b="0" i="0">
                <a:solidFill>
                  <a:srgbClr val="334155"/>
                </a:solidFill>
                <a:latin typeface="DM Sans"/>
              </a:rPr>
              <a:t>the DUALR3's local (LAN) vs cloud control options must be confirmed before the app is written.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Why this matters: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each of these could make the demo work on the bench but fail with a real user — so each has a planned test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Potential Solutions &amp; Risk Mitigation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graphicFrame>
        <p:nvGraphicFramePr>
          <p:cNvPr id="160" name="Table 159"/>
          <p:cNvGraphicFramePr>
            <a:graphicFrameLocks noGrp="1"/>
          </p:cNvGraphicFramePr>
          <p:nvPr/>
        </p:nvGraphicFramePr>
        <p:xfrm>
          <a:off x="530352" y="960120"/>
          <a:ext cx="11128248" cy="37124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3840480"/>
                <a:gridCol w="2651760"/>
                <a:gridCol w="262432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Risk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Primary mitigation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Backup / fallback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How we will verify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EOG drift vs vergence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Keep low-frequency path; per-trial baseline removal; discrete near/far targets (as in VergeIO)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Require ToF depth agreement before any candidate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10-min fixed-gaze recordings at both depths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ESP32 ADC quality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ADC1 only, linear input band, 1.6 kHz RC, oversampling, Espressif calibration API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External I2C ADC from the ₹2.9k headroom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Signal-generator sine sweep before body contact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False clench triggers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Clench must be held inside a candidate window; per-user threshold; refractory period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Raise threshold / add dwell; physical disarm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Scripted chew / talk / rest sessions, false triggers counted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ToF on dark / glossy targets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Matte, high-contrast target cards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Use ToF only as a gate, not as gaze depth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Distance tests on matte, dark and glossy cards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IMU yaw drift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Use IMU only to reject head motion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Fixed-head demo posture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Logged yaw during 10-min sessions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F172A"/>
                          </a:solidFill>
                          <a:latin typeface="DM Sans"/>
                        </a:rPr>
                        <a:t>Relay control path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Confirm DUALR3 local-LAN control first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Vendor app / Home Assistant bridge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34155"/>
                          </a:solidFill>
                          <a:latin typeface="DM Sans"/>
                        </a:rPr>
                        <a:t>Explicit ON/OFF + state readback test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1" name="Rounded Rectangle 160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Verification plan: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every risk above has a bench test; results — including failures — will be reported with the Stage 3 submission.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Summary &amp; Stage 3 Readiness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94944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₹13,093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4944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PARTS ORDERED (CAP ₹16,000)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351276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3515868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0 / 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515868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KiCad ERC ERRORS / WARNINGS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172200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6336792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FoS ≈ 2.1–2.3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36792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STRAP LOOP, 50 N FEA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993124" y="932688"/>
            <a:ext cx="2670048" cy="64922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9157715" y="10241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369A1"/>
                </a:solidFill>
                <a:latin typeface="Poppins"/>
              </a:rPr>
              <a:t>4 months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157715" y="1325880"/>
            <a:ext cx="2395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1" b="0" i="0">
                <a:solidFill>
                  <a:srgbClr val="64748B"/>
                </a:solidFill>
                <a:latin typeface="DM Sans Medium"/>
              </a:rPr>
              <a:t>TO A STAGE 3 DEMO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30352" y="1755648"/>
            <a:ext cx="3611880" cy="380390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3" name="Picture 17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1883663"/>
            <a:ext cx="155448" cy="155448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932688" y="1856231"/>
            <a:ext cx="3099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Done (Stage 2)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94944" y="2084831"/>
            <a:ext cx="3310128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Revised architecture inside budget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All parts ordered from Indian sellers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12-part CAD + STEP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Strap-loop FEA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Schematic with clean ERC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Public repository with native files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288536" y="1755648"/>
            <a:ext cx="3611880" cy="380390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3128" y="1883663"/>
            <a:ext cx="155448" cy="155448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4690872" y="1856231"/>
            <a:ext cx="3099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Next (Oct – Dec 2026)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453128" y="2084831"/>
            <a:ext cx="3310128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Delivery inventory and bring-up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Enclosure print and assembly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Firmware + laptop app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Calibration and two-factor logic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Relay installation by an electrician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046720" y="1755648"/>
            <a:ext cx="3611880" cy="3803904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1" name="Picture 18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1312" y="1883663"/>
            <a:ext cx="155448" cy="155448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8449056" y="1856231"/>
            <a:ext cx="3099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>
                <a:solidFill>
                  <a:srgbClr val="0F172A"/>
                </a:solidFill>
                <a:latin typeface="DM Sans"/>
              </a:rPr>
              <a:t>Stage 3 will show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211312" y="2084831"/>
            <a:ext cx="3310128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A real fan and light switched by look + clench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Measured accuracy, false triggers and latency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Baseline vs after comparison from the same log format</a:t>
            </a:r>
          </a:p>
          <a:p>
            <a:pPr marL="155448" indent="-155448">
              <a:spcAft>
                <a:spcPts val="600"/>
              </a:spcAft>
              <a:buClr>
                <a:srgbClr val="059669"/>
              </a:buClr>
              <a:buSzPct val="110000"/>
              <a:buFont typeface="Arial"/>
              <a:buChar char="▪"/>
            </a:pPr>
            <a:r>
              <a:rPr sz="1019" b="0" i="0">
                <a:solidFill>
                  <a:srgbClr val="334155"/>
                </a:solidFill>
                <a:latin typeface="DM Sans"/>
              </a:rPr>
              <a:t>Every failure reported, not hidden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30352" y="5687568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694944" y="5687568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Ask: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progression to Stage 3 to complete fabrication and measured user testing under faculty supervision.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References &amp; Sources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0352" y="932688"/>
            <a:ext cx="11128248" cy="42245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731520" y="1060704"/>
            <a:ext cx="10698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[1]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Zhang X. et al., “VergeIO: Depth-Aware Eye Interaction on Glasses,” arXiv:2507.02187 (2025) — arxiv.org/abs/2507.02187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[2]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Upside Down Labs, BioAmp EXG Pill documentation — docs.upsidedownlabs.tech/hardware/bioamp/bioamp-exg-pill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[3]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Upside Down Labs, Muscle BioAmp BisCute documentation — docs.upsidedownlabs.tech/hardware/bioamp/muscle-bioamp-biscute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[4]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STMicroelectronics, VL53L5CX Time-of-Flight 8×8 multizone sensor — st.com/en/imaging-and-photonics-solutions/vl53l5cx.html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[5]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Espressif, ESP-IDF ADC (oneshot) driver and calibration documentation, ESP32 — docs.espressif.com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[6]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Microchip, MCP1700 low-quiescent-current LDO datasheet (DS20001826)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[7]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SONOFF DUALR3 two-gang smart switch — sonoff.in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[8]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International Health Policies, “Spinal cord injuries in India: towards a comprehensive preventive and rehabilitative response”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[9]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Office of the Registrar General &amp; Census Commissioner, India — Census 2011 disability data (via punarbhava.in)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[10]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SCIRE Project, Non-intervention attendant care studies (Robinson-Whelan &amp; Rintala 2003) — scireproject.com</a:t>
            </a:r>
          </a:p>
          <a:p>
            <a:pPr>
              <a:spcAft>
                <a:spcPts val="800"/>
              </a:spcAft>
            </a:pPr>
            <a:r>
              <a:rPr sz="1050" b="1" i="0">
                <a:solidFill>
                  <a:srgbClr val="059669"/>
                </a:solidFill>
                <a:latin typeface="DM Sans"/>
              </a:rPr>
              <a:t>[11]  </a:t>
            </a:r>
            <a:r>
              <a:rPr sz="1050" b="0" i="0">
                <a:solidFill>
                  <a:srgbClr val="334155"/>
                </a:solidFill>
                <a:latin typeface="DM Sans"/>
              </a:rPr>
              <a:t>Amrita Vishwa Vidyapeetham, news release on Netravaad eye-gesture communication device — amrita.edu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30352" y="5340096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694944" y="5340096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Data sources: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statistics on slides 2–4 and the Netravaad price come from [8]–[11]; component specifications from [2]–[7].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530352" y="365760"/>
            <a:ext cx="8778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25" b="1" i="0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454896" y="457200"/>
            <a:ext cx="220370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D1F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 spc="60">
                <a:solidFill>
                  <a:srgbClr val="059669"/>
                </a:solidFill>
                <a:latin typeface="Poppins SemiBold"/>
              </a:rPr>
              <a:t>VERGELINK  ·  STAGE 2</a:t>
            </a:r>
          </a:p>
        </p:txBody>
      </p:sp>
      <p:graphicFrame>
        <p:nvGraphicFramePr>
          <p:cNvPr id="160" name="Table 159"/>
          <p:cNvGraphicFramePr>
            <a:graphicFrameLocks noGrp="1"/>
          </p:cNvGraphicFramePr>
          <p:nvPr/>
        </p:nvGraphicFramePr>
        <p:xfrm>
          <a:off x="530352" y="960120"/>
          <a:ext cx="11128248" cy="33649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/>
                <a:gridCol w="4206240"/>
                <a:gridCol w="609904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Slide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Figure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Source / tool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Before-state user flow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Project diagram (drawn for this submission)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After-state user flow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Project diagram (drawn for this submission)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System block diagram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Project diagram (drawn for this submission)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Exploded and assembled enclosure views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FreeCAD 1.1 — cad/VergeLink_Enclosure.FCStd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Strap-loop von Mises stress plot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FreeCAD FEM + CalculiX — cad/VergeLink_StrapLoop_FEA.FCStd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Mainboard schematic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KiCad 10 — kicad/VergeLink_Mainboard.kicad_sch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60" b="1" i="0">
                          <a:solidFill>
                            <a:srgbClr val="0F172A"/>
                          </a:solidFill>
                          <a:latin typeface="DM Sans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FreeCAD session screenshot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0" b="0" i="0">
                          <a:solidFill>
                            <a:srgbClr val="334155"/>
                          </a:solidFill>
                          <a:latin typeface="DM Sans"/>
                        </a:rPr>
                        <a:t>Screen capture of the project model</a:t>
                      </a:r>
                    </a:p>
                  </a:txBody>
                  <a:tcPr marL="54864" marR="54864"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1" name="Rounded Rectangle 160"/>
          <p:cNvSpPr/>
          <p:nvPr/>
        </p:nvSpPr>
        <p:spPr>
          <a:xfrm>
            <a:off x="530352" y="4754880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694944" y="4754880"/>
            <a:ext cx="10835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36" b="1" i="0">
                <a:solidFill>
                  <a:srgbClr val="0F172A"/>
                </a:solidFill>
                <a:latin typeface="DM Sans"/>
              </a:rPr>
              <a:t>Third-party images: </a:t>
            </a:r>
            <a:r>
              <a:rPr sz="936" b="0" i="0">
                <a:solidFill>
                  <a:srgbClr val="475569"/>
                </a:solidFill>
                <a:latin typeface="DM Sans"/>
              </a:rPr>
              <a:t>none. All files are in the project repository: github.com/amalnathkp13-boop/vergelink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