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9" r:id="rId10"/>
    <p:sldId id="276" r:id="rId47"/>
    <p:sldId id="277" r:id="rId48"/>
    <p:sldId id="278" r:id="rId49"/>
    <p:sldId id="279" r:id="rId50"/>
    <p:sldId id="280" r:id="rId51"/>
    <p:sldId id="281" r:id="rId52"/>
    <p:sldId id="282" r:id="rId53"/>
    <p:sldId id="283" r:id="rId54"/>
  </p:sldIdLst>
  <p:sldSz cy="6858000" cx="12192000"/>
  <p:notesSz cx="6858000" cy="9144000"/>
  <p:embeddedFontLst>
    <p:embeddedFont>
      <p:font typeface="DM Sans Medium"/>
      <p:regular r:id="rId27"/>
      <p:bold r:id="rId28"/>
      <p:italic r:id="rId29"/>
      <p:boldItalic r:id="rId30"/>
    </p:embeddedFont>
    <p:embeddedFont>
      <p:font typeface="Poppins"/>
      <p:regular r:id="rId31"/>
      <p:bold r:id="rId32"/>
      <p:italic r:id="rId33"/>
      <p:boldItalic r:id="rId34"/>
    </p:embeddedFont>
    <p:embeddedFont>
      <p:font typeface="Inter"/>
      <p:regular r:id="rId35"/>
      <p:bold r:id="rId36"/>
      <p:italic r:id="rId37"/>
      <p:boldItalic r:id="rId38"/>
    </p:embeddedFont>
    <p:embeddedFont>
      <p:font typeface="Poppins SemiBold"/>
      <p:regular r:id="rId39"/>
      <p:bold r:id="rId40"/>
      <p:italic r:id="rId41"/>
      <p:boldItalic r:id="rId42"/>
    </p:embeddedFont>
    <p:embeddedFont>
      <p:font typeface="DM Sans"/>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A1CCE7A-FDF7-472A-909B-C5EBB1D3D8B2}">
  <a:tblStyle styleId="{3A1CCE7A-FDF7-472A-909B-C5EBB1D3D8B2}"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10" Type="http://schemas.openxmlformats.org/officeDocument/2006/relationships/slide" Target="slides/slide2.xml"/><Relationship Id="rId27" Type="http://schemas.openxmlformats.org/officeDocument/2006/relationships/font" Target="fonts/DMSansMedium-regular.fntdata"/><Relationship Id="rId28" Type="http://schemas.openxmlformats.org/officeDocument/2006/relationships/font" Target="fonts/DMSansMedium-bold.fntdata"/><Relationship Id="rId29" Type="http://schemas.openxmlformats.org/officeDocument/2006/relationships/font" Target="fonts/DMSansMedium-italic.fntdata"/><Relationship Id="rId30" Type="http://schemas.openxmlformats.org/officeDocument/2006/relationships/font" Target="fonts/DMSansMedium-boldItalic.fntdata"/><Relationship Id="rId31" Type="http://schemas.openxmlformats.org/officeDocument/2006/relationships/font" Target="fonts/Poppins-regular.fntdata"/><Relationship Id="rId32" Type="http://schemas.openxmlformats.org/officeDocument/2006/relationships/font" Target="fonts/Poppins-bold.fntdata"/><Relationship Id="rId33" Type="http://schemas.openxmlformats.org/officeDocument/2006/relationships/font" Target="fonts/Poppins-italic.fntdata"/><Relationship Id="rId34" Type="http://schemas.openxmlformats.org/officeDocument/2006/relationships/font" Target="fonts/Poppins-boldItalic.fntdata"/><Relationship Id="rId35" Type="http://schemas.openxmlformats.org/officeDocument/2006/relationships/font" Target="fonts/Inter-regular.fntdata"/><Relationship Id="rId36" Type="http://schemas.openxmlformats.org/officeDocument/2006/relationships/font" Target="fonts/Inter-bold.fntdata"/><Relationship Id="rId37" Type="http://schemas.openxmlformats.org/officeDocument/2006/relationships/font" Target="fonts/Inter-italic.fntdata"/><Relationship Id="rId38" Type="http://schemas.openxmlformats.org/officeDocument/2006/relationships/font" Target="fonts/Inter-boldItalic.fntdata"/><Relationship Id="rId39" Type="http://schemas.openxmlformats.org/officeDocument/2006/relationships/font" Target="fonts/PoppinsSemiBold-regular.fntdata"/><Relationship Id="rId40" Type="http://schemas.openxmlformats.org/officeDocument/2006/relationships/font" Target="fonts/PoppinsSemiBold-bold.fntdata"/><Relationship Id="rId41" Type="http://schemas.openxmlformats.org/officeDocument/2006/relationships/font" Target="fonts/PoppinsSemiBold-italic.fntdata"/><Relationship Id="rId42" Type="http://schemas.openxmlformats.org/officeDocument/2006/relationships/font" Target="fonts/PoppinsSemiBold-boldItalic.fntdata"/><Relationship Id="rId43" Type="http://schemas.openxmlformats.org/officeDocument/2006/relationships/font" Target="fonts/DMSans-regular.fntdata"/><Relationship Id="rId44" Type="http://schemas.openxmlformats.org/officeDocument/2006/relationships/font" Target="fonts/DMSans-bold.fntdata"/><Relationship Id="rId45" Type="http://schemas.openxmlformats.org/officeDocument/2006/relationships/font" Target="fonts/DMSans-italic.fntdata"/><Relationship Id="rId46" Type="http://schemas.openxmlformats.org/officeDocument/2006/relationships/font" Target="fonts/DMSans-boldItalic.fntdata"/><Relationship Id="rId47" Type="http://schemas.openxmlformats.org/officeDocument/2006/relationships/slide" Target="slides/slide3.xml"/><Relationship Id="rId48" Type="http://schemas.openxmlformats.org/officeDocument/2006/relationships/slide" Target="slides/slide4.xml"/><Relationship Id="rId49" Type="http://schemas.openxmlformats.org/officeDocument/2006/relationships/slide" Target="slides/slide5.xml"/><Relationship Id="rId50" Type="http://schemas.openxmlformats.org/officeDocument/2006/relationships/slide" Target="slides/slide6.xml"/><Relationship Id="rId51" Type="http://schemas.openxmlformats.org/officeDocument/2006/relationships/slide" Target="slides/slide7.xml"/><Relationship Id="rId52" Type="http://schemas.openxmlformats.org/officeDocument/2006/relationships/slide" Target="slides/slide8.xml"/><Relationship Id="rId53" Type="http://schemas.openxmlformats.org/officeDocument/2006/relationships/slide" Target="slides/slide9.xml"/><Relationship Id="rId5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fb70659208_26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p:txBody>
      </p:sp>
      <p:sp>
        <p:nvSpPr>
          <p:cNvPr id="123" name="Google Shape;123;g3fb70659208_26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 Id="rId4" Type="http://schemas.openxmlformats.org/officeDocument/2006/relationships/image" Target="../media/image1.png"/><Relationship Id="rId5" Type="http://schemas.openxmlformats.org/officeDocument/2006/relationships/image" Target="../media/image14.png"/><Relationship Id="rId6" Type="http://schemas.openxmlformats.org/officeDocument/2006/relationships/image" Target="../media/image7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 Id="rId15"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 Id="rId15" Type="http://schemas.openxmlformats.org/officeDocument/2006/relationships/image" Target="../media/image13.png"/><Relationship Id="rId16"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12.png"/><Relationship Id="rId9" Type="http://schemas.openxmlformats.org/officeDocument/2006/relationships/image" Target="../media/image31.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30.png"/><Relationship Id="rId13" Type="http://schemas.openxmlformats.org/officeDocument/2006/relationships/image" Target="../media/image14.png"/><Relationship Id="rId14"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2"/>
            <a:ext cx="12192000" cy="6858000"/>
          </a:xfrm>
          <a:prstGeom prst="rect">
            <a:avLst/>
          </a:prstGeom>
          <a:noFill/>
          <a:ln>
            <a:noFill/>
          </a:ln>
        </p:spPr>
      </p:pic>
      <p:sp>
        <p:nvSpPr>
          <p:cNvPr id="85" name="Google Shape;85;p13"/>
          <p:cNvSpPr txBox="1"/>
          <p:nvPr/>
        </p:nvSpPr>
        <p:spPr>
          <a:xfrm>
            <a:off x="2320528" y="3182619"/>
            <a:ext cx="7551000" cy="5772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lang="en-US" sz="3750">
                <a:solidFill>
                  <a:srgbClr val="0F172A"/>
                </a:solidFill>
                <a:latin typeface="Poppins"/>
                <a:ea typeface="Poppins"/>
                <a:cs typeface="Poppins"/>
                <a:sym typeface="Poppins"/>
              </a:rPr>
              <a:t>Application ID: [Enter ID]</a:t>
            </a:r>
            <a:endParaRPr/>
          </a:p>
        </p:txBody>
      </p:sp>
      <p:pic>
        <p:nvPicPr>
          <p:cNvPr descr="image.png" id="87" name="Google Shape;87;p13"/>
          <p:cNvPicPr preferRelativeResize="0"/>
          <p:nvPr/>
        </p:nvPicPr>
        <p:blipFill rotWithShape="1">
          <a:blip r:embed="rId4">
            <a:alphaModFix/>
          </a:blip>
          <a:srcRect b="0" l="0" r="0" t="0"/>
          <a:stretch/>
        </p:blipFill>
        <p:spPr>
          <a:xfrm>
            <a:off x="3170213" y="2268205"/>
            <a:ext cx="5851614" cy="577200"/>
          </a:xfrm>
          <a:prstGeom prst="rect">
            <a:avLst/>
          </a:prstGeom>
          <a:noFill/>
          <a:ln>
            <a:noFill/>
          </a:ln>
        </p:spPr>
      </p:pic>
      <p:pic>
        <p:nvPicPr>
          <p:cNvPr id="88" name="Google Shape;88;p13" title="MBF_Logo_2020.png"/>
          <p:cNvPicPr preferRelativeResize="0"/>
          <p:nvPr/>
        </p:nvPicPr>
        <p:blipFill>
          <a:blip r:embed="rId5">
            <a:alphaModFix/>
          </a:blip>
          <a:stretch>
            <a:fillRect/>
          </a:stretch>
        </p:blipFill>
        <p:spPr>
          <a:xfrm>
            <a:off x="10700669" y="80825"/>
            <a:ext cx="1491330" cy="784825"/>
          </a:xfrm>
          <a:prstGeom prst="rect">
            <a:avLst/>
          </a:prstGeom>
          <a:noFill/>
          <a:ln>
            <a:noFill/>
          </a:ln>
        </p:spPr>
      </p:pic>
      <p:pic>
        <p:nvPicPr>
          <p:cNvPr id="89" name="Google Shape;89;p13" title="VK colored transparent logo.png"/>
          <p:cNvPicPr preferRelativeResize="0"/>
          <p:nvPr/>
        </p:nvPicPr>
        <p:blipFill rotWithShape="1">
          <a:blip r:embed="rId6">
            <a:alphaModFix/>
          </a:blip>
          <a:srcRect b="44466" l="14673" r="15820" t="33074"/>
          <a:stretch/>
        </p:blipFill>
        <p:spPr>
          <a:xfrm>
            <a:off x="0" y="80825"/>
            <a:ext cx="2428825" cy="784825"/>
          </a:xfrm>
          <a:prstGeom prst="rect">
            <a:avLst/>
          </a:prstGeom>
          <a:noFill/>
          <a:ln>
            <a:noFill/>
          </a:ln>
        </p:spPr>
      </p:pic>
      <p:sp>
        <p:nvSpPr>
          <p:cNvPr id="90" name="TextBox 89"/>
          <p:cNvSpPr txBox="1"/>
          <p:nvPr/>
        </p:nvSpPr>
        <p:spPr>
          <a:xfrm>
            <a:off x="1069848" y="3931920"/>
            <a:ext cx="10058400" cy="411480"/>
          </a:xfrm>
          <a:prstGeom prst="rect">
            <a:avLst/>
          </a:prstGeom>
          <a:noFill/>
        </p:spPr>
        <p:txBody>
          <a:bodyPr wrap="square" anchor="ctr" lIns="0" rIns="0" tIns="0" bIns="0">
            <a:spAutoFit/>
          </a:bodyPr>
          <a:lstStyle/>
          <a:p>
            <a:pPr algn="ctr"/>
            <a:r>
              <a:rPr sz="2000" b="1" i="0">
                <a:solidFill>
                  <a:srgbClr val="059669"/>
                </a:solidFill>
                <a:latin typeface="Poppins SemiBold"/>
              </a:rPr>
              <a:t>VergeLink</a:t>
            </a:r>
            <a:r>
              <a:rPr sz="1300" b="0" i="0">
                <a:solidFill>
                  <a:srgbClr val="334155"/>
                </a:solidFill>
                <a:latin typeface="DM Sans"/>
              </a:rPr>
              <a:t>  —  camera-free eye + jaw-clench control of fan and light for people with quadriplegia</a:t>
            </a:r>
          </a:p>
        </p:txBody>
      </p:sp>
      <p:sp>
        <p:nvSpPr>
          <p:cNvPr id="91" name="TextBox 90"/>
          <p:cNvSpPr txBox="1"/>
          <p:nvPr/>
        </p:nvSpPr>
        <p:spPr>
          <a:xfrm>
            <a:off x="1069848" y="4480560"/>
            <a:ext cx="10058400" cy="274320"/>
          </a:xfrm>
          <a:prstGeom prst="rect">
            <a:avLst/>
          </a:prstGeom>
          <a:noFill/>
        </p:spPr>
        <p:txBody>
          <a:bodyPr wrap="square" anchor="t" lIns="0" rIns="0" tIns="0" bIns="0">
            <a:spAutoFit/>
          </a:bodyPr>
          <a:lstStyle/>
          <a:p>
            <a:pPr algn="ctr"/>
            <a:r>
              <a:rPr sz="1100" b="0" i="0">
                <a:solidFill>
                  <a:srgbClr val="475569"/>
                </a:solidFill>
                <a:latin typeface="DM Sans"/>
              </a:rPr>
              <a:t>Team ID: [Team ID]   |   Track: [Track]   |   Dept. of Biomedical Engineering, VCET Erode (Batch 23BM7A)</a:t>
            </a:r>
          </a:p>
        </p:txBody>
      </p:sp>
      <p:sp>
        <p:nvSpPr>
          <p:cNvPr id="92" name="TextBox 91"/>
          <p:cNvSpPr txBox="1"/>
          <p:nvPr/>
        </p:nvSpPr>
        <p:spPr>
          <a:xfrm>
            <a:off x="1069848" y="4773168"/>
            <a:ext cx="10058400" cy="274320"/>
          </a:xfrm>
          <a:prstGeom prst="rect">
            <a:avLst/>
          </a:prstGeom>
          <a:noFill/>
        </p:spPr>
        <p:txBody>
          <a:bodyPr wrap="square" anchor="t" lIns="0" rIns="0" tIns="0" bIns="0">
            <a:spAutoFit/>
          </a:bodyPr>
          <a:lstStyle/>
          <a:p>
            <a:pPr algn="ctr"/>
            <a:r>
              <a:rPr sz="1100" b="0" i="0">
                <a:solidFill>
                  <a:srgbClr val="475569"/>
                </a:solidFill>
                <a:latin typeface="DM Sans"/>
              </a:rPr>
              <a:t>Faculty guide: Mrs. C. Radhika   ·   Industry mentor: K. P. Amalnath, Mediowel Healthineers</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Problem Context &amp; User Journey: Before State</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2670048" cy="649224"/>
          </a:xfrm>
          <a:prstGeom prst="roundRect">
            <a:avLst>
              <a:gd name="adj" fmla="val 10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94944" y="1024128"/>
            <a:ext cx="2395728" cy="274320"/>
          </a:xfrm>
          <a:prstGeom prst="rect">
            <a:avLst/>
          </a:prstGeom>
          <a:noFill/>
        </p:spPr>
        <p:txBody>
          <a:bodyPr wrap="square" anchor="t" lIns="0" rIns="0" tIns="0" bIns="0">
            <a:spAutoFit/>
          </a:bodyPr>
          <a:lstStyle/>
          <a:p>
            <a:pPr algn="l"/>
            <a:r>
              <a:rPr sz="1650" b="1" i="0">
                <a:solidFill>
                  <a:srgbClr val="0369A1"/>
                </a:solidFill>
                <a:latin typeface="Poppins"/>
              </a:rPr>
              <a:t>~20,000 / yr</a:t>
            </a:r>
          </a:p>
        </p:txBody>
      </p:sp>
      <p:sp>
        <p:nvSpPr>
          <p:cNvPr id="162" name="TextBox 161"/>
          <p:cNvSpPr txBox="1"/>
          <p:nvPr/>
        </p:nvSpPr>
        <p:spPr>
          <a:xfrm>
            <a:off x="694944" y="1325880"/>
            <a:ext cx="2395728" cy="182880"/>
          </a:xfrm>
          <a:prstGeom prst="rect">
            <a:avLst/>
          </a:prstGeom>
          <a:noFill/>
        </p:spPr>
        <p:txBody>
          <a:bodyPr wrap="square" anchor="t" lIns="0" rIns="0" tIns="0" bIns="0">
            <a:spAutoFit/>
          </a:bodyPr>
          <a:lstStyle/>
          <a:p>
            <a:pPr algn="l"/>
            <a:r>
              <a:rPr sz="861" b="0" i="0">
                <a:solidFill>
                  <a:srgbClr val="64748B"/>
                </a:solidFill>
                <a:latin typeface="DM Sans Medium"/>
              </a:rPr>
              <a:t>NEW SPINAL CORD INJURIES, INDIA</a:t>
            </a:r>
          </a:p>
        </p:txBody>
      </p:sp>
      <p:sp>
        <p:nvSpPr>
          <p:cNvPr id="163" name="Rounded Rectangle 162"/>
          <p:cNvSpPr/>
          <p:nvPr/>
        </p:nvSpPr>
        <p:spPr>
          <a:xfrm>
            <a:off x="3351276" y="932688"/>
            <a:ext cx="2670048" cy="649224"/>
          </a:xfrm>
          <a:prstGeom prst="roundRect">
            <a:avLst>
              <a:gd name="adj" fmla="val 10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3515868" y="1024128"/>
            <a:ext cx="2395728" cy="274320"/>
          </a:xfrm>
          <a:prstGeom prst="rect">
            <a:avLst/>
          </a:prstGeom>
          <a:noFill/>
        </p:spPr>
        <p:txBody>
          <a:bodyPr wrap="square" anchor="t" lIns="0" rIns="0" tIns="0" bIns="0">
            <a:spAutoFit/>
          </a:bodyPr>
          <a:lstStyle/>
          <a:p>
            <a:pPr algn="l"/>
            <a:r>
              <a:rPr sz="1650" b="1" i="0">
                <a:solidFill>
                  <a:srgbClr val="0369A1"/>
                </a:solidFill>
                <a:latin typeface="Poppins"/>
              </a:rPr>
              <a:t>1.5 million</a:t>
            </a:r>
          </a:p>
        </p:txBody>
      </p:sp>
      <p:sp>
        <p:nvSpPr>
          <p:cNvPr id="165" name="TextBox 164"/>
          <p:cNvSpPr txBox="1"/>
          <p:nvPr/>
        </p:nvSpPr>
        <p:spPr>
          <a:xfrm>
            <a:off x="3515868" y="1325880"/>
            <a:ext cx="2395728" cy="182880"/>
          </a:xfrm>
          <a:prstGeom prst="rect">
            <a:avLst/>
          </a:prstGeom>
          <a:noFill/>
        </p:spPr>
        <p:txBody>
          <a:bodyPr wrap="square" anchor="t" lIns="0" rIns="0" tIns="0" bIns="0">
            <a:spAutoFit/>
          </a:bodyPr>
          <a:lstStyle/>
          <a:p>
            <a:pPr algn="l"/>
            <a:r>
              <a:rPr sz="861" b="0" i="0">
                <a:solidFill>
                  <a:srgbClr val="64748B"/>
                </a:solidFill>
                <a:latin typeface="DM Sans Medium"/>
              </a:rPr>
              <a:t>INDIANS LIVING WITH SCI</a:t>
            </a:r>
          </a:p>
        </p:txBody>
      </p:sp>
      <p:sp>
        <p:nvSpPr>
          <p:cNvPr id="166" name="Rounded Rectangle 165"/>
          <p:cNvSpPr/>
          <p:nvPr/>
        </p:nvSpPr>
        <p:spPr>
          <a:xfrm>
            <a:off x="6172200" y="932688"/>
            <a:ext cx="2670048" cy="649224"/>
          </a:xfrm>
          <a:prstGeom prst="roundRect">
            <a:avLst>
              <a:gd name="adj" fmla="val 10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6336792" y="1024128"/>
            <a:ext cx="2395728" cy="274320"/>
          </a:xfrm>
          <a:prstGeom prst="rect">
            <a:avLst/>
          </a:prstGeom>
          <a:noFill/>
        </p:spPr>
        <p:txBody>
          <a:bodyPr wrap="square" anchor="t" lIns="0" rIns="0" tIns="0" bIns="0">
            <a:spAutoFit/>
          </a:bodyPr>
          <a:lstStyle/>
          <a:p>
            <a:pPr algn="l"/>
            <a:r>
              <a:rPr sz="1650" b="1" i="0">
                <a:solidFill>
                  <a:srgbClr val="0369A1"/>
                </a:solidFill>
                <a:latin typeface="Poppins"/>
              </a:rPr>
              <a:t>54.4 lakh</a:t>
            </a:r>
          </a:p>
        </p:txBody>
      </p:sp>
      <p:sp>
        <p:nvSpPr>
          <p:cNvPr id="168" name="TextBox 167"/>
          <p:cNvSpPr txBox="1"/>
          <p:nvPr/>
        </p:nvSpPr>
        <p:spPr>
          <a:xfrm>
            <a:off x="6336792" y="1325880"/>
            <a:ext cx="2395728" cy="182880"/>
          </a:xfrm>
          <a:prstGeom prst="rect">
            <a:avLst/>
          </a:prstGeom>
          <a:noFill/>
        </p:spPr>
        <p:txBody>
          <a:bodyPr wrap="square" anchor="t" lIns="0" rIns="0" tIns="0" bIns="0">
            <a:spAutoFit/>
          </a:bodyPr>
          <a:lstStyle/>
          <a:p>
            <a:pPr algn="l"/>
            <a:r>
              <a:rPr sz="861" b="0" i="0">
                <a:solidFill>
                  <a:srgbClr val="64748B"/>
                </a:solidFill>
                <a:latin typeface="DM Sans Medium"/>
              </a:rPr>
              <a:t>MOVEMENT DISABILITY (CENSUS 2011)</a:t>
            </a:r>
          </a:p>
        </p:txBody>
      </p:sp>
      <p:sp>
        <p:nvSpPr>
          <p:cNvPr id="169" name="Rounded Rectangle 168"/>
          <p:cNvSpPr/>
          <p:nvPr/>
        </p:nvSpPr>
        <p:spPr>
          <a:xfrm>
            <a:off x="8993124" y="932688"/>
            <a:ext cx="2670048" cy="649224"/>
          </a:xfrm>
          <a:prstGeom prst="roundRect">
            <a:avLst>
              <a:gd name="adj" fmla="val 10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9157715" y="1024128"/>
            <a:ext cx="2395728" cy="274320"/>
          </a:xfrm>
          <a:prstGeom prst="rect">
            <a:avLst/>
          </a:prstGeom>
          <a:noFill/>
        </p:spPr>
        <p:txBody>
          <a:bodyPr wrap="square" anchor="t" lIns="0" rIns="0" tIns="0" bIns="0">
            <a:spAutoFit/>
          </a:bodyPr>
          <a:lstStyle/>
          <a:p>
            <a:pPr algn="l"/>
            <a:r>
              <a:rPr sz="1650" b="1" i="0">
                <a:solidFill>
                  <a:srgbClr val="0369A1"/>
                </a:solidFill>
                <a:latin typeface="Poppins"/>
              </a:rPr>
              <a:t>~12.9 h / day</a:t>
            </a:r>
          </a:p>
        </p:txBody>
      </p:sp>
      <p:sp>
        <p:nvSpPr>
          <p:cNvPr id="171" name="TextBox 170"/>
          <p:cNvSpPr txBox="1"/>
          <p:nvPr/>
        </p:nvSpPr>
        <p:spPr>
          <a:xfrm>
            <a:off x="9157715" y="1325880"/>
            <a:ext cx="2395728" cy="182880"/>
          </a:xfrm>
          <a:prstGeom prst="rect">
            <a:avLst/>
          </a:prstGeom>
          <a:noFill/>
        </p:spPr>
        <p:txBody>
          <a:bodyPr wrap="square" anchor="t" lIns="0" rIns="0" tIns="0" bIns="0">
            <a:spAutoFit/>
          </a:bodyPr>
          <a:lstStyle/>
          <a:p>
            <a:pPr algn="l"/>
            <a:r>
              <a:rPr sz="861" b="0" i="0">
                <a:solidFill>
                  <a:srgbClr val="64748B"/>
                </a:solidFill>
                <a:latin typeface="DM Sans Medium"/>
              </a:rPr>
              <a:t>UNPAID CARE, SCI USERS (US STUDY)</a:t>
            </a:r>
          </a:p>
        </p:txBody>
      </p:sp>
      <p:sp>
        <p:nvSpPr>
          <p:cNvPr id="172" name="Rounded Rectangle 171"/>
          <p:cNvSpPr/>
          <p:nvPr/>
        </p:nvSpPr>
        <p:spPr>
          <a:xfrm>
            <a:off x="530352" y="1737360"/>
            <a:ext cx="5486400" cy="2286000"/>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3" name="Picture 172" descr="before2.png"/>
          <p:cNvPicPr>
            <a:picLocks noChangeAspect="1"/>
          </p:cNvPicPr>
          <p:nvPr/>
        </p:nvPicPr>
        <p:blipFill>
          <a:blip r:embed="rId15"/>
          <a:stretch>
            <a:fillRect/>
          </a:stretch>
        </p:blipFill>
        <p:spPr>
          <a:xfrm>
            <a:off x="929028" y="1810512"/>
            <a:ext cx="4689046" cy="2139696"/>
          </a:xfrm>
          <a:prstGeom prst="rect">
            <a:avLst/>
          </a:prstGeom>
        </p:spPr>
      </p:pic>
      <p:sp>
        <p:nvSpPr>
          <p:cNvPr id="174" name="TextBox 173"/>
          <p:cNvSpPr txBox="1"/>
          <p:nvPr/>
        </p:nvSpPr>
        <p:spPr>
          <a:xfrm>
            <a:off x="530352" y="4069080"/>
            <a:ext cx="5486400" cy="182880"/>
          </a:xfrm>
          <a:prstGeom prst="rect">
            <a:avLst/>
          </a:prstGeom>
          <a:noFill/>
        </p:spPr>
        <p:txBody>
          <a:bodyPr wrap="square" anchor="t" lIns="0" rIns="0" tIns="0" bIns="0">
            <a:spAutoFit/>
          </a:bodyPr>
          <a:lstStyle/>
          <a:p>
            <a:pPr algn="l"/>
            <a:r>
              <a:rPr sz="861" b="0" i="0">
                <a:solidFill>
                  <a:srgbClr val="64748B"/>
                </a:solidFill>
                <a:latin typeface="DM Sans"/>
              </a:rPr>
              <a:t>Figure: Before-state user flow for a single fan or light change.</a:t>
            </a:r>
          </a:p>
        </p:txBody>
      </p:sp>
      <p:sp>
        <p:nvSpPr>
          <p:cNvPr id="175" name="Rounded Rectangle 174"/>
          <p:cNvSpPr/>
          <p:nvPr/>
        </p:nvSpPr>
        <p:spPr>
          <a:xfrm>
            <a:off x="530352" y="4343400"/>
            <a:ext cx="5486400" cy="1216152"/>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6" name="Picture 175" descr="image.png"/>
          <p:cNvPicPr>
            <a:picLocks noChangeAspect="1"/>
          </p:cNvPicPr>
          <p:nvPr/>
        </p:nvPicPr>
        <p:blipFill>
          <a:blip r:embed="rId12"/>
          <a:stretch>
            <a:fillRect/>
          </a:stretch>
        </p:blipFill>
        <p:spPr>
          <a:xfrm>
            <a:off x="694944" y="4471416"/>
            <a:ext cx="155448" cy="155448"/>
          </a:xfrm>
          <a:prstGeom prst="rect">
            <a:avLst/>
          </a:prstGeom>
        </p:spPr>
      </p:pic>
      <p:sp>
        <p:nvSpPr>
          <p:cNvPr id="177" name="TextBox 176"/>
          <p:cNvSpPr txBox="1"/>
          <p:nvPr/>
        </p:nvSpPr>
        <p:spPr>
          <a:xfrm>
            <a:off x="932688" y="4443984"/>
            <a:ext cx="4974336" cy="219456"/>
          </a:xfrm>
          <a:prstGeom prst="rect">
            <a:avLst/>
          </a:prstGeom>
          <a:noFill/>
        </p:spPr>
        <p:txBody>
          <a:bodyPr wrap="square" anchor="t" lIns="0" rIns="0" tIns="0" bIns="0">
            <a:spAutoFit/>
          </a:bodyPr>
          <a:lstStyle/>
          <a:p>
            <a:pPr algn="l"/>
            <a:r>
              <a:rPr sz="1125" b="1" i="0">
                <a:solidFill>
                  <a:srgbClr val="0F172A"/>
                </a:solidFill>
                <a:latin typeface="DM Sans"/>
              </a:rPr>
              <a:t>Problem Statement</a:t>
            </a:r>
          </a:p>
        </p:txBody>
      </p:sp>
      <p:sp>
        <p:nvSpPr>
          <p:cNvPr id="178" name="TextBox 177"/>
          <p:cNvSpPr txBox="1"/>
          <p:nvPr/>
        </p:nvSpPr>
        <p:spPr>
          <a:xfrm>
            <a:off x="694944" y="4709160"/>
            <a:ext cx="5166360" cy="822960"/>
          </a:xfrm>
          <a:prstGeom prst="rect">
            <a:avLst/>
          </a:prstGeom>
          <a:noFill/>
        </p:spPr>
        <p:txBody>
          <a:bodyPr wrap="square" anchor="t" lIns="0" rIns="0" tIns="0" bIns="0">
            <a:spAutoFit/>
          </a:bodyPr>
          <a:lstStyle/>
          <a:p>
            <a:pPr algn="l"/>
            <a:r>
              <a:rPr sz="1011" b="0" i="0">
                <a:solidFill>
                  <a:srgbClr val="334155"/>
                </a:solidFill>
                <a:latin typeface="DM Sans"/>
              </a:rPr>
              <a:t>People with quadriplegia who can still move their eyes and jaw cannot switch their own fan or light. Every change waits on a caregiver, and the hands-free options on the market depend on a camera, on clear speech, or cost well beyond most Indian households.</a:t>
            </a:r>
          </a:p>
        </p:txBody>
      </p:sp>
      <p:sp>
        <p:nvSpPr>
          <p:cNvPr id="179" name="Rounded Rectangle 178"/>
          <p:cNvSpPr/>
          <p:nvPr/>
        </p:nvSpPr>
        <p:spPr>
          <a:xfrm>
            <a:off x="6227064" y="1737360"/>
            <a:ext cx="5431536" cy="3822191"/>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image.png"/>
          <p:cNvPicPr>
            <a:picLocks noChangeAspect="1"/>
          </p:cNvPicPr>
          <p:nvPr/>
        </p:nvPicPr>
        <p:blipFill>
          <a:blip r:embed="rId12"/>
          <a:stretch>
            <a:fillRect/>
          </a:stretch>
        </p:blipFill>
        <p:spPr>
          <a:xfrm>
            <a:off x="6400800" y="1883663"/>
            <a:ext cx="155448" cy="155448"/>
          </a:xfrm>
          <a:prstGeom prst="rect">
            <a:avLst/>
          </a:prstGeom>
        </p:spPr>
      </p:pic>
      <p:sp>
        <p:nvSpPr>
          <p:cNvPr id="181" name="TextBox 180"/>
          <p:cNvSpPr txBox="1"/>
          <p:nvPr/>
        </p:nvSpPr>
        <p:spPr>
          <a:xfrm>
            <a:off x="6638544" y="1856231"/>
            <a:ext cx="4882896" cy="219456"/>
          </a:xfrm>
          <a:prstGeom prst="rect">
            <a:avLst/>
          </a:prstGeom>
          <a:noFill/>
        </p:spPr>
        <p:txBody>
          <a:bodyPr wrap="square" anchor="t" lIns="0" rIns="0" tIns="0" bIns="0">
            <a:spAutoFit/>
          </a:bodyPr>
          <a:lstStyle/>
          <a:p>
            <a:pPr algn="l"/>
            <a:r>
              <a:rPr sz="1125" b="1" i="0">
                <a:solidFill>
                  <a:srgbClr val="0F172A"/>
                </a:solidFill>
                <a:latin typeface="DM Sans"/>
              </a:rPr>
              <a:t>Target Beneficiary &amp; Before-State User Flow</a:t>
            </a:r>
          </a:p>
        </p:txBody>
      </p:sp>
      <p:sp>
        <p:nvSpPr>
          <p:cNvPr id="182" name="TextBox 181"/>
          <p:cNvSpPr txBox="1"/>
          <p:nvPr/>
        </p:nvSpPr>
        <p:spPr>
          <a:xfrm>
            <a:off x="6400800" y="2194560"/>
            <a:ext cx="5074920" cy="3337560"/>
          </a:xfrm>
          <a:prstGeom prst="rect">
            <a:avLst/>
          </a:prstGeom>
          <a:noFill/>
        </p:spPr>
        <p:txBody>
          <a:bodyPr wrap="square" anchor="t" lIns="0" rIns="0" tIns="0" bIns="0">
            <a:spAutoFit/>
          </a:bodyPr>
          <a:lstStyle/>
          <a:p>
            <a:pPr marL="155448" indent="-155448">
              <a:spcAft>
                <a:spcPts val="700"/>
              </a:spcAft>
              <a:buClr>
                <a:srgbClr val="059669"/>
              </a:buClr>
              <a:buSzPct val="110000"/>
              <a:buFont typeface="Arial"/>
              <a:buChar char="▪"/>
            </a:pPr>
            <a:r>
              <a:rPr sz="1011" b="1" i="0">
                <a:solidFill>
                  <a:srgbClr val="334155"/>
                </a:solidFill>
                <a:latin typeface="DM Sans"/>
              </a:rPr>
              <a:t>Project overview: </a:t>
            </a:r>
            <a:r>
              <a:rPr sz="1011" b="0" i="0">
                <a:solidFill>
                  <a:srgbClr val="334155"/>
                </a:solidFill>
                <a:latin typeface="DM Sans"/>
              </a:rPr>
              <a:t>VergeLink is a camera-free wearable that lets a person switch their own fan and light by looking at a target and clenching the jaw once.</a:t>
            </a:r>
          </a:p>
          <a:p>
            <a:pPr marL="155448" indent="-155448">
              <a:spcAft>
                <a:spcPts val="700"/>
              </a:spcAft>
              <a:buClr>
                <a:srgbClr val="059669"/>
              </a:buClr>
              <a:buSzPct val="110000"/>
              <a:buFont typeface="Arial"/>
              <a:buChar char="▪"/>
            </a:pPr>
            <a:r>
              <a:rPr sz="1011" b="1" i="0">
                <a:solidFill>
                  <a:srgbClr val="334155"/>
                </a:solidFill>
                <a:latin typeface="DM Sans"/>
              </a:rPr>
              <a:t>Target user: </a:t>
            </a:r>
            <a:r>
              <a:rPr sz="1011" b="0" i="0">
                <a:solidFill>
                  <a:srgbClr val="334155"/>
                </a:solidFill>
                <a:latin typeface="DM Sans"/>
              </a:rPr>
              <a:t>Adults with high cervical spinal cord injury, ALS/MND or similar conditions who keep eye movement and jaw control, and the family caregivers who look after them at home or on rehab wards.</a:t>
            </a:r>
          </a:p>
          <a:p>
            <a:pPr marL="155448" indent="-155448">
              <a:spcAft>
                <a:spcPts val="700"/>
              </a:spcAft>
              <a:buClr>
                <a:srgbClr val="059669"/>
              </a:buClr>
              <a:buSzPct val="110000"/>
              <a:buFont typeface="Arial"/>
              <a:buChar char="▪"/>
            </a:pPr>
            <a:r>
              <a:rPr sz="1011" b="1" i="0">
                <a:solidFill>
                  <a:srgbClr val="334155"/>
                </a:solidFill>
                <a:latin typeface="DM Sans"/>
              </a:rPr>
              <a:t>Operational bottleneck: </a:t>
            </a:r>
            <a:r>
              <a:rPr sz="1011" b="0" i="0">
                <a:solidFill>
                  <a:srgbClr val="334155"/>
                </a:solidFill>
                <a:latin typeface="DM Sans"/>
              </a:rPr>
              <a:t>Every environmental change needs another person. The user calls out (if voice allows), the caregiver stops their own work, walks over and toggles the switch, then repeats this day and night.</a:t>
            </a:r>
          </a:p>
          <a:p>
            <a:pPr marL="155448" indent="-155448">
              <a:spcAft>
                <a:spcPts val="700"/>
              </a:spcAft>
              <a:buClr>
                <a:srgbClr val="059669"/>
              </a:buClr>
              <a:buSzPct val="110000"/>
              <a:buFont typeface="Arial"/>
              <a:buChar char="▪"/>
            </a:pPr>
            <a:r>
              <a:rPr sz="1011" b="1" i="0">
                <a:solidFill>
                  <a:srgbClr val="334155"/>
                </a:solidFill>
                <a:latin typeface="DM Sans"/>
              </a:rPr>
              <a:t>Public search disclosure: </a:t>
            </a:r>
            <a:r>
              <a:rPr sz="1011" b="0" i="0">
                <a:solidFill>
                  <a:srgbClr val="334155"/>
                </a:solidFill>
                <a:latin typeface="DM Sans"/>
              </a:rPr>
              <a:t>Camera eye-trackers need steady lighting and a screen-facing camera. The Indian EOG communicator Netravaad is priced at ₹1.65 lakh. VergeIO (2025) showed bilateral EOG can tell 4 depth gestures apart, but as a glasses input study, not home-appliance control for paralysed users.</a:t>
            </a:r>
          </a:p>
        </p:txBody>
      </p:sp>
      <p:sp>
        <p:nvSpPr>
          <p:cNvPr id="183" name="Rounded Rectangle 182"/>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Box 183"/>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Core innovation: </a:t>
            </a:r>
            <a:r>
              <a:rPr sz="936" b="0" i="0">
                <a:solidFill>
                  <a:srgbClr val="475569"/>
                </a:solidFill>
                <a:latin typeface="DM Sans"/>
              </a:rPr>
              <a:t>Bilateral EOG vergence + ToF depth evidence + a deliberate jaw-clench (EMG) confirmation gives two-factor, camera-free appliance control built from ₹13,093 of ordered parts.  Team ID: [Team ID]  |  Track: [Track]</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User Journey: After State &amp; Quantified Efficiency</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6537960" cy="2743200"/>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after2.png"/>
          <p:cNvPicPr>
            <a:picLocks noChangeAspect="1"/>
          </p:cNvPicPr>
          <p:nvPr/>
        </p:nvPicPr>
        <p:blipFill>
          <a:blip r:embed="rId2"/>
          <a:stretch>
            <a:fillRect/>
          </a:stretch>
        </p:blipFill>
        <p:spPr>
          <a:xfrm>
            <a:off x="982741" y="1005840"/>
            <a:ext cx="5633180" cy="2596896"/>
          </a:xfrm>
          <a:prstGeom prst="rect">
            <a:avLst/>
          </a:prstGeom>
        </p:spPr>
      </p:pic>
      <p:sp>
        <p:nvSpPr>
          <p:cNvPr id="162" name="TextBox 161"/>
          <p:cNvSpPr txBox="1"/>
          <p:nvPr/>
        </p:nvSpPr>
        <p:spPr>
          <a:xfrm>
            <a:off x="530352" y="3721608"/>
            <a:ext cx="6537960" cy="182880"/>
          </a:xfrm>
          <a:prstGeom prst="rect">
            <a:avLst/>
          </a:prstGeom>
          <a:noFill/>
        </p:spPr>
        <p:txBody>
          <a:bodyPr wrap="square" anchor="t" lIns="0" rIns="0" tIns="0" bIns="0">
            <a:spAutoFit/>
          </a:bodyPr>
          <a:lstStyle/>
          <a:p>
            <a:pPr algn="l"/>
            <a:r>
              <a:rPr sz="861" b="0" i="0">
                <a:solidFill>
                  <a:srgbClr val="64748B"/>
                </a:solidFill>
                <a:latin typeface="DM Sans"/>
              </a:rPr>
              <a:t>Figure: Target after-state flow — look, clench, relay switches.</a:t>
            </a:r>
          </a:p>
        </p:txBody>
      </p:sp>
      <p:sp>
        <p:nvSpPr>
          <p:cNvPr id="163" name="Rounded Rectangle 162"/>
          <p:cNvSpPr/>
          <p:nvPr/>
        </p:nvSpPr>
        <p:spPr>
          <a:xfrm>
            <a:off x="530352" y="3995928"/>
            <a:ext cx="6537960" cy="1563624"/>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image.png"/>
          <p:cNvPicPr>
            <a:picLocks noChangeAspect="1"/>
          </p:cNvPicPr>
          <p:nvPr/>
        </p:nvPicPr>
        <p:blipFill>
          <a:blip r:embed="rId12"/>
          <a:stretch>
            <a:fillRect/>
          </a:stretch>
        </p:blipFill>
        <p:spPr>
          <a:xfrm>
            <a:off x="694944" y="4123944"/>
            <a:ext cx="155448" cy="155448"/>
          </a:xfrm>
          <a:prstGeom prst="rect">
            <a:avLst/>
          </a:prstGeom>
        </p:spPr>
      </p:pic>
      <p:sp>
        <p:nvSpPr>
          <p:cNvPr id="165" name="TextBox 164"/>
          <p:cNvSpPr txBox="1"/>
          <p:nvPr/>
        </p:nvSpPr>
        <p:spPr>
          <a:xfrm>
            <a:off x="932688" y="4096512"/>
            <a:ext cx="5980176" cy="219456"/>
          </a:xfrm>
          <a:prstGeom prst="rect">
            <a:avLst/>
          </a:prstGeom>
          <a:noFill/>
        </p:spPr>
        <p:txBody>
          <a:bodyPr wrap="square" anchor="t" lIns="0" rIns="0" tIns="0" bIns="0">
            <a:spAutoFit/>
          </a:bodyPr>
          <a:lstStyle/>
          <a:p>
            <a:pPr algn="l"/>
            <a:r>
              <a:rPr sz="1125" b="1" i="0">
                <a:solidFill>
                  <a:srgbClr val="0F172A"/>
                </a:solidFill>
                <a:latin typeface="DM Sans"/>
              </a:rPr>
              <a:t>How these targets will be measured (Stage 3)</a:t>
            </a:r>
          </a:p>
        </p:txBody>
      </p:sp>
      <p:sp>
        <p:nvSpPr>
          <p:cNvPr id="166" name="TextBox 165"/>
          <p:cNvSpPr txBox="1"/>
          <p:nvPr/>
        </p:nvSpPr>
        <p:spPr>
          <a:xfrm>
            <a:off x="694944" y="4389120"/>
            <a:ext cx="6263640" cy="1188720"/>
          </a:xfrm>
          <a:prstGeom prst="rect">
            <a:avLst/>
          </a:prstGeom>
          <a:noFill/>
        </p:spPr>
        <p:txBody>
          <a:bodyPr wrap="square" anchor="t" lIns="0" rIns="0" tIns="0" bIns="0">
            <a:spAutoFit/>
          </a:bodyPr>
          <a:lstStyle/>
          <a:p>
            <a:pPr marL="155448" indent="-155448">
              <a:spcAft>
                <a:spcPts val="500"/>
              </a:spcAft>
              <a:buClr>
                <a:srgbClr val="059669"/>
              </a:buClr>
              <a:buSzPct val="110000"/>
              <a:buFont typeface="Arial"/>
              <a:buChar char="▪"/>
            </a:pPr>
            <a:r>
              <a:rPr sz="1011" b="1" i="0">
                <a:solidFill>
                  <a:srgbClr val="334155"/>
                </a:solidFill>
                <a:latin typeface="DM Sans"/>
              </a:rPr>
              <a:t>Timed trials: </a:t>
            </a:r>
            <a:r>
              <a:rPr sz="1011" b="0" i="0">
                <a:solidFill>
                  <a:srgbClr val="334155"/>
                </a:solidFill>
                <a:latin typeface="DM Sans"/>
              </a:rPr>
              <a:t>app logs time from target shown to relay state confirmed, per attempt.</a:t>
            </a:r>
          </a:p>
          <a:p>
            <a:pPr marL="155448" indent="-155448">
              <a:spcAft>
                <a:spcPts val="500"/>
              </a:spcAft>
              <a:buClr>
                <a:srgbClr val="059669"/>
              </a:buClr>
              <a:buSzPct val="110000"/>
              <a:buFont typeface="Arial"/>
              <a:buChar char="▪"/>
            </a:pPr>
            <a:r>
              <a:rPr sz="1011" b="1" i="0">
                <a:solidFill>
                  <a:srgbClr val="334155"/>
                </a:solidFill>
                <a:latin typeface="DM Sans"/>
              </a:rPr>
              <a:t>False activations: </a:t>
            </a:r>
            <a:r>
              <a:rPr sz="1011" b="0" i="0">
                <a:solidFill>
                  <a:srgbClr val="334155"/>
                </a:solidFill>
                <a:latin typeface="DM Sans"/>
              </a:rPr>
              <a:t>30-minute sessions of rest, talking, chewing and blinking with the system armed.</a:t>
            </a:r>
          </a:p>
          <a:p>
            <a:pPr marL="155448" indent="-155448">
              <a:spcAft>
                <a:spcPts val="500"/>
              </a:spcAft>
              <a:buClr>
                <a:srgbClr val="059669"/>
              </a:buClr>
              <a:buSzPct val="110000"/>
              <a:buFont typeface="Arial"/>
              <a:buChar char="▪"/>
            </a:pPr>
            <a:r>
              <a:rPr sz="1011" b="1" i="0">
                <a:solidFill>
                  <a:srgbClr val="334155"/>
                </a:solidFill>
                <a:latin typeface="DM Sans"/>
              </a:rPr>
              <a:t>Accuracy: </a:t>
            </a:r>
            <a:r>
              <a:rPr sz="1011" b="0" i="0">
                <a:solidFill>
                  <a:srgbClr val="334155"/>
                </a:solidFill>
                <a:latin typeface="DM Sans"/>
              </a:rPr>
              <a:t>2 targets × 2 depths, scripted order; first with team volunteers under institutional approval.</a:t>
            </a:r>
          </a:p>
        </p:txBody>
      </p:sp>
      <p:sp>
        <p:nvSpPr>
          <p:cNvPr id="167" name="Rounded Rectangle 166"/>
          <p:cNvSpPr/>
          <p:nvPr/>
        </p:nvSpPr>
        <p:spPr>
          <a:xfrm>
            <a:off x="7269480" y="932688"/>
            <a:ext cx="4389120"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image.png"/>
          <p:cNvPicPr>
            <a:picLocks noChangeAspect="1"/>
          </p:cNvPicPr>
          <p:nvPr/>
        </p:nvPicPr>
        <p:blipFill>
          <a:blip r:embed="rId12"/>
          <a:stretch>
            <a:fillRect/>
          </a:stretch>
        </p:blipFill>
        <p:spPr>
          <a:xfrm>
            <a:off x="7424927" y="1069848"/>
            <a:ext cx="155448" cy="155448"/>
          </a:xfrm>
          <a:prstGeom prst="rect">
            <a:avLst/>
          </a:prstGeom>
        </p:spPr>
      </p:pic>
      <p:sp>
        <p:nvSpPr>
          <p:cNvPr id="169" name="TextBox 168"/>
          <p:cNvSpPr txBox="1"/>
          <p:nvPr/>
        </p:nvSpPr>
        <p:spPr>
          <a:xfrm>
            <a:off x="7662671" y="1042415"/>
            <a:ext cx="3877056" cy="219456"/>
          </a:xfrm>
          <a:prstGeom prst="rect">
            <a:avLst/>
          </a:prstGeom>
          <a:noFill/>
        </p:spPr>
        <p:txBody>
          <a:bodyPr wrap="square" anchor="t" lIns="0" rIns="0" tIns="0" bIns="0">
            <a:spAutoFit/>
          </a:bodyPr>
          <a:lstStyle/>
          <a:p>
            <a:pPr algn="l"/>
            <a:r>
              <a:rPr sz="1125" b="1" i="0">
                <a:solidFill>
                  <a:srgbClr val="0F172A"/>
                </a:solidFill>
                <a:latin typeface="DM Sans"/>
              </a:rPr>
              <a:t>Before vs VergeLink (targets)</a:t>
            </a:r>
          </a:p>
        </p:txBody>
      </p:sp>
      <p:graphicFrame>
        <p:nvGraphicFramePr>
          <p:cNvPr id="170" name="Table 169"/>
          <p:cNvGraphicFramePr>
            <a:graphicFrameLocks noGrp="1"/>
          </p:cNvGraphicFramePr>
          <p:nvPr/>
        </p:nvGraphicFramePr>
        <p:xfrm>
          <a:off x="7424927" y="1371600"/>
          <a:ext cx="4096512" cy="2926080"/>
        </p:xfrm>
        <a:graphic>
          <a:graphicData uri="http://schemas.openxmlformats.org/drawingml/2006/table">
            <a:tbl>
              <a:tblPr firstRow="0" bandRow="0">
                <a:tableStyleId>{2D5ABB26-0587-4C30-8999-92F81FD0307C}</a:tableStyleId>
              </a:tblPr>
              <a:tblGrid>
                <a:gridCol w="1143000"/>
                <a:gridCol w="1325880"/>
                <a:gridCol w="1627632"/>
              </a:tblGrid>
              <a:tr h="365760">
                <a:tc>
                  <a:txBody>
                    <a:bodyPr wrap="square"/>
                    <a:lstStyle/>
                    <a:p>
                      <a:r>
                        <a:rPr sz="860" b="1" i="0">
                          <a:solidFill>
                            <a:srgbClr val="0F172A"/>
                          </a:solidFill>
                          <a:latin typeface="DM Sans"/>
                        </a:rPr>
                        <a:t>Metric</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Before</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VergeLink target</a:t>
                      </a:r>
                    </a:p>
                  </a:txBody>
                  <a:tcPr marL="54864" marR="54864" marT="27432" marB="27432" anchor="ctr">
                    <a:lnL w="6350">
                      <a:noFill/>
                    </a:lnL>
                    <a:lnR w="6350">
                      <a:noFill/>
                    </a:lnR>
                    <a:lnT w="6350">
                      <a:noFill/>
                    </a:lnT>
                    <a:lnB w="6350">
                      <a:solidFill>
                        <a:srgbClr val="E2E8F0"/>
                      </a:solidFill>
                    </a:lnB>
                    <a:solidFill>
                      <a:srgbClr val="E2E8F0"/>
                    </a:solidFill>
                  </a:tcPr>
                </a:tc>
              </a:tr>
              <a:tr h="365760">
                <a:tc>
                  <a:txBody>
                    <a:bodyPr wrap="square"/>
                    <a:lstStyle/>
                    <a:p>
                      <a:r>
                        <a:rPr sz="860" b="1" i="0">
                          <a:solidFill>
                            <a:srgbClr val="0F172A"/>
                          </a:solidFill>
                          <a:latin typeface="DM Sans"/>
                        </a:rPr>
                        <a:t>Who switches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Caregiver</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User alone</a:t>
                      </a:r>
                    </a:p>
                  </a:txBody>
                  <a:tcPr marL="54864" marR="54864" marT="27432" marB="27432" anchor="ctr">
                    <a:lnL w="6350">
                      <a:noFill/>
                    </a:lnL>
                    <a:lnR w="6350">
                      <a:noFill/>
                    </a:lnR>
                    <a:lnT w="6350">
                      <a:noFill/>
                    </a:lnT>
                    <a:lnB w="6350">
                      <a:solidFill>
                        <a:srgbClr val="E2E8F0"/>
                      </a:solidFill>
                    </a:lnB>
                    <a:solidFill>
                      <a:srgbClr val="FFFFFF"/>
                    </a:solidFill>
                  </a:tcPr>
                </a:tc>
              </a:tr>
              <a:tr h="365760">
                <a:tc>
                  <a:txBody>
                    <a:bodyPr wrap="square"/>
                    <a:lstStyle/>
                    <a:p>
                      <a:r>
                        <a:rPr sz="860" b="1" i="0">
                          <a:solidFill>
                            <a:srgbClr val="0F172A"/>
                          </a:solidFill>
                          <a:latin typeface="DM Sans"/>
                        </a:rPr>
                        <a:t>Time per change</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Caregiver response time</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 3 s look → clench → relay</a:t>
                      </a:r>
                    </a:p>
                  </a:txBody>
                  <a:tcPr marL="54864" marR="54864" marT="27432" marB="27432" anchor="ctr">
                    <a:lnL w="6350">
                      <a:noFill/>
                    </a:lnL>
                    <a:lnR w="6350">
                      <a:noFill/>
                    </a:lnR>
                    <a:lnT w="6350">
                      <a:noFill/>
                    </a:lnT>
                    <a:lnB w="6350">
                      <a:solidFill>
                        <a:srgbClr val="E2E8F0"/>
                      </a:solidFill>
                    </a:lnB>
                    <a:solidFill>
                      <a:srgbClr val="F8FAFC"/>
                    </a:solidFill>
                  </a:tcPr>
                </a:tc>
              </a:tr>
              <a:tr h="365760">
                <a:tc>
                  <a:txBody>
                    <a:bodyPr wrap="square"/>
                    <a:lstStyle/>
                    <a:p>
                      <a:r>
                        <a:rPr sz="860" b="1" i="0">
                          <a:solidFill>
                            <a:srgbClr val="0F172A"/>
                          </a:solidFill>
                          <a:latin typeface="DM Sans"/>
                        </a:rPr>
                        <a:t>Hands-free cost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₹1.65 L (Netravaad)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₹13,093 ordered BOM (−92%)</a:t>
                      </a:r>
                    </a:p>
                  </a:txBody>
                  <a:tcPr marL="54864" marR="54864" marT="27432" marB="27432" anchor="ctr">
                    <a:lnL w="6350">
                      <a:noFill/>
                    </a:lnL>
                    <a:lnR w="6350">
                      <a:noFill/>
                    </a:lnR>
                    <a:lnT w="6350">
                      <a:noFill/>
                    </a:lnT>
                    <a:lnB w="6350">
                      <a:solidFill>
                        <a:srgbClr val="E2E8F0"/>
                      </a:solidFill>
                    </a:lnB>
                    <a:solidFill>
                      <a:srgbClr val="FFFFFF"/>
                    </a:solidFill>
                  </a:tcPr>
                </a:tc>
              </a:tr>
              <a:tr h="365760">
                <a:tc>
                  <a:txBody>
                    <a:bodyPr wrap="square"/>
                    <a:lstStyle/>
                    <a:p>
                      <a:r>
                        <a:rPr sz="860" b="1" i="0">
                          <a:solidFill>
                            <a:srgbClr val="0F172A"/>
                          </a:solidFill>
                          <a:latin typeface="DM Sans"/>
                        </a:rPr>
                        <a:t>Camera / mic</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Camera or voice needed</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Neither</a:t>
                      </a:r>
                    </a:p>
                  </a:txBody>
                  <a:tcPr marL="54864" marR="54864" marT="27432" marB="27432" anchor="ctr">
                    <a:lnL w="6350">
                      <a:noFill/>
                    </a:lnL>
                    <a:lnR w="6350">
                      <a:noFill/>
                    </a:lnR>
                    <a:lnT w="6350">
                      <a:noFill/>
                    </a:lnT>
                    <a:lnB w="6350">
                      <a:solidFill>
                        <a:srgbClr val="E2E8F0"/>
                      </a:solidFill>
                    </a:lnB>
                    <a:solidFill>
                      <a:srgbClr val="F8FAFC"/>
                    </a:solidFill>
                  </a:tcPr>
                </a:tc>
              </a:tr>
              <a:tr h="365760">
                <a:tc>
                  <a:txBody>
                    <a:bodyPr wrap="square"/>
                    <a:lstStyle/>
                    <a:p>
                      <a:r>
                        <a:rPr sz="860" b="1" i="0">
                          <a:solidFill>
                            <a:srgbClr val="0F172A"/>
                          </a:solidFill>
                          <a:latin typeface="DM Sans"/>
                        </a:rPr>
                        <a:t>False activations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n/a</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 1 per 30 min armed</a:t>
                      </a:r>
                    </a:p>
                  </a:txBody>
                  <a:tcPr marL="54864" marR="54864" marT="27432" marB="27432" anchor="ctr">
                    <a:lnL w="6350">
                      <a:noFill/>
                    </a:lnL>
                    <a:lnR w="6350">
                      <a:noFill/>
                    </a:lnR>
                    <a:lnT w="6350">
                      <a:noFill/>
                    </a:lnT>
                    <a:lnB w="6350">
                      <a:solidFill>
                        <a:srgbClr val="E2E8F0"/>
                      </a:solidFill>
                    </a:lnB>
                    <a:solidFill>
                      <a:srgbClr val="FFFFFF"/>
                    </a:solidFill>
                  </a:tcPr>
                </a:tc>
              </a:tr>
              <a:tr h="365760">
                <a:tc>
                  <a:txBody>
                    <a:bodyPr wrap="square"/>
                    <a:lstStyle/>
                    <a:p>
                      <a:r>
                        <a:rPr sz="860" b="1" i="0">
                          <a:solidFill>
                            <a:srgbClr val="0F172A"/>
                          </a:solidFill>
                          <a:latin typeface="DM Sans"/>
                        </a:rPr>
                        <a:t>Selection accuracy</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n/a</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 90% (2 targets × 2 depths)</a:t>
                      </a:r>
                    </a:p>
                  </a:txBody>
                  <a:tcPr marL="54864" marR="54864" marT="27432" marB="27432" anchor="ctr">
                    <a:lnL w="6350">
                      <a:noFill/>
                    </a:lnL>
                    <a:lnR w="6350">
                      <a:noFill/>
                    </a:lnR>
                    <a:lnT w="6350">
                      <a:noFill/>
                    </a:lnT>
                    <a:lnB w="6350">
                      <a:solidFill>
                        <a:srgbClr val="E2E8F0"/>
                      </a:solidFill>
                    </a:lnB>
                    <a:solidFill>
                      <a:srgbClr val="F8FAFC"/>
                    </a:solidFill>
                  </a:tcPr>
                </a:tc>
              </a:tr>
              <a:tr h="365760">
                <a:tc>
                  <a:txBody>
                    <a:bodyPr wrap="square"/>
                    <a:lstStyle/>
                    <a:p>
                      <a:r>
                        <a:rPr sz="860" b="1" i="0">
                          <a:solidFill>
                            <a:srgbClr val="0F172A"/>
                          </a:solidFill>
                          <a:latin typeface="DM Sans"/>
                        </a:rPr>
                        <a:t>Caregiver trips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Every fan/light change</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Zero for these two loads</a:t>
                      </a:r>
                    </a:p>
                  </a:txBody>
                  <a:tcPr marL="54864" marR="54864" marT="27432" marB="27432" anchor="ctr">
                    <a:lnL w="6350">
                      <a:noFill/>
                    </a:lnL>
                    <a:lnR w="6350">
                      <a:noFill/>
                    </a:lnR>
                    <a:lnT w="6350">
                      <a:noFill/>
                    </a:lnT>
                    <a:lnB w="6350">
                      <a:solidFill>
                        <a:srgbClr val="E2E8F0"/>
                      </a:solidFill>
                    </a:lnB>
                    <a:solidFill>
                      <a:srgbClr val="FFFFFF"/>
                    </a:solidFill>
                  </a:tcPr>
                </a:tc>
              </a:tr>
            </a:tbl>
          </a:graphicData>
        </a:graphic>
      </p:graphicFrame>
      <p:sp>
        <p:nvSpPr>
          <p:cNvPr id="171" name="TextBox 170"/>
          <p:cNvSpPr txBox="1"/>
          <p:nvPr/>
        </p:nvSpPr>
        <p:spPr>
          <a:xfrm>
            <a:off x="7424927" y="4434840"/>
            <a:ext cx="4114800" cy="1051560"/>
          </a:xfrm>
          <a:prstGeom prst="rect">
            <a:avLst/>
          </a:prstGeom>
          <a:noFill/>
        </p:spPr>
        <p:txBody>
          <a:bodyPr wrap="square" anchor="t" lIns="0" rIns="0" tIns="0" bIns="0">
            <a:spAutoFit/>
          </a:bodyPr>
          <a:lstStyle/>
          <a:p>
            <a:pPr algn="l"/>
            <a:r>
              <a:rPr sz="900" b="1" i="0">
                <a:solidFill>
                  <a:srgbClr val="0F172A"/>
                </a:solidFill>
                <a:latin typeface="DM Sans"/>
              </a:rPr>
              <a:t>Efficiency claim scope: </a:t>
            </a:r>
            <a:r>
              <a:rPr sz="900" b="0" i="0">
                <a:solidFill>
                  <a:srgbClr val="475569"/>
                </a:solidFill>
                <a:latin typeface="DM Sans"/>
              </a:rPr>
              <a:t>only the cost row is a fact today (Netravaad price vs our recorded orders). Every other VergeLink figure is a design target; parts were ordered on 6 Oct 2026 and bench measurement starts after delivery checks.</a:t>
            </a:r>
          </a:p>
        </p:txBody>
      </p:sp>
      <p:sp>
        <p:nvSpPr>
          <p:cNvPr id="172" name="Rounded Rectangle 171"/>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Beneficiary impact: </a:t>
            </a:r>
            <a:r>
              <a:rPr sz="936" b="0" i="0">
                <a:solidFill>
                  <a:srgbClr val="475569"/>
                </a:solidFill>
                <a:latin typeface="DM Sans"/>
              </a:rPr>
              <a:t>routine fan and light changes become self-directed, so the caregiver's time goes to care that genuinely needs a person — and the user is not left waiting in the heat or dark.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System Architecture &amp; Specs</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5669280" cy="3035808"/>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system2.png"/>
          <p:cNvPicPr>
            <a:picLocks noChangeAspect="1"/>
          </p:cNvPicPr>
          <p:nvPr/>
        </p:nvPicPr>
        <p:blipFill>
          <a:blip r:embed="rId2"/>
          <a:stretch>
            <a:fillRect/>
          </a:stretch>
        </p:blipFill>
        <p:spPr>
          <a:xfrm>
            <a:off x="710824" y="1005840"/>
            <a:ext cx="5308335" cy="2889503"/>
          </a:xfrm>
          <a:prstGeom prst="rect">
            <a:avLst/>
          </a:prstGeom>
        </p:spPr>
      </p:pic>
      <p:sp>
        <p:nvSpPr>
          <p:cNvPr id="162" name="TextBox 161"/>
          <p:cNvSpPr txBox="1"/>
          <p:nvPr/>
        </p:nvSpPr>
        <p:spPr>
          <a:xfrm>
            <a:off x="530352" y="4014215"/>
            <a:ext cx="5669280" cy="182880"/>
          </a:xfrm>
          <a:prstGeom prst="rect">
            <a:avLst/>
          </a:prstGeom>
          <a:noFill/>
        </p:spPr>
        <p:txBody>
          <a:bodyPr wrap="square" anchor="t" lIns="0" rIns="0" tIns="0" bIns="0">
            <a:spAutoFit/>
          </a:bodyPr>
          <a:lstStyle/>
          <a:p>
            <a:pPr algn="l"/>
            <a:r>
              <a:rPr sz="861" b="0" i="0">
                <a:solidFill>
                  <a:srgbClr val="64748B"/>
                </a:solidFill>
                <a:latin typeface="DM Sans"/>
              </a:rPr>
              <a:t>Figure: System block diagram — worn sensing unit, laptop application, and mains-side relay.</a:t>
            </a:r>
          </a:p>
        </p:txBody>
      </p:sp>
      <p:sp>
        <p:nvSpPr>
          <p:cNvPr id="163" name="Rounded Rectangle 162"/>
          <p:cNvSpPr/>
          <p:nvPr/>
        </p:nvSpPr>
        <p:spPr>
          <a:xfrm>
            <a:off x="530352" y="4279392"/>
            <a:ext cx="5669280" cy="1280160"/>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image.png"/>
          <p:cNvPicPr>
            <a:picLocks noChangeAspect="1"/>
          </p:cNvPicPr>
          <p:nvPr/>
        </p:nvPicPr>
        <p:blipFill>
          <a:blip r:embed="rId12"/>
          <a:stretch>
            <a:fillRect/>
          </a:stretch>
        </p:blipFill>
        <p:spPr>
          <a:xfrm>
            <a:off x="694944" y="4398264"/>
            <a:ext cx="155448" cy="155448"/>
          </a:xfrm>
          <a:prstGeom prst="rect">
            <a:avLst/>
          </a:prstGeom>
        </p:spPr>
      </p:pic>
      <p:sp>
        <p:nvSpPr>
          <p:cNvPr id="165" name="TextBox 164"/>
          <p:cNvSpPr txBox="1"/>
          <p:nvPr/>
        </p:nvSpPr>
        <p:spPr>
          <a:xfrm>
            <a:off x="932688" y="4370832"/>
            <a:ext cx="5157216" cy="219456"/>
          </a:xfrm>
          <a:prstGeom prst="rect">
            <a:avLst/>
          </a:prstGeom>
          <a:noFill/>
        </p:spPr>
        <p:txBody>
          <a:bodyPr wrap="square" anchor="t" lIns="0" rIns="0" tIns="0" bIns="0">
            <a:spAutoFit/>
          </a:bodyPr>
          <a:lstStyle/>
          <a:p>
            <a:pPr algn="l"/>
            <a:r>
              <a:rPr sz="1125" b="1" i="0">
                <a:solidFill>
                  <a:srgbClr val="0F172A"/>
                </a:solidFill>
                <a:latin typeface="DM Sans"/>
              </a:rPr>
              <a:t>Firmware / logic flow</a:t>
            </a:r>
          </a:p>
        </p:txBody>
      </p:sp>
      <p:sp>
        <p:nvSpPr>
          <p:cNvPr id="166" name="TextBox 165"/>
          <p:cNvSpPr txBox="1"/>
          <p:nvPr/>
        </p:nvSpPr>
        <p:spPr>
          <a:xfrm>
            <a:off x="694944" y="4645152"/>
            <a:ext cx="5394960" cy="914400"/>
          </a:xfrm>
          <a:prstGeom prst="rect">
            <a:avLst/>
          </a:prstGeom>
          <a:noFill/>
        </p:spPr>
        <p:txBody>
          <a:bodyPr wrap="square" anchor="t" lIns="0" rIns="0" tIns="0" bIns="0">
            <a:spAutoFit/>
          </a:bodyPr>
          <a:lstStyle/>
          <a:p>
            <a:pPr marL="155448" indent="-155448">
              <a:spcAft>
                <a:spcPts val="300"/>
              </a:spcAft>
              <a:buClr>
                <a:srgbClr val="059669"/>
              </a:buClr>
              <a:buSzPct val="110000"/>
              <a:buFont typeface="Arial"/>
              <a:buChar char="▪"/>
            </a:pPr>
            <a:r>
              <a:rPr sz="940" b="0" i="0">
                <a:solidFill>
                  <a:srgbClr val="334155"/>
                </a:solidFill>
                <a:latin typeface="DM Sans"/>
              </a:rPr>
              <a:t>ESP32 samples 3 analog channels + I2C sensors, timestamps every frame, flags clipping / stale / missing data.</a:t>
            </a:r>
          </a:p>
          <a:p>
            <a:pPr marL="155448" indent="-155448">
              <a:spcAft>
                <a:spcPts val="300"/>
              </a:spcAft>
              <a:buClr>
                <a:srgbClr val="059669"/>
              </a:buClr>
              <a:buSzPct val="110000"/>
              <a:buFont typeface="Arial"/>
              <a:buChar char="▪"/>
            </a:pPr>
            <a:r>
              <a:rPr sz="940" b="0" i="0">
                <a:solidFill>
                  <a:srgbClr val="334155"/>
                </a:solidFill>
                <a:latin typeface="DM Sans"/>
              </a:rPr>
              <a:t>Laptop state machine: DISARMED → ARMED → CANDIDATE (gaze + depth agree) → CONFIRMED (clench in window) → ON/OFF.</a:t>
            </a:r>
          </a:p>
        </p:txBody>
      </p:sp>
      <p:sp>
        <p:nvSpPr>
          <p:cNvPr id="167" name="Rounded Rectangle 166"/>
          <p:cNvSpPr/>
          <p:nvPr/>
        </p:nvSpPr>
        <p:spPr>
          <a:xfrm>
            <a:off x="6382512" y="932688"/>
            <a:ext cx="5276088"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image.png"/>
          <p:cNvPicPr>
            <a:picLocks noChangeAspect="1"/>
          </p:cNvPicPr>
          <p:nvPr/>
        </p:nvPicPr>
        <p:blipFill>
          <a:blip r:embed="rId12"/>
          <a:stretch>
            <a:fillRect/>
          </a:stretch>
        </p:blipFill>
        <p:spPr>
          <a:xfrm>
            <a:off x="6537960" y="1069848"/>
            <a:ext cx="155448" cy="155448"/>
          </a:xfrm>
          <a:prstGeom prst="rect">
            <a:avLst/>
          </a:prstGeom>
        </p:spPr>
      </p:pic>
      <p:sp>
        <p:nvSpPr>
          <p:cNvPr id="169" name="TextBox 168"/>
          <p:cNvSpPr txBox="1"/>
          <p:nvPr/>
        </p:nvSpPr>
        <p:spPr>
          <a:xfrm>
            <a:off x="6775704" y="1042415"/>
            <a:ext cx="4700016" cy="219456"/>
          </a:xfrm>
          <a:prstGeom prst="rect">
            <a:avLst/>
          </a:prstGeom>
          <a:noFill/>
        </p:spPr>
        <p:txBody>
          <a:bodyPr wrap="square" anchor="t" lIns="0" rIns="0" tIns="0" bIns="0">
            <a:spAutoFit/>
          </a:bodyPr>
          <a:lstStyle/>
          <a:p>
            <a:pPr algn="l"/>
            <a:r>
              <a:rPr sz="1125" b="1" i="0">
                <a:solidFill>
                  <a:srgbClr val="0F172A"/>
                </a:solidFill>
                <a:latin typeface="DM Sans"/>
              </a:rPr>
              <a:t>Engineering Target Specifications &amp; Subsystems</a:t>
            </a:r>
          </a:p>
        </p:txBody>
      </p:sp>
      <p:graphicFrame>
        <p:nvGraphicFramePr>
          <p:cNvPr id="170" name="Table 169"/>
          <p:cNvGraphicFramePr>
            <a:graphicFrameLocks noGrp="1"/>
          </p:cNvGraphicFramePr>
          <p:nvPr/>
        </p:nvGraphicFramePr>
        <p:xfrm>
          <a:off x="6537960" y="1371600"/>
          <a:ext cx="4965192" cy="3621024"/>
        </p:xfrm>
        <a:graphic>
          <a:graphicData uri="http://schemas.openxmlformats.org/drawingml/2006/table">
            <a:tbl>
              <a:tblPr firstRow="0" bandRow="0">
                <a:tableStyleId>{2D5ABB26-0587-4C30-8999-92F81FD0307C}</a:tableStyleId>
              </a:tblPr>
              <a:tblGrid>
                <a:gridCol w="1051560"/>
                <a:gridCol w="1691640"/>
                <a:gridCol w="2221992"/>
              </a:tblGrid>
              <a:tr h="402336">
                <a:tc>
                  <a:txBody>
                    <a:bodyPr wrap="square"/>
                    <a:lstStyle/>
                    <a:p>
                      <a:r>
                        <a:rPr sz="860" b="1" i="0">
                          <a:solidFill>
                            <a:srgbClr val="0F172A"/>
                          </a:solidFill>
                          <a:latin typeface="DM Sans"/>
                        </a:rPr>
                        <a:t>Parameter</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Target spec</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Selected hardware / protocol</a:t>
                      </a:r>
                    </a:p>
                  </a:txBody>
                  <a:tcPr marL="54864" marR="54864" marT="27432" marB="27432" anchor="ctr">
                    <a:lnL w="6350">
                      <a:noFill/>
                    </a:lnL>
                    <a:lnR w="6350">
                      <a:noFill/>
                    </a:lnR>
                    <a:lnT w="6350">
                      <a:noFill/>
                    </a:lnT>
                    <a:lnB w="6350">
                      <a:solidFill>
                        <a:srgbClr val="E2E8F0"/>
                      </a:solidFill>
                    </a:lnB>
                    <a:solidFill>
                      <a:srgbClr val="E2E8F0"/>
                    </a:solidFill>
                  </a:tcPr>
                </a:tc>
              </a:tr>
              <a:tr h="402336">
                <a:tc>
                  <a:txBody>
                    <a:bodyPr wrap="square"/>
                    <a:lstStyle/>
                    <a:p>
                      <a:r>
                        <a:rPr sz="860" b="1" i="0">
                          <a:solidFill>
                            <a:srgbClr val="0F172A"/>
                          </a:solidFill>
                          <a:latin typeface="DM Sans"/>
                        </a:rPr>
                        <a:t>Eye signals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2 ch bilateral horizontal EOG</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2× Upside Down Labs BioAmp EXG Pill</a:t>
                      </a:r>
                    </a:p>
                  </a:txBody>
                  <a:tcPr marL="54864" marR="54864" marT="27432" marB="27432" anchor="ctr">
                    <a:lnL w="6350">
                      <a:noFill/>
                    </a:lnL>
                    <a:lnR w="6350">
                      <a:noFill/>
                    </a:lnR>
                    <a:lnT w="6350">
                      <a:noFill/>
                    </a:lnT>
                    <a:lnB w="6350">
                      <a:solidFill>
                        <a:srgbClr val="E2E8F0"/>
                      </a:solidFill>
                    </a:lnB>
                    <a:solidFill>
                      <a:srgbClr val="FFFFFF"/>
                    </a:solidFill>
                  </a:tcPr>
                </a:tc>
              </a:tr>
              <a:tr h="402336">
                <a:tc>
                  <a:txBody>
                    <a:bodyPr wrap="square"/>
                    <a:lstStyle/>
                    <a:p>
                      <a:r>
                        <a:rPr sz="860" b="1" i="0">
                          <a:solidFill>
                            <a:srgbClr val="0F172A"/>
                          </a:solidFill>
                          <a:latin typeface="DM Sans"/>
                        </a:rPr>
                        <a:t>Intent confirm</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1 ch jaw EMG (72–720 Hz band)</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Muscle BioAmp BisCute</a:t>
                      </a:r>
                    </a:p>
                  </a:txBody>
                  <a:tcPr marL="54864" marR="54864" marT="27432" marB="27432" anchor="ctr">
                    <a:lnL w="6350">
                      <a:noFill/>
                    </a:lnL>
                    <a:lnR w="6350">
                      <a:noFill/>
                    </a:lnR>
                    <a:lnT w="6350">
                      <a:noFill/>
                    </a:lnT>
                    <a:lnB w="6350">
                      <a:solidFill>
                        <a:srgbClr val="E2E8F0"/>
                      </a:solidFill>
                    </a:lnB>
                    <a:solidFill>
                      <a:srgbClr val="F8FAFC"/>
                    </a:solidFill>
                  </a:tcPr>
                </a:tc>
              </a:tr>
              <a:tr h="402336">
                <a:tc>
                  <a:txBody>
                    <a:bodyPr wrap="square"/>
                    <a:lstStyle/>
                    <a:p>
                      <a:r>
                        <a:rPr sz="860" b="1" i="0">
                          <a:solidFill>
                            <a:srgbClr val="0F172A"/>
                          </a:solidFill>
                          <a:latin typeface="DM Sans"/>
                        </a:rPr>
                        <a:t>Depth evidence</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8×8 zones, up to 4 m</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ST VL53L5CX ToF, I2C</a:t>
                      </a:r>
                    </a:p>
                  </a:txBody>
                  <a:tcPr marL="54864" marR="54864" marT="27432" marB="27432" anchor="ctr">
                    <a:lnL w="6350">
                      <a:noFill/>
                    </a:lnL>
                    <a:lnR w="6350">
                      <a:noFill/>
                    </a:lnR>
                    <a:lnT w="6350">
                      <a:noFill/>
                    </a:lnT>
                    <a:lnB w="6350">
                      <a:solidFill>
                        <a:srgbClr val="E2E8F0"/>
                      </a:solidFill>
                    </a:lnB>
                    <a:solidFill>
                      <a:srgbClr val="FFFFFF"/>
                    </a:solidFill>
                  </a:tcPr>
                </a:tc>
              </a:tr>
              <a:tr h="402336">
                <a:tc>
                  <a:txBody>
                    <a:bodyPr wrap="square"/>
                    <a:lstStyle/>
                    <a:p>
                      <a:r>
                        <a:rPr sz="860" b="1" i="0">
                          <a:solidFill>
                            <a:srgbClr val="0F172A"/>
                          </a:solidFill>
                          <a:latin typeface="DM Sans"/>
                        </a:rPr>
                        <a:t>Head motion</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6-axis, motion rejection</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MPU6500 (GY-6500), I2C</a:t>
                      </a:r>
                    </a:p>
                  </a:txBody>
                  <a:tcPr marL="54864" marR="54864" marT="27432" marB="27432" anchor="ctr">
                    <a:lnL w="6350">
                      <a:noFill/>
                    </a:lnL>
                    <a:lnR w="6350">
                      <a:noFill/>
                    </a:lnR>
                    <a:lnT w="6350">
                      <a:noFill/>
                    </a:lnT>
                    <a:lnB w="6350">
                      <a:solidFill>
                        <a:srgbClr val="E2E8F0"/>
                      </a:solidFill>
                    </a:lnB>
                    <a:solidFill>
                      <a:srgbClr val="F8FAFC"/>
                    </a:solidFill>
                  </a:tcPr>
                </a:tc>
              </a:tr>
              <a:tr h="402336">
                <a:tc>
                  <a:txBody>
                    <a:bodyPr wrap="square"/>
                    <a:lstStyle/>
                    <a:p>
                      <a:r>
                        <a:rPr sz="860" b="1" i="0">
                          <a:solidFill>
                            <a:srgbClr val="0F172A"/>
                          </a:solidFill>
                          <a:latin typeface="DM Sans"/>
                        </a:rPr>
                        <a:t>Controller</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3× ADC1, ≥ 500 Hz/ch</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ESP32-WROOM-32 DevKit</a:t>
                      </a:r>
                    </a:p>
                  </a:txBody>
                  <a:tcPr marL="54864" marR="54864" marT="27432" marB="27432" anchor="ctr">
                    <a:lnL w="6350">
                      <a:noFill/>
                    </a:lnL>
                    <a:lnR w="6350">
                      <a:noFill/>
                    </a:lnR>
                    <a:lnT w="6350">
                      <a:noFill/>
                    </a:lnT>
                    <a:lnB w="6350">
                      <a:solidFill>
                        <a:srgbClr val="E2E8F0"/>
                      </a:solidFill>
                    </a:lnB>
                    <a:solidFill>
                      <a:srgbClr val="FFFFFF"/>
                    </a:solidFill>
                  </a:tcPr>
                </a:tc>
              </a:tr>
              <a:tr h="402336">
                <a:tc>
                  <a:txBody>
                    <a:bodyPr wrap="square"/>
                    <a:lstStyle/>
                    <a:p>
                      <a:r>
                        <a:rPr sz="860" b="1" i="0">
                          <a:solidFill>
                            <a:srgbClr val="0F172A"/>
                          </a:solidFill>
                          <a:latin typeface="DM Sans"/>
                        </a:rPr>
                        <a:t>Laptop link</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&lt; 50 ms frame latency</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Bluetooth Classic serial</a:t>
                      </a:r>
                    </a:p>
                  </a:txBody>
                  <a:tcPr marL="54864" marR="54864" marT="27432" marB="27432" anchor="ctr">
                    <a:lnL w="6350">
                      <a:noFill/>
                    </a:lnL>
                    <a:lnR w="6350">
                      <a:noFill/>
                    </a:lnR>
                    <a:lnT w="6350">
                      <a:noFill/>
                    </a:lnT>
                    <a:lnB w="6350">
                      <a:solidFill>
                        <a:srgbClr val="E2E8F0"/>
                      </a:solidFill>
                    </a:lnB>
                    <a:solidFill>
                      <a:srgbClr val="F8FAFC"/>
                    </a:solidFill>
                  </a:tcPr>
                </a:tc>
              </a:tr>
              <a:tr h="402336">
                <a:tc>
                  <a:txBody>
                    <a:bodyPr wrap="square"/>
                    <a:lstStyle/>
                    <a:p>
                      <a:r>
                        <a:rPr sz="860" b="1" i="0">
                          <a:solidFill>
                            <a:srgbClr val="0F172A"/>
                          </a:solidFill>
                          <a:latin typeface="DM Sans"/>
                        </a:rPr>
                        <a:t>Appliances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2 ch, explicit ON / OFF</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SONOFF DUALR3 via home Wi-Fi</a:t>
                      </a:r>
                    </a:p>
                  </a:txBody>
                  <a:tcPr marL="54864" marR="54864" marT="27432" marB="27432" anchor="ctr">
                    <a:lnL w="6350">
                      <a:noFill/>
                    </a:lnL>
                    <a:lnR w="6350">
                      <a:noFill/>
                    </a:lnR>
                    <a:lnT w="6350">
                      <a:noFill/>
                    </a:lnT>
                    <a:lnB w="6350">
                      <a:solidFill>
                        <a:srgbClr val="E2E8F0"/>
                      </a:solidFill>
                    </a:lnB>
                    <a:solidFill>
                      <a:srgbClr val="FFFFFF"/>
                    </a:solidFill>
                  </a:tcPr>
                </a:tc>
              </a:tr>
              <a:tr h="402336">
                <a:tc>
                  <a:txBody>
                    <a:bodyPr wrap="square"/>
                    <a:lstStyle/>
                    <a:p>
                      <a:r>
                        <a:rPr sz="860" b="1" i="0">
                          <a:solidFill>
                            <a:srgbClr val="0F172A"/>
                          </a:solidFill>
                          <a:latin typeface="DM Sans"/>
                        </a:rPr>
                        <a:t>Power</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 8 h session</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10,000 mAh bank; MCP1700 3V3_AFE</a:t>
                      </a:r>
                    </a:p>
                  </a:txBody>
                  <a:tcPr marL="54864" marR="54864" marT="27432" marB="27432" anchor="ctr">
                    <a:lnL w="6350">
                      <a:noFill/>
                    </a:lnL>
                    <a:lnR w="6350">
                      <a:noFill/>
                    </a:lnR>
                    <a:lnT w="6350">
                      <a:noFill/>
                    </a:lnT>
                    <a:lnB w="6350">
                      <a:solidFill>
                        <a:srgbClr val="E2E8F0"/>
                      </a:solidFill>
                    </a:lnB>
                    <a:solidFill>
                      <a:srgbClr val="F8FAFC"/>
                    </a:solidFill>
                  </a:tcPr>
                </a:tc>
              </a:tr>
            </a:tbl>
          </a:graphicData>
        </a:graphic>
      </p:graphicFrame>
      <p:sp>
        <p:nvSpPr>
          <p:cNvPr id="171" name="TextBox 170"/>
          <p:cNvSpPr txBox="1"/>
          <p:nvPr/>
        </p:nvSpPr>
        <p:spPr>
          <a:xfrm>
            <a:off x="6537960" y="5074920"/>
            <a:ext cx="4983480" cy="457200"/>
          </a:xfrm>
          <a:prstGeom prst="rect">
            <a:avLst/>
          </a:prstGeom>
          <a:noFill/>
        </p:spPr>
        <p:txBody>
          <a:bodyPr wrap="square" anchor="t" lIns="0" rIns="0" tIns="0" bIns="0">
            <a:spAutoFit/>
          </a:bodyPr>
          <a:lstStyle/>
          <a:p>
            <a:pPr algn="l"/>
            <a:r>
              <a:rPr sz="861" b="0" i="1">
                <a:solidFill>
                  <a:srgbClr val="64748B"/>
                </a:solidFill>
                <a:latin typeface="DM Sans"/>
              </a:rPr>
              <a:t>All rate, latency and runtime values are targets to be verified at bring-up.</a:t>
            </a:r>
          </a:p>
        </p:txBody>
      </p:sp>
      <p:sp>
        <p:nvSpPr>
          <p:cNvPr id="172" name="Rounded Rectangle 171"/>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Architecture rationale: </a:t>
            </a:r>
            <a:r>
              <a:rPr sz="936" b="0" i="0">
                <a:solidFill>
                  <a:srgbClr val="475569"/>
                </a:solidFill>
                <a:latin typeface="DM Sans"/>
              </a:rPr>
              <a:t>analog inputs use ADC1 only because ESP32 ADC2 cannot be used while the radio runs; the bio-amps get their own MCP1700 rail; the body-worn unit has no wired path to mains — commands reach the relay only over Wi-Fi.</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CAD Design &amp; Mechanical Specs</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5431536" cy="2542032"/>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cad_exploded.png"/>
          <p:cNvPicPr>
            <a:picLocks noChangeAspect="1"/>
          </p:cNvPicPr>
          <p:nvPr/>
        </p:nvPicPr>
        <p:blipFill>
          <a:blip r:embed="rId2"/>
          <a:stretch>
            <a:fillRect/>
          </a:stretch>
        </p:blipFill>
        <p:spPr>
          <a:xfrm>
            <a:off x="2009968" y="1005840"/>
            <a:ext cx="2472303" cy="2395727"/>
          </a:xfrm>
          <a:prstGeom prst="rect">
            <a:avLst/>
          </a:prstGeom>
        </p:spPr>
      </p:pic>
      <p:sp>
        <p:nvSpPr>
          <p:cNvPr id="162" name="TextBox 161"/>
          <p:cNvSpPr txBox="1"/>
          <p:nvPr/>
        </p:nvSpPr>
        <p:spPr>
          <a:xfrm>
            <a:off x="530352" y="3511296"/>
            <a:ext cx="5431536" cy="182880"/>
          </a:xfrm>
          <a:prstGeom prst="rect">
            <a:avLst/>
          </a:prstGeom>
          <a:noFill/>
        </p:spPr>
        <p:txBody>
          <a:bodyPr wrap="square" anchor="t" lIns="0" rIns="0" tIns="0" bIns="0">
            <a:spAutoFit/>
          </a:bodyPr>
          <a:lstStyle/>
          <a:p>
            <a:pPr algn="l"/>
            <a:r>
              <a:rPr sz="861" b="0" i="0">
                <a:solidFill>
                  <a:srgbClr val="64748B"/>
                </a:solidFill>
                <a:latin typeface="DM Sans"/>
              </a:rPr>
              <a:t>Figure: FreeCAD 1.1 exploded assembly — enclosure 116×92×30 mm, pod 64×30×16 mm.</a:t>
            </a:r>
          </a:p>
        </p:txBody>
      </p:sp>
      <p:sp>
        <p:nvSpPr>
          <p:cNvPr id="163" name="Rounded Rectangle 162"/>
          <p:cNvSpPr/>
          <p:nvPr/>
        </p:nvSpPr>
        <p:spPr>
          <a:xfrm>
            <a:off x="530352" y="3785615"/>
            <a:ext cx="1874519" cy="1536192"/>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cad_iso_assembled.png"/>
          <p:cNvPicPr>
            <a:picLocks noChangeAspect="1"/>
          </p:cNvPicPr>
          <p:nvPr/>
        </p:nvPicPr>
        <p:blipFill>
          <a:blip r:embed="rId15"/>
          <a:stretch>
            <a:fillRect/>
          </a:stretch>
        </p:blipFill>
        <p:spPr>
          <a:xfrm>
            <a:off x="603503" y="3904999"/>
            <a:ext cx="1728216" cy="1297424"/>
          </a:xfrm>
          <a:prstGeom prst="rect">
            <a:avLst/>
          </a:prstGeom>
        </p:spPr>
      </p:pic>
      <p:sp>
        <p:nvSpPr>
          <p:cNvPr id="165" name="Rounded Rectangle 164"/>
          <p:cNvSpPr/>
          <p:nvPr/>
        </p:nvSpPr>
        <p:spPr>
          <a:xfrm>
            <a:off x="2532888" y="3785615"/>
            <a:ext cx="3429000" cy="1536192"/>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6" name="Picture 165" descr="fea_plot.png"/>
          <p:cNvPicPr>
            <a:picLocks noChangeAspect="1"/>
          </p:cNvPicPr>
          <p:nvPr/>
        </p:nvPicPr>
        <p:blipFill>
          <a:blip r:embed="rId16"/>
          <a:stretch>
            <a:fillRect/>
          </a:stretch>
        </p:blipFill>
        <p:spPr>
          <a:xfrm>
            <a:off x="3065929" y="3822191"/>
            <a:ext cx="2362917" cy="1463039"/>
          </a:xfrm>
          <a:prstGeom prst="rect">
            <a:avLst/>
          </a:prstGeom>
        </p:spPr>
      </p:pic>
      <p:sp>
        <p:nvSpPr>
          <p:cNvPr id="167" name="TextBox 166"/>
          <p:cNvSpPr txBox="1"/>
          <p:nvPr/>
        </p:nvSpPr>
        <p:spPr>
          <a:xfrm>
            <a:off x="530352" y="5358384"/>
            <a:ext cx="1874519" cy="182880"/>
          </a:xfrm>
          <a:prstGeom prst="rect">
            <a:avLst/>
          </a:prstGeom>
          <a:noFill/>
        </p:spPr>
        <p:txBody>
          <a:bodyPr wrap="square" anchor="t" lIns="0" rIns="0" tIns="0" bIns="0">
            <a:spAutoFit/>
          </a:bodyPr>
          <a:lstStyle/>
          <a:p>
            <a:pPr algn="l"/>
            <a:r>
              <a:rPr sz="861" b="0" i="0">
                <a:solidFill>
                  <a:srgbClr val="64748B"/>
                </a:solidFill>
                <a:latin typeface="DM Sans"/>
              </a:rPr>
              <a:t>Assembled view.</a:t>
            </a:r>
          </a:p>
        </p:txBody>
      </p:sp>
      <p:sp>
        <p:nvSpPr>
          <p:cNvPr id="168" name="TextBox 167"/>
          <p:cNvSpPr txBox="1"/>
          <p:nvPr/>
        </p:nvSpPr>
        <p:spPr>
          <a:xfrm>
            <a:off x="2532888" y="5358384"/>
            <a:ext cx="3429000" cy="182880"/>
          </a:xfrm>
          <a:prstGeom prst="rect">
            <a:avLst/>
          </a:prstGeom>
          <a:noFill/>
        </p:spPr>
        <p:txBody>
          <a:bodyPr wrap="square" anchor="t" lIns="0" rIns="0" tIns="0" bIns="0">
            <a:spAutoFit/>
          </a:bodyPr>
          <a:lstStyle/>
          <a:p>
            <a:pPr algn="l"/>
            <a:r>
              <a:rPr sz="861" b="0" i="0">
                <a:solidFill>
                  <a:srgbClr val="64748B"/>
                </a:solidFill>
                <a:latin typeface="DM Sans"/>
              </a:rPr>
              <a:t>CalculiX FEA of the strap loop (von Mises).</a:t>
            </a:r>
          </a:p>
        </p:txBody>
      </p:sp>
      <p:sp>
        <p:nvSpPr>
          <p:cNvPr id="169" name="Rounded Rectangle 168"/>
          <p:cNvSpPr/>
          <p:nvPr/>
        </p:nvSpPr>
        <p:spPr>
          <a:xfrm>
            <a:off x="6227064" y="932688"/>
            <a:ext cx="5431536"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0" name="Picture 169" descr="image.png"/>
          <p:cNvPicPr>
            <a:picLocks noChangeAspect="1"/>
          </p:cNvPicPr>
          <p:nvPr/>
        </p:nvPicPr>
        <p:blipFill>
          <a:blip r:embed="rId12"/>
          <a:stretch>
            <a:fillRect/>
          </a:stretch>
        </p:blipFill>
        <p:spPr>
          <a:xfrm>
            <a:off x="6400800" y="1069848"/>
            <a:ext cx="155448" cy="155448"/>
          </a:xfrm>
          <a:prstGeom prst="rect">
            <a:avLst/>
          </a:prstGeom>
        </p:spPr>
      </p:pic>
      <p:sp>
        <p:nvSpPr>
          <p:cNvPr id="171" name="TextBox 170"/>
          <p:cNvSpPr txBox="1"/>
          <p:nvPr/>
        </p:nvSpPr>
        <p:spPr>
          <a:xfrm>
            <a:off x="6638544" y="1042415"/>
            <a:ext cx="4882896" cy="219456"/>
          </a:xfrm>
          <a:prstGeom prst="rect">
            <a:avLst/>
          </a:prstGeom>
          <a:noFill/>
        </p:spPr>
        <p:txBody>
          <a:bodyPr wrap="square" anchor="t" lIns="0" rIns="0" tIns="0" bIns="0">
            <a:spAutoFit/>
          </a:bodyPr>
          <a:lstStyle/>
          <a:p>
            <a:pPr algn="l"/>
            <a:r>
              <a:rPr sz="1125" b="1" i="0">
                <a:solidFill>
                  <a:srgbClr val="0F172A"/>
                </a:solidFill>
                <a:latin typeface="DM Sans"/>
              </a:rPr>
              <a:t>Mechanical Validation &amp; FEA Stress Report</a:t>
            </a:r>
          </a:p>
        </p:txBody>
      </p:sp>
      <p:sp>
        <p:nvSpPr>
          <p:cNvPr id="172" name="TextBox 171"/>
          <p:cNvSpPr txBox="1"/>
          <p:nvPr/>
        </p:nvSpPr>
        <p:spPr>
          <a:xfrm>
            <a:off x="6400800" y="1371600"/>
            <a:ext cx="5120640" cy="4160520"/>
          </a:xfrm>
          <a:prstGeom prst="rect">
            <a:avLst/>
          </a:prstGeom>
          <a:noFill/>
        </p:spPr>
        <p:txBody>
          <a:bodyPr wrap="square" anchor="t" lIns="0" rIns="0" tIns="0" bIns="0">
            <a:spAutoFit/>
          </a:bodyPr>
          <a:lstStyle/>
          <a:p>
            <a:pPr marL="155448" indent="-155448">
              <a:spcAft>
                <a:spcPts val="600"/>
              </a:spcAft>
              <a:buClr>
                <a:srgbClr val="059669"/>
              </a:buClr>
              <a:buSzPct val="110000"/>
              <a:buFont typeface="Arial"/>
              <a:buChar char="▪"/>
            </a:pPr>
            <a:r>
              <a:rPr sz="980" b="1" i="0">
                <a:solidFill>
                  <a:srgbClr val="334155"/>
                </a:solidFill>
                <a:latin typeface="DM Sans"/>
              </a:rPr>
              <a:t>Enclosure: </a:t>
            </a:r>
            <a:r>
              <a:rPr sz="980" b="0" i="0">
                <a:solidFill>
                  <a:srgbClr val="334155"/>
                </a:solidFill>
                <a:latin typeface="DM Sans"/>
              </a:rPr>
              <a:t>2.2 mm PETG walls, 5 mm corner radii, four M2.5 standoffs on the 3×4 in perfboard pattern; ports for 3 electrode leads, pod cable, USB power and ESP32 programming; lid holes for the disarm button and 2 status LEDs.</a:t>
            </a:r>
          </a:p>
          <a:p>
            <a:pPr marL="155448" indent="-155448">
              <a:spcAft>
                <a:spcPts val="600"/>
              </a:spcAft>
              <a:buClr>
                <a:srgbClr val="059669"/>
              </a:buClr>
              <a:buSzPct val="110000"/>
              <a:buFont typeface="Arial"/>
              <a:buChar char="▪"/>
            </a:pPr>
            <a:r>
              <a:rPr sz="980" b="1" i="0">
                <a:solidFill>
                  <a:srgbClr val="334155"/>
                </a:solidFill>
                <a:latin typeface="DM Sans"/>
              </a:rPr>
              <a:t>Forehead pod: </a:t>
            </a:r>
            <a:r>
              <a:rPr sz="980" b="0" i="0">
                <a:solidFill>
                  <a:srgbClr val="334155"/>
                </a:solidFill>
                <a:latin typeface="DM Sans"/>
              </a:rPr>
              <a:t>14×10 mm ToF window, IMU on an internal shelf, 26 mm slots for an elastic headband, rear cable exit.</a:t>
            </a:r>
          </a:p>
          <a:p>
            <a:pPr marL="155448" indent="-155448">
              <a:spcAft>
                <a:spcPts val="600"/>
              </a:spcAft>
              <a:buClr>
                <a:srgbClr val="059669"/>
              </a:buClr>
              <a:buSzPct val="110000"/>
              <a:buFont typeface="Arial"/>
              <a:buChar char="▪"/>
            </a:pPr>
            <a:r>
              <a:rPr sz="980" b="1" i="0">
                <a:solidFill>
                  <a:srgbClr val="334155"/>
                </a:solidFill>
                <a:latin typeface="DM Sans"/>
              </a:rPr>
              <a:t>Material selection: </a:t>
            </a:r>
            <a:r>
              <a:rPr sz="980" b="0" i="0">
                <a:solidFill>
                  <a:srgbClr val="334155"/>
                </a:solidFill>
                <a:latin typeface="DM Sans"/>
              </a:rPr>
              <a:t>PETG over PLA (PLA softens at modest temperatures near the body and in a warm room) and over ABS (warps on an open-frame printer); printed on the college FDM printer.</a:t>
            </a:r>
          </a:p>
          <a:p>
            <a:pPr marL="155448" indent="-155448">
              <a:spcAft>
                <a:spcPts val="600"/>
              </a:spcAft>
              <a:buClr>
                <a:srgbClr val="059669"/>
              </a:buClr>
              <a:buSzPct val="110000"/>
              <a:buFont typeface="Arial"/>
              <a:buChar char="▪"/>
            </a:pPr>
            <a:r>
              <a:rPr sz="980" b="1" i="0">
                <a:solidFill>
                  <a:srgbClr val="334155"/>
                </a:solidFill>
                <a:latin typeface="DM Sans"/>
              </a:rPr>
              <a:t>FEA load case: </a:t>
            </a:r>
            <a:r>
              <a:rPr sz="980" b="0" i="0">
                <a:solidFill>
                  <a:srgbClr val="334155"/>
                </a:solidFill>
                <a:latin typeface="DM Sans"/>
              </a:rPr>
              <a:t>strap loop (30×6×6 mm, 2 mm posts, 3 mm bridge) on a 2.2 mm wall patch; wall face fixed; 50 N pull on the bridge away from the case (strap snag). 44,420-node 2nd-order tet mesh, E = 2.1 GPa, ν = 0.38.</a:t>
            </a:r>
          </a:p>
          <a:p>
            <a:pPr marL="155448" indent="-155448">
              <a:spcAft>
                <a:spcPts val="600"/>
              </a:spcAft>
              <a:buClr>
                <a:srgbClr val="059669"/>
              </a:buClr>
              <a:buSzPct val="110000"/>
              <a:buFont typeface="Arial"/>
              <a:buChar char="▪"/>
            </a:pPr>
            <a:r>
              <a:rPr sz="980" b="1" i="0">
                <a:solidFill>
                  <a:srgbClr val="334155"/>
                </a:solidFill>
                <a:latin typeface="DM Sans"/>
              </a:rPr>
              <a:t>Result: </a:t>
            </a:r>
            <a:r>
              <a:rPr sz="980" b="0" i="0">
                <a:solidFill>
                  <a:srgbClr val="334155"/>
                </a:solidFill>
                <a:latin typeface="DM Sans"/>
              </a:rPr>
              <a:t>peak von Mises 21.3 MPa at the sharp inner corner where bridge meets post; max displacement 0.20 mm. Against ~45–50 MPa typical PETG datasheet yield, FoS ≈ 2.1–2.3 (bulk).</a:t>
            </a:r>
          </a:p>
          <a:p>
            <a:pPr marL="155448" indent="-155448">
              <a:spcAft>
                <a:spcPts val="600"/>
              </a:spcAft>
              <a:buClr>
                <a:srgbClr val="059669"/>
              </a:buClr>
              <a:buSzPct val="110000"/>
              <a:buFont typeface="Arial"/>
              <a:buChar char="▪"/>
            </a:pPr>
            <a:r>
              <a:rPr sz="980" b="1" i="0">
                <a:solidFill>
                  <a:srgbClr val="334155"/>
                </a:solidFill>
                <a:latin typeface="DM Sans"/>
              </a:rPr>
              <a:t>Next action: </a:t>
            </a:r>
            <a:r>
              <a:rPr sz="980" b="0" i="0">
                <a:solidFill>
                  <a:srgbClr val="334155"/>
                </a:solidFill>
                <a:latin typeface="DM Sans"/>
              </a:rPr>
              <a:t>add a 1 mm fillet at that corner and print with layers along the load path, since FDM inter-layer strength is below bulk.</a:t>
            </a:r>
          </a:p>
        </p:txBody>
      </p:sp>
      <p:sp>
        <p:nvSpPr>
          <p:cNvPr id="173" name="Rounded Rectangle 172"/>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Box 173"/>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Design iteration: </a:t>
            </a:r>
            <a:r>
              <a:rPr sz="936" b="0" i="0">
                <a:solidFill>
                  <a:srgbClr val="475569"/>
                </a:solidFill>
                <a:latin typeface="DM Sans"/>
              </a:rPr>
              <a:t>CAD review caught the strap-loop gap modelled on the wrong side (loop was solid against the case) — corrected before FEA. Native files: VergeLink_Enclosure.FCStd / .step, VergeLink_StrapLoop_FEA.FCStd.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Electronics Schematics &amp; BOM</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5669280" cy="3246120"/>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schematic_slide.png"/>
          <p:cNvPicPr>
            <a:picLocks noChangeAspect="1"/>
          </p:cNvPicPr>
          <p:nvPr/>
        </p:nvPicPr>
        <p:blipFill>
          <a:blip r:embed="rId2"/>
          <a:stretch>
            <a:fillRect/>
          </a:stretch>
        </p:blipFill>
        <p:spPr>
          <a:xfrm>
            <a:off x="603503" y="1014960"/>
            <a:ext cx="5522976" cy="3081574"/>
          </a:xfrm>
          <a:prstGeom prst="rect">
            <a:avLst/>
          </a:prstGeom>
        </p:spPr>
      </p:pic>
      <p:sp>
        <p:nvSpPr>
          <p:cNvPr id="162" name="TextBox 161"/>
          <p:cNvSpPr txBox="1"/>
          <p:nvPr/>
        </p:nvSpPr>
        <p:spPr>
          <a:xfrm>
            <a:off x="530352" y="4215384"/>
            <a:ext cx="5669280" cy="182880"/>
          </a:xfrm>
          <a:prstGeom prst="rect">
            <a:avLst/>
          </a:prstGeom>
          <a:noFill/>
        </p:spPr>
        <p:txBody>
          <a:bodyPr wrap="square" anchor="t" lIns="0" rIns="0" tIns="0" bIns="0">
            <a:spAutoFit/>
          </a:bodyPr>
          <a:lstStyle/>
          <a:p>
            <a:pPr algn="l"/>
            <a:r>
              <a:rPr sz="861" b="0" i="0">
                <a:solidFill>
                  <a:srgbClr val="64748B"/>
                </a:solidFill>
                <a:latin typeface="DM Sans"/>
              </a:rPr>
              <a:t>Figure: KiCad 10 schematic, Rev A — ERC 0 errors / 0 warnings (file VergeLink_Mainboard.kicad_sch).</a:t>
            </a:r>
          </a:p>
        </p:txBody>
      </p:sp>
      <p:sp>
        <p:nvSpPr>
          <p:cNvPr id="163" name="Rounded Rectangle 162"/>
          <p:cNvSpPr/>
          <p:nvPr/>
        </p:nvSpPr>
        <p:spPr>
          <a:xfrm>
            <a:off x="530352" y="4480560"/>
            <a:ext cx="5669280" cy="1078992"/>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image.png"/>
          <p:cNvPicPr>
            <a:picLocks noChangeAspect="1"/>
          </p:cNvPicPr>
          <p:nvPr/>
        </p:nvPicPr>
        <p:blipFill>
          <a:blip r:embed="rId12"/>
          <a:stretch>
            <a:fillRect/>
          </a:stretch>
        </p:blipFill>
        <p:spPr>
          <a:xfrm>
            <a:off x="694944" y="4599432"/>
            <a:ext cx="155448" cy="155448"/>
          </a:xfrm>
          <a:prstGeom prst="rect">
            <a:avLst/>
          </a:prstGeom>
        </p:spPr>
      </p:pic>
      <p:sp>
        <p:nvSpPr>
          <p:cNvPr id="165" name="TextBox 164"/>
          <p:cNvSpPr txBox="1"/>
          <p:nvPr/>
        </p:nvSpPr>
        <p:spPr>
          <a:xfrm>
            <a:off x="932688" y="4572000"/>
            <a:ext cx="5157216" cy="219456"/>
          </a:xfrm>
          <a:prstGeom prst="rect">
            <a:avLst/>
          </a:prstGeom>
          <a:noFill/>
        </p:spPr>
        <p:txBody>
          <a:bodyPr wrap="square" anchor="t" lIns="0" rIns="0" tIns="0" bIns="0">
            <a:spAutoFit/>
          </a:bodyPr>
          <a:lstStyle/>
          <a:p>
            <a:pPr algn="l"/>
            <a:r>
              <a:rPr sz="1125" b="1" i="0">
                <a:solidFill>
                  <a:srgbClr val="0F172A"/>
                </a:solidFill>
                <a:latin typeface="DM Sans"/>
              </a:rPr>
              <a:t>Power distribution &amp; regulation</a:t>
            </a:r>
          </a:p>
        </p:txBody>
      </p:sp>
      <p:sp>
        <p:nvSpPr>
          <p:cNvPr id="166" name="TextBox 165"/>
          <p:cNvSpPr txBox="1"/>
          <p:nvPr/>
        </p:nvSpPr>
        <p:spPr>
          <a:xfrm>
            <a:off x="694944" y="4846320"/>
            <a:ext cx="5394960" cy="731520"/>
          </a:xfrm>
          <a:prstGeom prst="rect">
            <a:avLst/>
          </a:prstGeom>
          <a:noFill/>
        </p:spPr>
        <p:txBody>
          <a:bodyPr wrap="square" anchor="t" lIns="0" rIns="0" tIns="0" bIns="0">
            <a:spAutoFit/>
          </a:bodyPr>
          <a:lstStyle/>
          <a:p>
            <a:pPr marL="155448" indent="-155448">
              <a:spcAft>
                <a:spcPts val="300"/>
              </a:spcAft>
              <a:buClr>
                <a:srgbClr val="059669"/>
              </a:buClr>
              <a:buSzPct val="110000"/>
              <a:buFont typeface="Arial"/>
              <a:buChar char="▪"/>
            </a:pPr>
            <a:r>
              <a:rPr sz="919" b="0" i="0">
                <a:solidFill>
                  <a:srgbClr val="334155"/>
                </a:solidFill>
                <a:latin typeface="DM Sans"/>
              </a:rPr>
              <a:t>Power bank 5 V → ESP32 VIN (its on-board 3V3 feeds MCU, ToF, IMU). MCP1700 (250 mA LDO, 1 µF in/out) feeds only the three bio-amps.</a:t>
            </a:r>
          </a:p>
          <a:p>
            <a:pPr marL="155448" indent="-155448">
              <a:spcAft>
                <a:spcPts val="300"/>
              </a:spcAft>
              <a:buClr>
                <a:srgbClr val="059669"/>
              </a:buClr>
              <a:buSzPct val="110000"/>
              <a:buFont typeface="Arial"/>
              <a:buChar char="▪"/>
            </a:pPr>
            <a:r>
              <a:rPr sz="919" b="0" i="0">
                <a:solidFill>
                  <a:srgbClr val="334155"/>
                </a:solidFill>
                <a:latin typeface="DM Sans"/>
              </a:rPr>
              <a:t>1 kΩ + 100 nF RC (1.6 kHz) on each ADC input; rail currents measured at bring-up.</a:t>
            </a:r>
          </a:p>
        </p:txBody>
      </p:sp>
      <p:sp>
        <p:nvSpPr>
          <p:cNvPr id="167" name="Rounded Rectangle 166"/>
          <p:cNvSpPr/>
          <p:nvPr/>
        </p:nvSpPr>
        <p:spPr>
          <a:xfrm>
            <a:off x="6382512" y="932688"/>
            <a:ext cx="5276088"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image.png"/>
          <p:cNvPicPr>
            <a:picLocks noChangeAspect="1"/>
          </p:cNvPicPr>
          <p:nvPr/>
        </p:nvPicPr>
        <p:blipFill>
          <a:blip r:embed="rId12"/>
          <a:stretch>
            <a:fillRect/>
          </a:stretch>
        </p:blipFill>
        <p:spPr>
          <a:xfrm>
            <a:off x="6537960" y="1069848"/>
            <a:ext cx="155448" cy="155448"/>
          </a:xfrm>
          <a:prstGeom prst="rect">
            <a:avLst/>
          </a:prstGeom>
        </p:spPr>
      </p:pic>
      <p:sp>
        <p:nvSpPr>
          <p:cNvPr id="169" name="TextBox 168"/>
          <p:cNvSpPr txBox="1"/>
          <p:nvPr/>
        </p:nvSpPr>
        <p:spPr>
          <a:xfrm>
            <a:off x="6775704" y="1042415"/>
            <a:ext cx="4700016" cy="219456"/>
          </a:xfrm>
          <a:prstGeom prst="rect">
            <a:avLst/>
          </a:prstGeom>
          <a:noFill/>
        </p:spPr>
        <p:txBody>
          <a:bodyPr wrap="square" anchor="t" lIns="0" rIns="0" tIns="0" bIns="0">
            <a:spAutoFit/>
          </a:bodyPr>
          <a:lstStyle/>
          <a:p>
            <a:pPr algn="l"/>
            <a:r>
              <a:rPr sz="1125" b="1" i="0">
                <a:solidFill>
                  <a:srgbClr val="0F172A"/>
                </a:solidFill>
                <a:latin typeface="DM Sans"/>
              </a:rPr>
              <a:t>Itemized Prototype Bill of Materials (as ordered)</a:t>
            </a:r>
          </a:p>
        </p:txBody>
      </p:sp>
      <p:graphicFrame>
        <p:nvGraphicFramePr>
          <p:cNvPr id="170" name="Table 169"/>
          <p:cNvGraphicFramePr>
            <a:graphicFrameLocks noGrp="1"/>
          </p:cNvGraphicFramePr>
          <p:nvPr/>
        </p:nvGraphicFramePr>
        <p:xfrm>
          <a:off x="6537960" y="1353312"/>
          <a:ext cx="4965192" cy="3570732"/>
        </p:xfrm>
        <a:graphic>
          <a:graphicData uri="http://schemas.openxmlformats.org/drawingml/2006/table">
            <a:tbl>
              <a:tblPr firstRow="0" bandRow="0">
                <a:tableStyleId>{2D5ABB26-0587-4C30-8999-92F81FD0307C}</a:tableStyleId>
              </a:tblPr>
              <a:tblGrid>
                <a:gridCol w="1024128"/>
                <a:gridCol w="1627632"/>
                <a:gridCol w="347472"/>
                <a:gridCol w="1143000"/>
                <a:gridCol w="822960"/>
              </a:tblGrid>
              <a:tr h="324612">
                <a:tc>
                  <a:txBody>
                    <a:bodyPr wrap="square"/>
                    <a:lstStyle/>
                    <a:p>
                      <a:r>
                        <a:rPr sz="800" b="1" i="0">
                          <a:solidFill>
                            <a:srgbClr val="0F172A"/>
                          </a:solidFill>
                          <a:latin typeface="DM Sans"/>
                        </a:rPr>
                        <a:t>Component</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00" b="1" i="0">
                          <a:solidFill>
                            <a:srgbClr val="0F172A"/>
                          </a:solidFill>
                          <a:latin typeface="DM Sans"/>
                        </a:rPr>
                        <a:t>Part / specification</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00" b="1" i="0">
                          <a:solidFill>
                            <a:srgbClr val="0F172A"/>
                          </a:solidFill>
                          <a:latin typeface="DM Sans"/>
                        </a:rPr>
                        <a:t>Qty</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00" b="1" i="0">
                          <a:solidFill>
                            <a:srgbClr val="0F172A"/>
                          </a:solidFill>
                          <a:latin typeface="DM Sans"/>
                        </a:rPr>
                        <a:t>Vendor (India)</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00" b="1" i="0">
                          <a:solidFill>
                            <a:srgbClr val="0F172A"/>
                          </a:solidFill>
                          <a:latin typeface="DM Sans"/>
                        </a:rPr>
                        <a:t>Cost ₹</a:t>
                      </a:r>
                    </a:p>
                  </a:txBody>
                  <a:tcPr marL="54864" marR="54864" marT="27432" marB="27432" anchor="ctr">
                    <a:lnL w="6350">
                      <a:noFill/>
                    </a:lnL>
                    <a:lnR w="6350">
                      <a:noFill/>
                    </a:lnR>
                    <a:lnT w="6350">
                      <a:noFill/>
                    </a:lnT>
                    <a:lnB w="6350">
                      <a:solidFill>
                        <a:srgbClr val="E2E8F0"/>
                      </a:solidFill>
                    </a:lnB>
                    <a:solidFill>
                      <a:srgbClr val="E2E8F0"/>
                    </a:solidFill>
                  </a:tcPr>
                </a:tc>
              </a:tr>
              <a:tr h="324612">
                <a:tc>
                  <a:txBody>
                    <a:bodyPr wrap="square"/>
                    <a:lstStyle/>
                    <a:p>
                      <a:r>
                        <a:rPr sz="800" b="1" i="0">
                          <a:solidFill>
                            <a:srgbClr val="0F172A"/>
                          </a:solidFill>
                          <a:latin typeface="DM Sans"/>
                        </a:rPr>
                        <a:t>EOG front-end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BioAmp EXG Pill kit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2</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Upside Down Labs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5,198.00</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EMG front-end</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BisCute kit + cable + electrodes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Upside Down Labs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1,346.00</a:t>
                      </a:r>
                    </a:p>
                  </a:txBody>
                  <a:tcPr marL="54864" marR="54864" marT="27432" marB="27432" anchor="ctr">
                    <a:lnL w="6350">
                      <a:noFill/>
                    </a:lnL>
                    <a:lnR w="6350">
                      <a:noFill/>
                    </a:lnR>
                    <a:lnT w="6350">
                      <a:noFill/>
                    </a:lnT>
                    <a:lnB w="6350">
                      <a:solidFill>
                        <a:srgbClr val="E2E8F0"/>
                      </a:solidFill>
                    </a:lnB>
                    <a:solidFill>
                      <a:srgbClr val="F8FAFC"/>
                    </a:solidFill>
                  </a:tcPr>
                </a:tc>
              </a:tr>
              <a:tr h="324612">
                <a:tc>
                  <a:txBody>
                    <a:bodyPr wrap="square"/>
                    <a:lstStyle/>
                    <a:p>
                      <a:r>
                        <a:rPr sz="800" b="1" i="0">
                          <a:solidFill>
                            <a:srgbClr val="0F172A"/>
                          </a:solidFill>
                          <a:latin typeface="DM Sans"/>
                        </a:rPr>
                        <a:t>Wi-Fi relay</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SONOFF DUALR3 (2 ch)</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SONOFF India</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1,665.06</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Power bank</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Portronics Aero 10, 10,000 mAh</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Portronics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1,303.00</a:t>
                      </a:r>
                    </a:p>
                  </a:txBody>
                  <a:tcPr marL="54864" marR="54864" marT="27432" marB="27432" anchor="ctr">
                    <a:lnL w="6350">
                      <a:noFill/>
                    </a:lnL>
                    <a:lnR w="6350">
                      <a:noFill/>
                    </a:lnR>
                    <a:lnT w="6350">
                      <a:noFill/>
                    </a:lnT>
                    <a:lnB w="6350">
                      <a:solidFill>
                        <a:srgbClr val="E2E8F0"/>
                      </a:solidFill>
                    </a:lnB>
                    <a:solidFill>
                      <a:srgbClr val="F8FAFC"/>
                    </a:solidFill>
                  </a:tcPr>
                </a:tc>
              </a:tr>
              <a:tr h="324612">
                <a:tc>
                  <a:txBody>
                    <a:bodyPr wrap="square"/>
                    <a:lstStyle/>
                    <a:p>
                      <a:r>
                        <a:rPr sz="800" b="1" i="0">
                          <a:solidFill>
                            <a:srgbClr val="0F172A"/>
                          </a:solidFill>
                          <a:latin typeface="DM Sans"/>
                        </a:rPr>
                        <a:t>Depth sensor</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SmartElex VL53L5CX breakout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RoboTechMinds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1,096.80</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MCU</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ESP32-WROOM-32 38-pin DevKit</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Robu</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421.00</a:t>
                      </a:r>
                    </a:p>
                  </a:txBody>
                  <a:tcPr marL="54864" marR="54864" marT="27432" marB="27432" anchor="ctr">
                    <a:lnL w="6350">
                      <a:noFill/>
                    </a:lnL>
                    <a:lnR w="6350">
                      <a:noFill/>
                    </a:lnR>
                    <a:lnT w="6350">
                      <a:noFill/>
                    </a:lnT>
                    <a:lnB w="6350">
                      <a:solidFill>
                        <a:srgbClr val="E2E8F0"/>
                      </a:solidFill>
                    </a:lnB>
                    <a:solidFill>
                      <a:srgbClr val="F8FAFC"/>
                    </a:solidFill>
                  </a:tcPr>
                </a:tc>
              </a:tr>
              <a:tr h="324612">
                <a:tc>
                  <a:txBody>
                    <a:bodyPr wrap="square"/>
                    <a:lstStyle/>
                    <a:p>
                      <a:r>
                        <a:rPr sz="800" b="1" i="0">
                          <a:solidFill>
                            <a:srgbClr val="0F172A"/>
                          </a:solidFill>
                          <a:latin typeface="DM Sans"/>
                        </a:rPr>
                        <a:t>IMU</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GY-6500 MPU6500</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FlyRobo</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345.00</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LDO</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MCP1700T-3302E/TT</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2</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Robu</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00" b="0" i="0">
                          <a:solidFill>
                            <a:srgbClr val="334155"/>
                          </a:solidFill>
                          <a:latin typeface="DM Sans"/>
                        </a:rPr>
                        <a:t>145.00</a:t>
                      </a:r>
                    </a:p>
                  </a:txBody>
                  <a:tcPr marL="54864" marR="54864" marT="27432" marB="27432" anchor="ctr">
                    <a:lnL w="6350">
                      <a:noFill/>
                    </a:lnL>
                    <a:lnR w="6350">
                      <a:noFill/>
                    </a:lnR>
                    <a:lnT w="6350">
                      <a:noFill/>
                    </a:lnT>
                    <a:lnB w="6350">
                      <a:solidFill>
                        <a:srgbClr val="E2E8F0"/>
                      </a:solidFill>
                    </a:lnB>
                    <a:solidFill>
                      <a:srgbClr val="F8FAFC"/>
                    </a:solidFill>
                  </a:tcPr>
                </a:tc>
              </a:tr>
              <a:tr h="324612">
                <a:tc>
                  <a:txBody>
                    <a:bodyPr wrap="square"/>
                    <a:lstStyle/>
                    <a:p>
                      <a:r>
                        <a:rPr sz="800" b="1" i="0">
                          <a:solidFill>
                            <a:srgbClr val="0F172A"/>
                          </a:solidFill>
                          <a:latin typeface="DM Sans"/>
                        </a:rPr>
                        <a:t>Passives &amp; build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Resistor kit, caps, LEDs, perfboard, wire, button, OLED, cables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lot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Robu / IHC / ElectronComponents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00" b="0" i="0">
                          <a:solidFill>
                            <a:srgbClr val="334155"/>
                          </a:solidFill>
                          <a:latin typeface="DM Sans"/>
                        </a:rPr>
                        <a:t>1,573.41</a:t>
                      </a:r>
                    </a:p>
                  </a:txBody>
                  <a:tcPr marL="54864" marR="54864" marT="27432" marB="27432" anchor="ctr">
                    <a:lnL w="6350">
                      <a:noFill/>
                    </a:lnL>
                    <a:lnR w="6350">
                      <a:noFill/>
                    </a:lnR>
                    <a:lnT w="6350">
                      <a:noFill/>
                    </a:lnT>
                    <a:lnB w="6350">
                      <a:solidFill>
                        <a:srgbClr val="E2E8F0"/>
                      </a:solidFill>
                    </a:lnB>
                    <a:solidFill>
                      <a:srgbClr val="FFFFFF"/>
                    </a:solidFill>
                  </a:tcPr>
                </a:tc>
              </a:tr>
              <a:tr h="324612">
                <a:tc>
                  <a:txBody>
                    <a:bodyPr wrap="square"/>
                    <a:lstStyle/>
                    <a:p>
                      <a:r>
                        <a:rPr sz="800" b="1" i="0">
                          <a:solidFill>
                            <a:srgbClr val="0F172A"/>
                          </a:solidFill>
                          <a:latin typeface="DM Sans"/>
                        </a:rPr>
                        <a:t>Total (incl. GST &amp; shipping)</a:t>
                      </a:r>
                    </a:p>
                  </a:txBody>
                  <a:tcPr marL="54864" marR="54864" marT="27432" marB="27432" anchor="ctr">
                    <a:lnL w="6350">
                      <a:noFill/>
                    </a:lnL>
                    <a:lnR w="6350">
                      <a:noFill/>
                    </a:lnR>
                    <a:lnT w="6350">
                      <a:noFill/>
                    </a:lnT>
                    <a:lnB w="6350">
                      <a:solidFill>
                        <a:srgbClr val="E2E8F0"/>
                      </a:solidFill>
                    </a:lnB>
                    <a:solidFill>
                      <a:srgbClr val="F0FDF4"/>
                    </a:solidFill>
                  </a:tcPr>
                </a:tc>
                <a:tc>
                  <a:txBody>
                    <a:bodyPr wrap="square"/>
                    <a:lstStyle/>
                    <a:p>
                      <a:r>
                        <a:rPr sz="800" b="1" i="0">
                          <a:solidFill>
                            <a:srgbClr val="0F172A"/>
                          </a:solidFill>
                          <a:latin typeface="DM Sans"/>
                        </a:rPr>
                        <a:t/>
                      </a:r>
                    </a:p>
                  </a:txBody>
                  <a:tcPr marL="54864" marR="54864" marT="27432" marB="27432" anchor="ctr">
                    <a:lnL w="6350">
                      <a:noFill/>
                    </a:lnL>
                    <a:lnR w="6350">
                      <a:noFill/>
                    </a:lnR>
                    <a:lnT w="6350">
                      <a:noFill/>
                    </a:lnT>
                    <a:lnB w="6350">
                      <a:solidFill>
                        <a:srgbClr val="E2E8F0"/>
                      </a:solidFill>
                    </a:lnB>
                    <a:solidFill>
                      <a:srgbClr val="F0FDF4"/>
                    </a:solidFill>
                  </a:tcPr>
                </a:tc>
                <a:tc>
                  <a:txBody>
                    <a:bodyPr wrap="square"/>
                    <a:lstStyle/>
                    <a:p>
                      <a:r>
                        <a:rPr sz="800" b="1" i="0">
                          <a:solidFill>
                            <a:srgbClr val="0F172A"/>
                          </a:solidFill>
                          <a:latin typeface="DM Sans"/>
                        </a:rPr>
                        <a:t/>
                      </a:r>
                    </a:p>
                  </a:txBody>
                  <a:tcPr marL="54864" marR="54864" marT="27432" marB="27432" anchor="ctr">
                    <a:lnL w="6350">
                      <a:noFill/>
                    </a:lnL>
                    <a:lnR w="6350">
                      <a:noFill/>
                    </a:lnR>
                    <a:lnT w="6350">
                      <a:noFill/>
                    </a:lnT>
                    <a:lnB w="6350">
                      <a:solidFill>
                        <a:srgbClr val="E2E8F0"/>
                      </a:solidFill>
                    </a:lnB>
                    <a:solidFill>
                      <a:srgbClr val="F0FDF4"/>
                    </a:solidFill>
                  </a:tcPr>
                </a:tc>
                <a:tc>
                  <a:txBody>
                    <a:bodyPr wrap="square"/>
                    <a:lstStyle/>
                    <a:p>
                      <a:r>
                        <a:rPr sz="800" b="1" i="0">
                          <a:solidFill>
                            <a:srgbClr val="0F172A"/>
                          </a:solidFill>
                          <a:latin typeface="DM Sans"/>
                        </a:rPr>
                        <a:t/>
                      </a:r>
                    </a:p>
                  </a:txBody>
                  <a:tcPr marL="54864" marR="54864" marT="27432" marB="27432" anchor="ctr">
                    <a:lnL w="6350">
                      <a:noFill/>
                    </a:lnL>
                    <a:lnR w="6350">
                      <a:noFill/>
                    </a:lnR>
                    <a:lnT w="6350">
                      <a:noFill/>
                    </a:lnT>
                    <a:lnB w="6350">
                      <a:solidFill>
                        <a:srgbClr val="E2E8F0"/>
                      </a:solidFill>
                    </a:lnB>
                    <a:solidFill>
                      <a:srgbClr val="F0FDF4"/>
                    </a:solidFill>
                  </a:tcPr>
                </a:tc>
                <a:tc>
                  <a:txBody>
                    <a:bodyPr wrap="square"/>
                    <a:lstStyle/>
                    <a:p>
                      <a:r>
                        <a:rPr sz="800" b="1" i="0">
                          <a:solidFill>
                            <a:srgbClr val="0F172A"/>
                          </a:solidFill>
                          <a:latin typeface="DM Sans"/>
                        </a:rPr>
                        <a:t>13,093.27</a:t>
                      </a:r>
                    </a:p>
                  </a:txBody>
                  <a:tcPr marL="54864" marR="54864" marT="27432" marB="27432" anchor="ctr">
                    <a:lnL w="6350">
                      <a:noFill/>
                    </a:lnL>
                    <a:lnR w="6350">
                      <a:noFill/>
                    </a:lnR>
                    <a:lnT w="6350">
                      <a:noFill/>
                    </a:lnT>
                    <a:lnB w="6350">
                      <a:solidFill>
                        <a:srgbClr val="E2E8F0"/>
                      </a:solidFill>
                    </a:lnB>
                    <a:solidFill>
                      <a:srgbClr val="F0FDF4"/>
                    </a:solidFill>
                  </a:tcPr>
                </a:tc>
              </a:tr>
            </a:tbl>
          </a:graphicData>
        </a:graphic>
      </p:graphicFrame>
      <p:sp>
        <p:nvSpPr>
          <p:cNvPr id="171" name="TextBox 170"/>
          <p:cNvSpPr txBox="1"/>
          <p:nvPr/>
        </p:nvSpPr>
        <p:spPr>
          <a:xfrm>
            <a:off x="6537960" y="5212080"/>
            <a:ext cx="4983480" cy="310896"/>
          </a:xfrm>
          <a:prstGeom prst="rect">
            <a:avLst/>
          </a:prstGeom>
          <a:noFill/>
        </p:spPr>
        <p:txBody>
          <a:bodyPr wrap="square" anchor="t" lIns="0" rIns="0" tIns="0" bIns="0">
            <a:spAutoFit/>
          </a:bodyPr>
          <a:lstStyle/>
          <a:p>
            <a:pPr algn="l"/>
            <a:r>
              <a:rPr sz="861" b="0" i="1">
                <a:solidFill>
                  <a:srgbClr val="64748B"/>
                </a:solidFill>
                <a:latin typeface="DM Sans"/>
              </a:rPr>
              <a:t>Approved cap ₹16,000 → headroom ₹2,906.73 (printing, targets and electrician allowances come from this).</a:t>
            </a:r>
          </a:p>
        </p:txBody>
      </p:sp>
      <p:sp>
        <p:nvSpPr>
          <p:cNvPr id="172" name="Rounded Rectangle 171"/>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TextBox 172"/>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Procurement status: </a:t>
            </a:r>
            <a:r>
              <a:rPr sz="936" b="0" i="0">
                <a:solidFill>
                  <a:srgbClr val="475569"/>
                </a:solidFill>
                <a:latin typeface="DM Sans"/>
              </a:rPr>
              <a:t>every part ordered from Indian sellers by 6 Oct 2026 — no imports. Delivery inventory and module-revision checks are in progress, so no lead time is claimed as met.</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Your Maker Journey</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5431536" cy="1335024"/>
          </a:xfrm>
          <a:prstGeom prst="roundRect">
            <a:avLst>
              <a:gd name="adj" fmla="val 3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freecad_ui_crop.png"/>
          <p:cNvPicPr>
            <a:picLocks noChangeAspect="1"/>
          </p:cNvPicPr>
          <p:nvPr/>
        </p:nvPicPr>
        <p:blipFill>
          <a:blip r:embed="rId2"/>
          <a:stretch>
            <a:fillRect/>
          </a:stretch>
        </p:blipFill>
        <p:spPr>
          <a:xfrm>
            <a:off x="566928" y="998253"/>
            <a:ext cx="5358384" cy="1203893"/>
          </a:xfrm>
          <a:prstGeom prst="rect">
            <a:avLst/>
          </a:prstGeom>
        </p:spPr>
      </p:pic>
      <p:sp>
        <p:nvSpPr>
          <p:cNvPr id="162" name="TextBox 161"/>
          <p:cNvSpPr txBox="1"/>
          <p:nvPr/>
        </p:nvSpPr>
        <p:spPr>
          <a:xfrm>
            <a:off x="530352" y="2304288"/>
            <a:ext cx="5431536" cy="182880"/>
          </a:xfrm>
          <a:prstGeom prst="rect">
            <a:avLst/>
          </a:prstGeom>
          <a:noFill/>
        </p:spPr>
        <p:txBody>
          <a:bodyPr wrap="square" anchor="t" lIns="0" rIns="0" tIns="0" bIns="0">
            <a:spAutoFit/>
          </a:bodyPr>
          <a:lstStyle/>
          <a:p>
            <a:pPr algn="l"/>
            <a:r>
              <a:rPr sz="861" b="0" i="0">
                <a:solidFill>
                  <a:srgbClr val="64748B"/>
                </a:solidFill>
                <a:latin typeface="DM Sans"/>
              </a:rPr>
              <a:t>Figure: FreeCAD 1.1 session — VergeLink_Enclosure feature tree and live model (14 Oct 2026).</a:t>
            </a:r>
          </a:p>
        </p:txBody>
      </p:sp>
      <p:sp>
        <p:nvSpPr>
          <p:cNvPr id="163" name="Rounded Rectangle 162"/>
          <p:cNvSpPr/>
          <p:nvPr/>
        </p:nvSpPr>
        <p:spPr>
          <a:xfrm>
            <a:off x="530352" y="2596896"/>
            <a:ext cx="5431536" cy="2962656"/>
          </a:xfrm>
          <a:prstGeom prst="roundRect">
            <a:avLst>
              <a:gd name="adj" fmla="val 6000"/>
            </a:avLst>
          </a:prstGeom>
          <a:solidFill>
            <a:srgbClr val="FFFFFF"/>
          </a:solidFill>
          <a:ln w="9525">
            <a:solidFill>
              <a:srgbClr val="94A3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731520" y="2743200"/>
            <a:ext cx="5029200" cy="2651760"/>
          </a:xfrm>
          <a:prstGeom prst="rect">
            <a:avLst/>
          </a:prstGeom>
          <a:noFill/>
        </p:spPr>
        <p:txBody>
          <a:bodyPr wrap="square" anchor="ctr" lIns="0" rIns="0" tIns="0" bIns="0">
            <a:spAutoFit/>
          </a:bodyPr>
          <a:lstStyle/>
          <a:p>
            <a:pPr algn="ctr"/>
            <a:r>
              <a:rPr sz="1100" b="1" i="0">
                <a:solidFill>
                  <a:srgbClr val="0369A1"/>
                </a:solidFill>
                <a:latin typeface="DM Sans"/>
              </a:rPr>
              <a:t>[Add photo]  </a:t>
            </a:r>
            <a:r>
              <a:rPr sz="1011" b="0" i="0">
                <a:solidFill>
                  <a:srgbClr val="64748B"/>
                </a:solidFill>
                <a:latin typeface="DM Sans"/>
              </a:rPr>
              <a:t>Team members soldering the perfboard / assembling the enclosure, wearing institutional ID badges, plus a joint review photo with the faculty guide.</a:t>
            </a:r>
          </a:p>
        </p:txBody>
      </p:sp>
      <p:sp>
        <p:nvSpPr>
          <p:cNvPr id="165" name="Rounded Rectangle 164"/>
          <p:cNvSpPr/>
          <p:nvPr/>
        </p:nvSpPr>
        <p:spPr>
          <a:xfrm>
            <a:off x="6227064" y="932688"/>
            <a:ext cx="5431536" cy="4626864"/>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6" name="Picture 165" descr="image.png"/>
          <p:cNvPicPr>
            <a:picLocks noChangeAspect="1"/>
          </p:cNvPicPr>
          <p:nvPr/>
        </p:nvPicPr>
        <p:blipFill>
          <a:blip r:embed="rId12"/>
          <a:stretch>
            <a:fillRect/>
          </a:stretch>
        </p:blipFill>
        <p:spPr>
          <a:xfrm>
            <a:off x="6400800" y="1069848"/>
            <a:ext cx="155448" cy="155448"/>
          </a:xfrm>
          <a:prstGeom prst="rect">
            <a:avLst/>
          </a:prstGeom>
        </p:spPr>
      </p:pic>
      <p:sp>
        <p:nvSpPr>
          <p:cNvPr id="167" name="TextBox 166"/>
          <p:cNvSpPr txBox="1"/>
          <p:nvPr/>
        </p:nvSpPr>
        <p:spPr>
          <a:xfrm>
            <a:off x="6638544" y="1042415"/>
            <a:ext cx="4882896" cy="219456"/>
          </a:xfrm>
          <a:prstGeom prst="rect">
            <a:avLst/>
          </a:prstGeom>
          <a:noFill/>
        </p:spPr>
        <p:txBody>
          <a:bodyPr wrap="square" anchor="t" lIns="0" rIns="0" tIns="0" bIns="0">
            <a:spAutoFit/>
          </a:bodyPr>
          <a:lstStyle/>
          <a:p>
            <a:pPr algn="l"/>
            <a:r>
              <a:rPr sz="1125" b="1" i="0">
                <a:solidFill>
                  <a:srgbClr val="0F172A"/>
                </a:solidFill>
                <a:latin typeface="DM Sans"/>
              </a:rPr>
              <a:t>Stage 1 to Stage 2 Engineering Iterations</a:t>
            </a:r>
          </a:p>
        </p:txBody>
      </p:sp>
      <p:sp>
        <p:nvSpPr>
          <p:cNvPr id="168" name="TextBox 167"/>
          <p:cNvSpPr txBox="1"/>
          <p:nvPr/>
        </p:nvSpPr>
        <p:spPr>
          <a:xfrm>
            <a:off x="6400800" y="1371600"/>
            <a:ext cx="5120640" cy="4160520"/>
          </a:xfrm>
          <a:prstGeom prst="rect">
            <a:avLst/>
          </a:prstGeom>
          <a:noFill/>
        </p:spPr>
        <p:txBody>
          <a:bodyPr wrap="square" anchor="t" lIns="0" rIns="0" tIns="0" bIns="0">
            <a:spAutoFit/>
          </a:bodyPr>
          <a:lstStyle/>
          <a:p>
            <a:pPr marL="155448" indent="-155448">
              <a:spcAft>
                <a:spcPts val="700"/>
              </a:spcAft>
              <a:buClr>
                <a:srgbClr val="059669"/>
              </a:buClr>
              <a:buSzPct val="110000"/>
              <a:buFont typeface="Arial"/>
              <a:buChar char="▪"/>
            </a:pPr>
            <a:r>
              <a:rPr sz="1000" b="1" i="0">
                <a:solidFill>
                  <a:srgbClr val="334155"/>
                </a:solidFill>
                <a:latin typeface="DM Sans"/>
              </a:rPr>
              <a:t>Front-end pivot: </a:t>
            </a:r>
            <a:r>
              <a:rPr sz="1000" b="0" i="0">
                <a:solidFill>
                  <a:srgbClr val="334155"/>
                </a:solidFill>
                <a:latin typeface="DM Sans"/>
              </a:rPr>
              <a:t>Stage 1 planned ADS1293 + AD8232 + nRF52840. The ₹6,995 ADS1293 order was cancelled; two BioAmp EXG Pills + BisCute + ESP32 keep the build inside ₹16,000 and match the bilateral EOG set-up used in VergeIO (2025).</a:t>
            </a:r>
          </a:p>
          <a:p>
            <a:pPr marL="155448" indent="-155448">
              <a:spcAft>
                <a:spcPts val="700"/>
              </a:spcAft>
              <a:buClr>
                <a:srgbClr val="059669"/>
              </a:buClr>
              <a:buSzPct val="110000"/>
              <a:buFont typeface="Arial"/>
              <a:buChar char="▪"/>
            </a:pPr>
            <a:r>
              <a:rPr sz="1000" b="1" i="0">
                <a:solidFill>
                  <a:srgbClr val="334155"/>
                </a:solidFill>
                <a:latin typeface="DM Sans"/>
              </a:rPr>
              <a:t>Scope made honest: </a:t>
            </a:r>
            <a:r>
              <a:rPr sz="1000" b="0" i="0">
                <a:solidFill>
                  <a:srgbClr val="334155"/>
                </a:solidFill>
                <a:latin typeface="DM Sans"/>
              </a:rPr>
              <a:t>third (vertical) EOG channel, magnetometer heading, wheelchair DAC and dry electrodes are out of this build; Stage 1 simulation figures are not reported as results.</a:t>
            </a:r>
          </a:p>
          <a:p>
            <a:pPr marL="155448" indent="-155448">
              <a:spcAft>
                <a:spcPts val="700"/>
              </a:spcAft>
              <a:buClr>
                <a:srgbClr val="059669"/>
              </a:buClr>
              <a:buSzPct val="110000"/>
              <a:buFont typeface="Arial"/>
              <a:buChar char="▪"/>
            </a:pPr>
            <a:r>
              <a:rPr sz="1000" b="1" i="0">
                <a:solidFill>
                  <a:srgbClr val="334155"/>
                </a:solidFill>
                <a:latin typeface="DM Sans"/>
              </a:rPr>
              <a:t>Actuation: </a:t>
            </a:r>
            <a:r>
              <a:rPr sz="1000" b="0" i="0">
                <a:solidFill>
                  <a:srgbClr val="334155"/>
                </a:solidFill>
                <a:latin typeface="DM Sans"/>
              </a:rPr>
              <a:t>two separate MINIR4 relays replaced by one SONOFF DUALR3 — two channels in one retrofit box.</a:t>
            </a:r>
          </a:p>
          <a:p>
            <a:pPr marL="155448" indent="-155448">
              <a:spcAft>
                <a:spcPts val="700"/>
              </a:spcAft>
              <a:buClr>
                <a:srgbClr val="059669"/>
              </a:buClr>
              <a:buSzPct val="110000"/>
              <a:buFont typeface="Arial"/>
              <a:buChar char="▪"/>
            </a:pPr>
            <a:r>
              <a:rPr sz="1000" b="1" i="0">
                <a:solidFill>
                  <a:srgbClr val="334155"/>
                </a:solidFill>
                <a:latin typeface="DM Sans"/>
              </a:rPr>
              <a:t>CAD milestone: </a:t>
            </a:r>
            <a:r>
              <a:rPr sz="1000" b="0" i="0">
                <a:solidFill>
                  <a:srgbClr val="334155"/>
                </a:solidFill>
                <a:latin typeface="DM Sans"/>
              </a:rPr>
              <a:t>12-part FreeCAD assembly, STEP export and a CalculiX FEA of the strap loop completed on 14 Oct 2026.</a:t>
            </a:r>
          </a:p>
          <a:p>
            <a:pPr marL="155448" indent="-155448">
              <a:spcAft>
                <a:spcPts val="700"/>
              </a:spcAft>
              <a:buClr>
                <a:srgbClr val="059669"/>
              </a:buClr>
              <a:buSzPct val="110000"/>
              <a:buFont typeface="Arial"/>
              <a:buChar char="▪"/>
            </a:pPr>
            <a:r>
              <a:rPr sz="1000" b="1" i="0">
                <a:solidFill>
                  <a:srgbClr val="334155"/>
                </a:solidFill>
                <a:latin typeface="DM Sans"/>
              </a:rPr>
              <a:t>EDA milestone: </a:t>
            </a:r>
            <a:r>
              <a:rPr sz="1000" b="0" i="0">
                <a:solidFill>
                  <a:srgbClr val="334155"/>
                </a:solidFill>
                <a:latin typeface="DM Sans"/>
              </a:rPr>
              <a:t>KiCad 10 schematic with 21 components and 15 named nets; ERC clean (0 errors, 0 warnings) on 14 Oct 2026; netlist and BOM exported.</a:t>
            </a:r>
          </a:p>
          <a:p>
            <a:pPr marL="155448" indent="-155448">
              <a:spcAft>
                <a:spcPts val="700"/>
              </a:spcAft>
              <a:buClr>
                <a:srgbClr val="059669"/>
              </a:buClr>
              <a:buSzPct val="110000"/>
              <a:buFont typeface="Arial"/>
              <a:buChar char="▪"/>
            </a:pPr>
            <a:r>
              <a:rPr sz="1000" b="1" i="0">
                <a:solidFill>
                  <a:srgbClr val="334155"/>
                </a:solidFill>
                <a:latin typeface="DM Sans"/>
              </a:rPr>
              <a:t>Raw repository: </a:t>
            </a:r>
            <a:r>
              <a:rPr sz="1000" b="0" i="0">
                <a:solidFill>
                  <a:srgbClr val="334155"/>
                </a:solidFill>
                <a:latin typeface="DM Sans"/>
              </a:rPr>
              <a:t>github.com/amalnathkp13-boop/vergelink — native .FCStd, .step, .kicad_sch, netlist, ERC report, BOM, figures and this deck.</a:t>
            </a:r>
          </a:p>
        </p:txBody>
      </p:sp>
      <p:sp>
        <p:nvSpPr>
          <p:cNvPr id="169" name="Rounded Rectangle 168"/>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Box 169"/>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Institutional sign-off: </a:t>
            </a:r>
            <a:r>
              <a:rPr sz="936" b="0" i="0">
                <a:solidFill>
                  <a:srgbClr val="475569"/>
                </a:solidFill>
                <a:latin typeface="DM Sans"/>
              </a:rPr>
              <a:t>Faculty guide Mrs. C. Radhika, Dept. of Biomedical Engineering, VCET Erode (Batch 23BM7A) — [add review date / signature].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Safety by Design &amp; Roadmap</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11128248" cy="2395728"/>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image.png"/>
          <p:cNvPicPr>
            <a:picLocks noChangeAspect="1"/>
          </p:cNvPicPr>
          <p:nvPr/>
        </p:nvPicPr>
        <p:blipFill>
          <a:blip r:embed="rId12"/>
          <a:stretch>
            <a:fillRect/>
          </a:stretch>
        </p:blipFill>
        <p:spPr>
          <a:xfrm>
            <a:off x="694944" y="1051560"/>
            <a:ext cx="155448" cy="155448"/>
          </a:xfrm>
          <a:prstGeom prst="rect">
            <a:avLst/>
          </a:prstGeom>
        </p:spPr>
      </p:pic>
      <p:sp>
        <p:nvSpPr>
          <p:cNvPr id="162" name="TextBox 161"/>
          <p:cNvSpPr txBox="1"/>
          <p:nvPr/>
        </p:nvSpPr>
        <p:spPr>
          <a:xfrm>
            <a:off x="932688" y="1024128"/>
            <a:ext cx="10552176" cy="219456"/>
          </a:xfrm>
          <a:prstGeom prst="rect">
            <a:avLst/>
          </a:prstGeom>
          <a:noFill/>
        </p:spPr>
        <p:txBody>
          <a:bodyPr wrap="square" anchor="t" lIns="0" rIns="0" tIns="0" bIns="0">
            <a:spAutoFit/>
          </a:bodyPr>
          <a:lstStyle/>
          <a:p>
            <a:pPr algn="l"/>
            <a:r>
              <a:rPr sz="1125" b="1" i="0">
                <a:solidFill>
                  <a:srgbClr val="0F172A"/>
                </a:solidFill>
                <a:latin typeface="DM Sans"/>
              </a:rPr>
              <a:t>Design FMEA (Failure Mode and Effects Analysis)</a:t>
            </a:r>
          </a:p>
        </p:txBody>
      </p:sp>
      <p:graphicFrame>
        <p:nvGraphicFramePr>
          <p:cNvPr id="163" name="Table 162"/>
          <p:cNvGraphicFramePr>
            <a:graphicFrameLocks noGrp="1"/>
          </p:cNvGraphicFramePr>
          <p:nvPr/>
        </p:nvGraphicFramePr>
        <p:xfrm>
          <a:off x="694944" y="1298448"/>
          <a:ext cx="10799064" cy="1975104"/>
        </p:xfrm>
        <a:graphic>
          <a:graphicData uri="http://schemas.openxmlformats.org/drawingml/2006/table">
            <a:tbl>
              <a:tblPr firstRow="0" bandRow="0">
                <a:tableStyleId>{2D5ABB26-0587-4C30-8999-92F81FD0307C}</a:tableStyleId>
              </a:tblPr>
              <a:tblGrid>
                <a:gridCol w="2743200"/>
                <a:gridCol w="2194560"/>
                <a:gridCol w="5861304"/>
              </a:tblGrid>
              <a:tr h="329184">
                <a:tc>
                  <a:txBody>
                    <a:bodyPr wrap="square"/>
                    <a:lstStyle/>
                    <a:p>
                      <a:r>
                        <a:rPr sz="860" b="1" i="0">
                          <a:solidFill>
                            <a:srgbClr val="0F172A"/>
                          </a:solidFill>
                          <a:latin typeface="DM Sans"/>
                        </a:rPr>
                        <a:t>Failure mode</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Potential hazard</a:t>
                      </a:r>
                    </a:p>
                  </a:txBody>
                  <a:tcPr marL="54864" marR="54864" marT="27432" marB="27432" anchor="ctr">
                    <a:lnL w="6350">
                      <a:noFill/>
                    </a:lnL>
                    <a:lnR w="6350">
                      <a:noFill/>
                    </a:lnR>
                    <a:lnT w="6350">
                      <a:noFill/>
                    </a:lnT>
                    <a:lnB w="6350">
                      <a:solidFill>
                        <a:srgbClr val="E2E8F0"/>
                      </a:solidFill>
                    </a:lnB>
                    <a:solidFill>
                      <a:srgbClr val="E2E8F0"/>
                    </a:solidFill>
                  </a:tcPr>
                </a:tc>
                <a:tc>
                  <a:txBody>
                    <a:bodyPr wrap="square"/>
                    <a:lstStyle/>
                    <a:p>
                      <a:r>
                        <a:rPr sz="860" b="1" i="0">
                          <a:solidFill>
                            <a:srgbClr val="0F172A"/>
                          </a:solidFill>
                          <a:latin typeface="DM Sans"/>
                        </a:rPr>
                        <a:t>Embedded fail-safe / mitigation response</a:t>
                      </a:r>
                    </a:p>
                  </a:txBody>
                  <a:tcPr marL="54864" marR="54864" marT="27432" marB="27432" anchor="ctr">
                    <a:lnL w="6350">
                      <a:noFill/>
                    </a:lnL>
                    <a:lnR w="6350">
                      <a:noFill/>
                    </a:lnR>
                    <a:lnT w="6350">
                      <a:noFill/>
                    </a:lnT>
                    <a:lnB w="6350">
                      <a:solidFill>
                        <a:srgbClr val="E2E8F0"/>
                      </a:solidFill>
                    </a:lnB>
                    <a:solidFill>
                      <a:srgbClr val="E2E8F0"/>
                    </a:solidFill>
                  </a:tcPr>
                </a:tc>
              </a:tr>
              <a:tr h="329184">
                <a:tc>
                  <a:txBody>
                    <a:bodyPr wrap="square"/>
                    <a:lstStyle/>
                    <a:p>
                      <a:r>
                        <a:rPr sz="860" b="1" i="0">
                          <a:solidFill>
                            <a:srgbClr val="0F172A"/>
                          </a:solidFill>
                          <a:latin typeface="DM Sans"/>
                        </a:rPr>
                        <a:t>Electrodes worn while USB goes to a mains PC</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Leakage current through skin electrodes</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Battery-only operation whenever electrodes are attached; program over USB only with electrodes removed; no wired path to the relay.</a:t>
                      </a:r>
                    </a:p>
                  </a:txBody>
                  <a:tcPr marL="54864" marR="54864" marT="27432" marB="27432" anchor="ctr">
                    <a:lnL w="6350">
                      <a:noFill/>
                    </a:lnL>
                    <a:lnR w="6350">
                      <a:noFill/>
                    </a:lnR>
                    <a:lnT w="6350">
                      <a:noFill/>
                    </a:lnT>
                    <a:lnB w="6350">
                      <a:solidFill>
                        <a:srgbClr val="E2E8F0"/>
                      </a:solidFill>
                    </a:lnB>
                    <a:solidFill>
                      <a:srgbClr val="FFFFFF"/>
                    </a:solidFill>
                  </a:tcPr>
                </a:tc>
              </a:tr>
              <a:tr h="329184">
                <a:tc>
                  <a:txBody>
                    <a:bodyPr wrap="square"/>
                    <a:lstStyle/>
                    <a:p>
                      <a:r>
                        <a:rPr sz="860" b="1" i="0">
                          <a:solidFill>
                            <a:srgbClr val="0F172A"/>
                          </a:solidFill>
                          <a:latin typeface="DM Sans"/>
                        </a:rPr>
                        <a:t>Chewing / talking produces jaw EMG</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Fan or light switches unintentionally</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EMG accepted only inside a candidate window after gaze + depth agree; refractory period; physical disarm button (GPIO32).</a:t>
                      </a:r>
                    </a:p>
                  </a:txBody>
                  <a:tcPr marL="54864" marR="54864" marT="27432" marB="27432" anchor="ctr">
                    <a:lnL w="6350">
                      <a:noFill/>
                    </a:lnL>
                    <a:lnR w="6350">
                      <a:noFill/>
                    </a:lnR>
                    <a:lnT w="6350">
                      <a:noFill/>
                    </a:lnT>
                    <a:lnB w="6350">
                      <a:solidFill>
                        <a:srgbClr val="E2E8F0"/>
                      </a:solidFill>
                    </a:lnB>
                    <a:solidFill>
                      <a:srgbClr val="F8FAFC"/>
                    </a:solidFill>
                  </a:tcPr>
                </a:tc>
              </a:tr>
              <a:tr h="329184">
                <a:tc>
                  <a:txBody>
                    <a:bodyPr wrap="square"/>
                    <a:lstStyle/>
                    <a:p>
                      <a:r>
                        <a:rPr sz="860" b="1" i="0">
                          <a:solidFill>
                            <a:srgbClr val="0F172A"/>
                          </a:solidFill>
                          <a:latin typeface="DM Sans"/>
                        </a:rPr>
                        <a:t>EOG drift, electrode peel, sensor dropout</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Wrong target selected</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Clipping / stale / missing-sensor flags force FAULT; per-session calibration; candidates expire automatically.</a:t>
                      </a:r>
                    </a:p>
                  </a:txBody>
                  <a:tcPr marL="54864" marR="54864" marT="27432" marB="27432" anchor="ctr">
                    <a:lnL w="6350">
                      <a:noFill/>
                    </a:lnL>
                    <a:lnR w="6350">
                      <a:noFill/>
                    </a:lnR>
                    <a:lnT w="6350">
                      <a:noFill/>
                    </a:lnT>
                    <a:lnB w="6350">
                      <a:solidFill>
                        <a:srgbClr val="E2E8F0"/>
                      </a:solidFill>
                    </a:lnB>
                    <a:solidFill>
                      <a:srgbClr val="FFFFFF"/>
                    </a:solidFill>
                  </a:tcPr>
                </a:tc>
              </a:tr>
              <a:tr h="329184">
                <a:tc>
                  <a:txBody>
                    <a:bodyPr wrap="square"/>
                    <a:lstStyle/>
                    <a:p>
                      <a:r>
                        <a:rPr sz="860" b="1" i="0">
                          <a:solidFill>
                            <a:srgbClr val="0F172A"/>
                          </a:solidFill>
                          <a:latin typeface="DM Sans"/>
                        </a:rPr>
                        <a:t>Bluetooth or Wi-Fi link drops</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Command lost or repeated</a:t>
                      </a:r>
                    </a:p>
                  </a:txBody>
                  <a:tcPr marL="54864" marR="54864" marT="27432" marB="27432" anchor="ctr">
                    <a:lnL w="6350">
                      <a:noFill/>
                    </a:lnL>
                    <a:lnR w="6350">
                      <a:noFill/>
                    </a:lnR>
                    <a:lnT w="6350">
                      <a:noFill/>
                    </a:lnT>
                    <a:lnB w="6350">
                      <a:solidFill>
                        <a:srgbClr val="E2E8F0"/>
                      </a:solidFill>
                    </a:lnB>
                    <a:solidFill>
                      <a:srgbClr val="F8FAFC"/>
                    </a:solidFill>
                  </a:tcPr>
                </a:tc>
                <a:tc>
                  <a:txBody>
                    <a:bodyPr wrap="square"/>
                    <a:lstStyle/>
                    <a:p>
                      <a:r>
                        <a:rPr sz="860" b="0" i="0">
                          <a:solidFill>
                            <a:srgbClr val="334155"/>
                          </a:solidFill>
                          <a:latin typeface="DM Sans"/>
                        </a:rPr>
                        <a:t>Restart in DISARMED; explicit ON / OFF (never toggle); app shows requested vs actual relay state.</a:t>
                      </a:r>
                    </a:p>
                  </a:txBody>
                  <a:tcPr marL="54864" marR="54864" marT="27432" marB="27432" anchor="ctr">
                    <a:lnL w="6350">
                      <a:noFill/>
                    </a:lnL>
                    <a:lnR w="6350">
                      <a:noFill/>
                    </a:lnR>
                    <a:lnT w="6350">
                      <a:noFill/>
                    </a:lnT>
                    <a:lnB w="6350">
                      <a:solidFill>
                        <a:srgbClr val="E2E8F0"/>
                      </a:solidFill>
                    </a:lnB>
                    <a:solidFill>
                      <a:srgbClr val="F8FAFC"/>
                    </a:solidFill>
                  </a:tcPr>
                </a:tc>
              </a:tr>
              <a:tr h="329184">
                <a:tc>
                  <a:txBody>
                    <a:bodyPr wrap="square"/>
                    <a:lstStyle/>
                    <a:p>
                      <a:r>
                        <a:rPr sz="860" b="1" i="0">
                          <a:solidFill>
                            <a:srgbClr val="0F172A"/>
                          </a:solidFill>
                          <a:latin typeface="DM Sans"/>
                        </a:rPr>
                        <a:t>Mains wiring of the DUALR3</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Shock or fire</a:t>
                      </a:r>
                    </a:p>
                  </a:txBody>
                  <a:tcPr marL="54864" marR="54864" marT="27432" marB="27432" anchor="ctr">
                    <a:lnL w="6350">
                      <a:noFill/>
                    </a:lnL>
                    <a:lnR w="6350">
                      <a:noFill/>
                    </a:lnR>
                    <a:lnT w="6350">
                      <a:noFill/>
                    </a:lnT>
                    <a:lnB w="6350">
                      <a:solidFill>
                        <a:srgbClr val="E2E8F0"/>
                      </a:solidFill>
                    </a:lnB>
                    <a:solidFill>
                      <a:srgbClr val="FFFFFF"/>
                    </a:solidFill>
                  </a:tcPr>
                </a:tc>
                <a:tc>
                  <a:txBody>
                    <a:bodyPr wrap="square"/>
                    <a:lstStyle/>
                    <a:p>
                      <a:r>
                        <a:rPr sz="860" b="0" i="0">
                          <a:solidFill>
                            <a:srgbClr val="334155"/>
                          </a:solidFill>
                          <a:latin typeface="DM Sans"/>
                        </a:rPr>
                        <a:t>Licensed electrician installs in existing switchboard; wall switch and fan regulator stay in service.</a:t>
                      </a:r>
                    </a:p>
                  </a:txBody>
                  <a:tcPr marL="54864" marR="54864" marT="27432" marB="27432" anchor="ctr">
                    <a:lnL w="6350">
                      <a:noFill/>
                    </a:lnL>
                    <a:lnR w="6350">
                      <a:noFill/>
                    </a:lnR>
                    <a:lnT w="6350">
                      <a:noFill/>
                    </a:lnT>
                    <a:lnB w="6350">
                      <a:solidFill>
                        <a:srgbClr val="E2E8F0"/>
                      </a:solidFill>
                    </a:lnB>
                    <a:solidFill>
                      <a:srgbClr val="FFFFFF"/>
                    </a:solidFill>
                  </a:tcPr>
                </a:tc>
              </a:tr>
            </a:tbl>
          </a:graphicData>
        </a:graphic>
      </p:graphicFrame>
      <p:sp>
        <p:nvSpPr>
          <p:cNvPr id="164" name="Rounded Rectangle 163"/>
          <p:cNvSpPr/>
          <p:nvPr/>
        </p:nvSpPr>
        <p:spPr>
          <a:xfrm>
            <a:off x="530352" y="3493008"/>
            <a:ext cx="2679192" cy="2066543"/>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image.png"/>
          <p:cNvPicPr>
            <a:picLocks noChangeAspect="1"/>
          </p:cNvPicPr>
          <p:nvPr/>
        </p:nvPicPr>
        <p:blipFill>
          <a:blip r:embed="rId12"/>
          <a:stretch>
            <a:fillRect/>
          </a:stretch>
        </p:blipFill>
        <p:spPr>
          <a:xfrm>
            <a:off x="658368" y="3611879"/>
            <a:ext cx="155448" cy="155448"/>
          </a:xfrm>
          <a:prstGeom prst="rect">
            <a:avLst/>
          </a:prstGeom>
        </p:spPr>
      </p:pic>
      <p:sp>
        <p:nvSpPr>
          <p:cNvPr id="166" name="TextBox 165"/>
          <p:cNvSpPr txBox="1"/>
          <p:nvPr/>
        </p:nvSpPr>
        <p:spPr>
          <a:xfrm>
            <a:off x="896112" y="3584448"/>
            <a:ext cx="2231136" cy="219456"/>
          </a:xfrm>
          <a:prstGeom prst="rect">
            <a:avLst/>
          </a:prstGeom>
          <a:noFill/>
        </p:spPr>
        <p:txBody>
          <a:bodyPr wrap="square" anchor="t" lIns="0" rIns="0" tIns="0" bIns="0">
            <a:spAutoFit/>
          </a:bodyPr>
          <a:lstStyle/>
          <a:p>
            <a:pPr algn="l"/>
            <a:r>
              <a:rPr sz="1040" b="1" i="0">
                <a:solidFill>
                  <a:srgbClr val="0F172A"/>
                </a:solidFill>
                <a:latin typeface="DM Sans"/>
              </a:rPr>
              <a:t>Oct 2026 · Fabrication</a:t>
            </a:r>
          </a:p>
        </p:txBody>
      </p:sp>
      <p:sp>
        <p:nvSpPr>
          <p:cNvPr id="167" name="TextBox 166"/>
          <p:cNvSpPr txBox="1"/>
          <p:nvPr/>
        </p:nvSpPr>
        <p:spPr>
          <a:xfrm>
            <a:off x="658368" y="3913632"/>
            <a:ext cx="2432304" cy="1645920"/>
          </a:xfrm>
          <a:prstGeom prst="rect">
            <a:avLst/>
          </a:prstGeom>
          <a:noFill/>
        </p:spPr>
        <p:txBody>
          <a:bodyPr wrap="square" anchor="t" lIns="0" rIns="0" tIns="0" bIns="0">
            <a:spAutoFit/>
          </a:bodyPr>
          <a:lstStyle/>
          <a:p>
            <a:pPr marL="155448" indent="-155448">
              <a:spcAft>
                <a:spcPts val="700"/>
              </a:spcAft>
              <a:buClr>
                <a:srgbClr val="059669"/>
              </a:buClr>
              <a:buSzPct val="110000"/>
              <a:buFont typeface="Arial"/>
              <a:buChar char="▪"/>
            </a:pPr>
            <a:r>
              <a:rPr sz="1000" b="0" i="0">
                <a:solidFill>
                  <a:srgbClr val="334155"/>
                </a:solidFill>
                <a:latin typeface="DM Sans"/>
              </a:rPr>
              <a:t>Delivery inventory, module revision checks</a:t>
            </a:r>
          </a:p>
          <a:p>
            <a:pPr marL="155448" indent="-155448">
              <a:spcAft>
                <a:spcPts val="700"/>
              </a:spcAft>
              <a:buClr>
                <a:srgbClr val="059669"/>
              </a:buClr>
              <a:buSzPct val="110000"/>
              <a:buFont typeface="Arial"/>
              <a:buChar char="▪"/>
            </a:pPr>
            <a:r>
              <a:rPr sz="1000" b="0" i="0">
                <a:solidFill>
                  <a:srgbClr val="334155"/>
                </a:solidFill>
                <a:latin typeface="DM Sans"/>
              </a:rPr>
              <a:t>Perfboard soldering per Rev A schematic</a:t>
            </a:r>
          </a:p>
          <a:p>
            <a:pPr marL="155448" indent="-155448">
              <a:spcAft>
                <a:spcPts val="700"/>
              </a:spcAft>
              <a:buClr>
                <a:srgbClr val="059669"/>
              </a:buClr>
              <a:buSzPct val="110000"/>
              <a:buFont typeface="Arial"/>
              <a:buChar char="▪"/>
            </a:pPr>
            <a:r>
              <a:rPr sz="1000" b="0" i="0">
                <a:solidFill>
                  <a:srgbClr val="334155"/>
                </a:solidFill>
                <a:latin typeface="DM Sans"/>
              </a:rPr>
              <a:t>ADC bring-up with signal generator, no body contact</a:t>
            </a:r>
          </a:p>
        </p:txBody>
      </p:sp>
      <p:sp>
        <p:nvSpPr>
          <p:cNvPr id="168" name="Rounded Rectangle 167"/>
          <p:cNvSpPr/>
          <p:nvPr/>
        </p:nvSpPr>
        <p:spPr>
          <a:xfrm>
            <a:off x="3346704" y="3493008"/>
            <a:ext cx="2679192" cy="2066543"/>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image.png"/>
          <p:cNvPicPr>
            <a:picLocks noChangeAspect="1"/>
          </p:cNvPicPr>
          <p:nvPr/>
        </p:nvPicPr>
        <p:blipFill>
          <a:blip r:embed="rId12"/>
          <a:stretch>
            <a:fillRect/>
          </a:stretch>
        </p:blipFill>
        <p:spPr>
          <a:xfrm>
            <a:off x="3474720" y="3611879"/>
            <a:ext cx="155448" cy="155448"/>
          </a:xfrm>
          <a:prstGeom prst="rect">
            <a:avLst/>
          </a:prstGeom>
        </p:spPr>
      </p:pic>
      <p:sp>
        <p:nvSpPr>
          <p:cNvPr id="170" name="TextBox 169"/>
          <p:cNvSpPr txBox="1"/>
          <p:nvPr/>
        </p:nvSpPr>
        <p:spPr>
          <a:xfrm>
            <a:off x="3712464" y="3584448"/>
            <a:ext cx="2231136" cy="219456"/>
          </a:xfrm>
          <a:prstGeom prst="rect">
            <a:avLst/>
          </a:prstGeom>
          <a:noFill/>
        </p:spPr>
        <p:txBody>
          <a:bodyPr wrap="square" anchor="t" lIns="0" rIns="0" tIns="0" bIns="0">
            <a:spAutoFit/>
          </a:bodyPr>
          <a:lstStyle/>
          <a:p>
            <a:pPr algn="l"/>
            <a:r>
              <a:rPr sz="1040" b="1" i="0">
                <a:solidFill>
                  <a:srgbClr val="0F172A"/>
                </a:solidFill>
                <a:latin typeface="DM Sans"/>
              </a:rPr>
              <a:t>Nov 2026 · Fabrication</a:t>
            </a:r>
          </a:p>
        </p:txBody>
      </p:sp>
      <p:sp>
        <p:nvSpPr>
          <p:cNvPr id="171" name="TextBox 170"/>
          <p:cNvSpPr txBox="1"/>
          <p:nvPr/>
        </p:nvSpPr>
        <p:spPr>
          <a:xfrm>
            <a:off x="3474720" y="3913632"/>
            <a:ext cx="2432304" cy="1645920"/>
          </a:xfrm>
          <a:prstGeom prst="rect">
            <a:avLst/>
          </a:prstGeom>
          <a:noFill/>
        </p:spPr>
        <p:txBody>
          <a:bodyPr wrap="square" anchor="t" lIns="0" rIns="0" tIns="0" bIns="0">
            <a:spAutoFit/>
          </a:bodyPr>
          <a:lstStyle/>
          <a:p>
            <a:pPr marL="155448" indent="-155448">
              <a:spcAft>
                <a:spcPts val="700"/>
              </a:spcAft>
              <a:buClr>
                <a:srgbClr val="059669"/>
              </a:buClr>
              <a:buSzPct val="110000"/>
              <a:buFont typeface="Arial"/>
              <a:buChar char="▪"/>
            </a:pPr>
            <a:r>
              <a:rPr sz="1000" b="0" i="0">
                <a:solidFill>
                  <a:srgbClr val="334155"/>
                </a:solidFill>
                <a:latin typeface="DM Sans"/>
              </a:rPr>
              <a:t>PETG print of enclosure + pod (college printer)</a:t>
            </a:r>
          </a:p>
          <a:p>
            <a:pPr marL="155448" indent="-155448">
              <a:spcAft>
                <a:spcPts val="700"/>
              </a:spcAft>
              <a:buClr>
                <a:srgbClr val="059669"/>
              </a:buClr>
              <a:buSzPct val="110000"/>
              <a:buFont typeface="Arial"/>
              <a:buChar char="▪"/>
            </a:pPr>
            <a:r>
              <a:rPr sz="1000" b="0" i="0">
                <a:solidFill>
                  <a:srgbClr val="334155"/>
                </a:solidFill>
                <a:latin typeface="DM Sans"/>
              </a:rPr>
              <a:t>Firmware: timed acquisition + health flags</a:t>
            </a:r>
          </a:p>
          <a:p>
            <a:pPr marL="155448" indent="-155448">
              <a:spcAft>
                <a:spcPts val="700"/>
              </a:spcAft>
              <a:buClr>
                <a:srgbClr val="059669"/>
              </a:buClr>
              <a:buSzPct val="110000"/>
              <a:buFont typeface="Arial"/>
              <a:buChar char="▪"/>
            </a:pPr>
            <a:r>
              <a:rPr sz="1000" b="0" i="0">
                <a:solidFill>
                  <a:srgbClr val="334155"/>
                </a:solidFill>
                <a:latin typeface="DM Sans"/>
              </a:rPr>
              <a:t>Laptop app v0; electrode trials on team</a:t>
            </a:r>
          </a:p>
        </p:txBody>
      </p:sp>
      <p:sp>
        <p:nvSpPr>
          <p:cNvPr id="172" name="Rounded Rectangle 171"/>
          <p:cNvSpPr/>
          <p:nvPr/>
        </p:nvSpPr>
        <p:spPr>
          <a:xfrm>
            <a:off x="6163056" y="3493008"/>
            <a:ext cx="2679192" cy="2066543"/>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3" name="Picture 172" descr="image.png"/>
          <p:cNvPicPr>
            <a:picLocks noChangeAspect="1"/>
          </p:cNvPicPr>
          <p:nvPr/>
        </p:nvPicPr>
        <p:blipFill>
          <a:blip r:embed="rId12"/>
          <a:stretch>
            <a:fillRect/>
          </a:stretch>
        </p:blipFill>
        <p:spPr>
          <a:xfrm>
            <a:off x="6291072" y="3611879"/>
            <a:ext cx="155448" cy="155448"/>
          </a:xfrm>
          <a:prstGeom prst="rect">
            <a:avLst/>
          </a:prstGeom>
        </p:spPr>
      </p:pic>
      <p:sp>
        <p:nvSpPr>
          <p:cNvPr id="174" name="TextBox 173"/>
          <p:cNvSpPr txBox="1"/>
          <p:nvPr/>
        </p:nvSpPr>
        <p:spPr>
          <a:xfrm>
            <a:off x="6528816" y="3584448"/>
            <a:ext cx="2231136" cy="219456"/>
          </a:xfrm>
          <a:prstGeom prst="rect">
            <a:avLst/>
          </a:prstGeom>
          <a:noFill/>
        </p:spPr>
        <p:txBody>
          <a:bodyPr wrap="square" anchor="t" lIns="0" rIns="0" tIns="0" bIns="0">
            <a:spAutoFit/>
          </a:bodyPr>
          <a:lstStyle/>
          <a:p>
            <a:pPr algn="l"/>
            <a:r>
              <a:rPr sz="1040" b="1" i="0">
                <a:solidFill>
                  <a:srgbClr val="0F172A"/>
                </a:solidFill>
                <a:latin typeface="DM Sans"/>
              </a:rPr>
              <a:t>Dec 2026 · Integration</a:t>
            </a:r>
          </a:p>
        </p:txBody>
      </p:sp>
      <p:sp>
        <p:nvSpPr>
          <p:cNvPr id="175" name="TextBox 174"/>
          <p:cNvSpPr txBox="1"/>
          <p:nvPr/>
        </p:nvSpPr>
        <p:spPr>
          <a:xfrm>
            <a:off x="6291072" y="3913632"/>
            <a:ext cx="2432304" cy="1645920"/>
          </a:xfrm>
          <a:prstGeom prst="rect">
            <a:avLst/>
          </a:prstGeom>
          <a:noFill/>
        </p:spPr>
        <p:txBody>
          <a:bodyPr wrap="square" anchor="t" lIns="0" rIns="0" tIns="0" bIns="0">
            <a:spAutoFit/>
          </a:bodyPr>
          <a:lstStyle/>
          <a:p>
            <a:pPr marL="155448" indent="-155448">
              <a:spcAft>
                <a:spcPts val="700"/>
              </a:spcAft>
              <a:buClr>
                <a:srgbClr val="059669"/>
              </a:buClr>
              <a:buSzPct val="110000"/>
              <a:buFont typeface="Arial"/>
              <a:buChar char="▪"/>
            </a:pPr>
            <a:r>
              <a:rPr sz="1000" b="0" i="0">
                <a:solidFill>
                  <a:srgbClr val="334155"/>
                </a:solidFill>
                <a:latin typeface="DM Sans"/>
              </a:rPr>
              <a:t>Calibration routine, two-factor state machine</a:t>
            </a:r>
          </a:p>
          <a:p>
            <a:pPr marL="155448" indent="-155448">
              <a:spcAft>
                <a:spcPts val="700"/>
              </a:spcAft>
              <a:buClr>
                <a:srgbClr val="059669"/>
              </a:buClr>
              <a:buSzPct val="110000"/>
              <a:buFont typeface="Arial"/>
              <a:buChar char="▪"/>
            </a:pPr>
            <a:r>
              <a:rPr sz="1000" b="0" i="0">
                <a:solidFill>
                  <a:srgbClr val="334155"/>
                </a:solidFill>
                <a:latin typeface="DM Sans"/>
              </a:rPr>
              <a:t>ToF depth gating, IMU motion rejection</a:t>
            </a:r>
          </a:p>
          <a:p>
            <a:pPr marL="155448" indent="-155448">
              <a:spcAft>
                <a:spcPts val="700"/>
              </a:spcAft>
              <a:buClr>
                <a:srgbClr val="059669"/>
              </a:buClr>
              <a:buSzPct val="110000"/>
              <a:buFont typeface="Arial"/>
              <a:buChar char="▪"/>
            </a:pPr>
            <a:r>
              <a:rPr sz="1000" b="0" i="0">
                <a:solidFill>
                  <a:srgbClr val="334155"/>
                </a:solidFill>
                <a:latin typeface="DM Sans"/>
              </a:rPr>
              <a:t>DUALR3 fitted by electrician, integrated</a:t>
            </a:r>
          </a:p>
        </p:txBody>
      </p:sp>
      <p:sp>
        <p:nvSpPr>
          <p:cNvPr id="176" name="Rounded Rectangle 175"/>
          <p:cNvSpPr/>
          <p:nvPr/>
        </p:nvSpPr>
        <p:spPr>
          <a:xfrm>
            <a:off x="8979408" y="3493008"/>
            <a:ext cx="2679192" cy="2066543"/>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7" name="Picture 176" descr="image.png"/>
          <p:cNvPicPr>
            <a:picLocks noChangeAspect="1"/>
          </p:cNvPicPr>
          <p:nvPr/>
        </p:nvPicPr>
        <p:blipFill>
          <a:blip r:embed="rId12"/>
          <a:stretch>
            <a:fillRect/>
          </a:stretch>
        </p:blipFill>
        <p:spPr>
          <a:xfrm>
            <a:off x="9107424" y="3611879"/>
            <a:ext cx="155448" cy="155448"/>
          </a:xfrm>
          <a:prstGeom prst="rect">
            <a:avLst/>
          </a:prstGeom>
        </p:spPr>
      </p:pic>
      <p:sp>
        <p:nvSpPr>
          <p:cNvPr id="178" name="TextBox 177"/>
          <p:cNvSpPr txBox="1"/>
          <p:nvPr/>
        </p:nvSpPr>
        <p:spPr>
          <a:xfrm>
            <a:off x="9345168" y="3584448"/>
            <a:ext cx="2231136" cy="219456"/>
          </a:xfrm>
          <a:prstGeom prst="rect">
            <a:avLst/>
          </a:prstGeom>
          <a:noFill/>
        </p:spPr>
        <p:txBody>
          <a:bodyPr wrap="square" anchor="t" lIns="0" rIns="0" tIns="0" bIns="0">
            <a:spAutoFit/>
          </a:bodyPr>
          <a:lstStyle/>
          <a:p>
            <a:pPr algn="l"/>
            <a:r>
              <a:rPr sz="1040" b="1" i="0">
                <a:solidFill>
                  <a:srgbClr val="0F172A"/>
                </a:solidFill>
                <a:latin typeface="DM Sans"/>
              </a:rPr>
              <a:t>Jan 2027 · Field demo</a:t>
            </a:r>
          </a:p>
        </p:txBody>
      </p:sp>
      <p:sp>
        <p:nvSpPr>
          <p:cNvPr id="179" name="TextBox 178"/>
          <p:cNvSpPr txBox="1"/>
          <p:nvPr/>
        </p:nvSpPr>
        <p:spPr>
          <a:xfrm>
            <a:off x="9107424" y="3913632"/>
            <a:ext cx="2432304" cy="1645920"/>
          </a:xfrm>
          <a:prstGeom prst="rect">
            <a:avLst/>
          </a:prstGeom>
          <a:noFill/>
        </p:spPr>
        <p:txBody>
          <a:bodyPr wrap="square" anchor="t" lIns="0" rIns="0" tIns="0" bIns="0">
            <a:spAutoFit/>
          </a:bodyPr>
          <a:lstStyle/>
          <a:p>
            <a:pPr marL="155448" indent="-155448">
              <a:spcAft>
                <a:spcPts val="700"/>
              </a:spcAft>
              <a:buClr>
                <a:srgbClr val="059669"/>
              </a:buClr>
              <a:buSzPct val="110000"/>
              <a:buFont typeface="Arial"/>
              <a:buChar char="▪"/>
            </a:pPr>
            <a:r>
              <a:rPr sz="1000" b="0" i="0">
                <a:solidFill>
                  <a:srgbClr val="334155"/>
                </a:solidFill>
                <a:latin typeface="DM Sans"/>
              </a:rPr>
              <a:t>Timed trials: accuracy, false triggers, latency</a:t>
            </a:r>
          </a:p>
          <a:p>
            <a:pPr marL="155448" indent="-155448">
              <a:spcAft>
                <a:spcPts val="700"/>
              </a:spcAft>
              <a:buClr>
                <a:srgbClr val="059669"/>
              </a:buClr>
              <a:buSzPct val="110000"/>
              <a:buFont typeface="Arial"/>
              <a:buChar char="▪"/>
            </a:pPr>
            <a:r>
              <a:rPr sz="1000" b="0" i="0">
                <a:solidFill>
                  <a:srgbClr val="334155"/>
                </a:solidFill>
                <a:latin typeface="DM Sans"/>
              </a:rPr>
              <a:t>Stage 2 → 3 report with measured data</a:t>
            </a:r>
          </a:p>
          <a:p>
            <a:pPr marL="155448" indent="-155448">
              <a:spcAft>
                <a:spcPts val="700"/>
              </a:spcAft>
              <a:buClr>
                <a:srgbClr val="059669"/>
              </a:buClr>
              <a:buSzPct val="110000"/>
              <a:buFont typeface="Arial"/>
              <a:buChar char="▪"/>
            </a:pPr>
            <a:r>
              <a:rPr sz="1000" b="0" i="0">
                <a:solidFill>
                  <a:srgbClr val="334155"/>
                </a:solidFill>
                <a:latin typeface="DM Sans"/>
              </a:rPr>
              <a:t>Commitment: demo-ready prototype for Stage 3</a:t>
            </a:r>
          </a:p>
        </p:txBody>
      </p:sp>
      <p:sp>
        <p:nvSpPr>
          <p:cNvPr id="180" name="Rounded Rectangle 179"/>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Box 180"/>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Standards considered (no certification claimed): </a:t>
            </a:r>
            <a:r>
              <a:rPr sz="936" b="0" i="0">
                <a:solidFill>
                  <a:srgbClr val="475569"/>
                </a:solidFill>
                <a:latin typeface="DM Sans"/>
              </a:rPr>
              <a:t>ISO 14971 risk management; IEC 60601-1 leakage-current principles for body-worn electrodes; IEC 60825-1 Class 1 laser (VL53L5CX, per ST); ethics approval before volunteer testing.</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Technical Challenges &amp; Risk Mitigation</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3611880" cy="3310128"/>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1" name="Picture 160" descr="image.png"/>
          <p:cNvPicPr>
            <a:picLocks noChangeAspect="1"/>
          </p:cNvPicPr>
          <p:nvPr/>
        </p:nvPicPr>
        <p:blipFill>
          <a:blip r:embed="rId12"/>
          <a:stretch>
            <a:fillRect/>
          </a:stretch>
        </p:blipFill>
        <p:spPr>
          <a:xfrm>
            <a:off x="685800" y="1069848"/>
            <a:ext cx="155448" cy="155448"/>
          </a:xfrm>
          <a:prstGeom prst="rect">
            <a:avLst/>
          </a:prstGeom>
        </p:spPr>
      </p:pic>
      <p:sp>
        <p:nvSpPr>
          <p:cNvPr id="162" name="TextBox 161"/>
          <p:cNvSpPr txBox="1"/>
          <p:nvPr/>
        </p:nvSpPr>
        <p:spPr>
          <a:xfrm>
            <a:off x="923544" y="1042415"/>
            <a:ext cx="3099815" cy="219456"/>
          </a:xfrm>
          <a:prstGeom prst="rect">
            <a:avLst/>
          </a:prstGeom>
          <a:noFill/>
        </p:spPr>
        <p:txBody>
          <a:bodyPr wrap="square" anchor="t" lIns="0" rIns="0" tIns="0" bIns="0">
            <a:spAutoFit/>
          </a:bodyPr>
          <a:lstStyle/>
          <a:p>
            <a:pPr algn="l"/>
            <a:r>
              <a:rPr sz="1060" b="1" i="0">
                <a:solidFill>
                  <a:srgbClr val="0F172A"/>
                </a:solidFill>
                <a:latin typeface="DM Sans"/>
              </a:rPr>
              <a:t>Bottleneck: EOG drift vs vergence</a:t>
            </a:r>
          </a:p>
        </p:txBody>
      </p:sp>
      <p:sp>
        <p:nvSpPr>
          <p:cNvPr id="163" name="TextBox 162"/>
          <p:cNvSpPr txBox="1"/>
          <p:nvPr/>
        </p:nvSpPr>
        <p:spPr>
          <a:xfrm>
            <a:off x="685800" y="1389888"/>
            <a:ext cx="3310128" cy="2788920"/>
          </a:xfrm>
          <a:prstGeom prst="rect">
            <a:avLst/>
          </a:prstGeom>
          <a:noFill/>
        </p:spPr>
        <p:txBody>
          <a:bodyPr wrap="square" anchor="t" lIns="0" rIns="0" tIns="0" bIns="0">
            <a:spAutoFit/>
          </a:bodyPr>
          <a:lstStyle/>
          <a:p>
            <a:pPr marL="155448" indent="-155448">
              <a:spcAft>
                <a:spcPts val="900"/>
              </a:spcAft>
              <a:buClr>
                <a:srgbClr val="059669"/>
              </a:buClr>
              <a:buSzPct val="110000"/>
              <a:buFont typeface="Arial"/>
              <a:buChar char="▪"/>
            </a:pPr>
            <a:r>
              <a:rPr sz="1040" b="1" i="0">
                <a:solidFill>
                  <a:srgbClr val="334155"/>
                </a:solidFill>
                <a:latin typeface="DM Sans"/>
              </a:rPr>
              <a:t>Risk: </a:t>
            </a:r>
            <a:r>
              <a:rPr sz="1040" b="0" i="0">
                <a:solidFill>
                  <a:srgbClr val="334155"/>
                </a:solidFill>
                <a:latin typeface="DM Sans"/>
              </a:rPr>
              <a:t>the near/far vergence change is small next to slow electrode drift; an aggressive high-pass filter would erase it along with the drift.</a:t>
            </a:r>
          </a:p>
          <a:p>
            <a:pPr marL="155448" indent="-155448">
              <a:spcAft>
                <a:spcPts val="900"/>
              </a:spcAft>
              <a:buClr>
                <a:srgbClr val="059669"/>
              </a:buClr>
              <a:buSzPct val="110000"/>
              <a:buFont typeface="Arial"/>
              <a:buChar char="▪"/>
            </a:pPr>
            <a:r>
              <a:rPr sz="1040" b="1" i="0">
                <a:solidFill>
                  <a:srgbClr val="334155"/>
                </a:solidFill>
                <a:latin typeface="DM Sans"/>
              </a:rPr>
              <a:t>Mitigation: </a:t>
            </a:r>
            <a:r>
              <a:rPr sz="1040" b="0" i="0">
                <a:solidFill>
                  <a:srgbClr val="334155"/>
                </a:solidFill>
                <a:latin typeface="DM Sans"/>
              </a:rPr>
              <a:t>keep the low-frequency path, remove drift in software with a per-trial baseline, use discrete near/far targets (as VergeIO did) and require ToF depth as second evidence.</a:t>
            </a:r>
          </a:p>
          <a:p>
            <a:pPr marL="155448" indent="-155448">
              <a:spcAft>
                <a:spcPts val="900"/>
              </a:spcAft>
              <a:buClr>
                <a:srgbClr val="059669"/>
              </a:buClr>
              <a:buSzPct val="110000"/>
              <a:buFont typeface="Arial"/>
              <a:buChar char="▪"/>
            </a:pPr>
            <a:r>
              <a:rPr sz="1040" b="1" i="0">
                <a:solidFill>
                  <a:srgbClr val="334155"/>
                </a:solidFill>
                <a:latin typeface="DM Sans"/>
              </a:rPr>
              <a:t>Bench test: </a:t>
            </a:r>
            <a:r>
              <a:rPr sz="1040" b="0" i="0">
                <a:solidFill>
                  <a:srgbClr val="334155"/>
                </a:solidFill>
                <a:latin typeface="DM Sans"/>
              </a:rPr>
              <a:t>10-minute fixed-gaze recordings at both depths.</a:t>
            </a:r>
          </a:p>
        </p:txBody>
      </p:sp>
      <p:sp>
        <p:nvSpPr>
          <p:cNvPr id="164" name="Rounded Rectangle 163"/>
          <p:cNvSpPr/>
          <p:nvPr/>
        </p:nvSpPr>
        <p:spPr>
          <a:xfrm>
            <a:off x="4288536" y="932688"/>
            <a:ext cx="3611880" cy="3310128"/>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image.png"/>
          <p:cNvPicPr>
            <a:picLocks noChangeAspect="1"/>
          </p:cNvPicPr>
          <p:nvPr/>
        </p:nvPicPr>
        <p:blipFill>
          <a:blip r:embed="rId12"/>
          <a:stretch>
            <a:fillRect/>
          </a:stretch>
        </p:blipFill>
        <p:spPr>
          <a:xfrm>
            <a:off x="4443984" y="1069848"/>
            <a:ext cx="155448" cy="155448"/>
          </a:xfrm>
          <a:prstGeom prst="rect">
            <a:avLst/>
          </a:prstGeom>
        </p:spPr>
      </p:pic>
      <p:sp>
        <p:nvSpPr>
          <p:cNvPr id="166" name="TextBox 165"/>
          <p:cNvSpPr txBox="1"/>
          <p:nvPr/>
        </p:nvSpPr>
        <p:spPr>
          <a:xfrm>
            <a:off x="4681728" y="1042415"/>
            <a:ext cx="3099815" cy="219456"/>
          </a:xfrm>
          <a:prstGeom prst="rect">
            <a:avLst/>
          </a:prstGeom>
          <a:noFill/>
        </p:spPr>
        <p:txBody>
          <a:bodyPr wrap="square" anchor="t" lIns="0" rIns="0" tIns="0" bIns="0">
            <a:spAutoFit/>
          </a:bodyPr>
          <a:lstStyle/>
          <a:p>
            <a:pPr algn="l"/>
            <a:r>
              <a:rPr sz="1060" b="1" i="0">
                <a:solidFill>
                  <a:srgbClr val="0F172A"/>
                </a:solidFill>
                <a:latin typeface="DM Sans"/>
              </a:rPr>
              <a:t>Bottleneck: ESP32 ADC quality</a:t>
            </a:r>
          </a:p>
        </p:txBody>
      </p:sp>
      <p:sp>
        <p:nvSpPr>
          <p:cNvPr id="167" name="TextBox 166"/>
          <p:cNvSpPr txBox="1"/>
          <p:nvPr/>
        </p:nvSpPr>
        <p:spPr>
          <a:xfrm>
            <a:off x="4443984" y="1389888"/>
            <a:ext cx="3310128" cy="2788920"/>
          </a:xfrm>
          <a:prstGeom prst="rect">
            <a:avLst/>
          </a:prstGeom>
          <a:noFill/>
        </p:spPr>
        <p:txBody>
          <a:bodyPr wrap="square" anchor="t" lIns="0" rIns="0" tIns="0" bIns="0">
            <a:spAutoFit/>
          </a:bodyPr>
          <a:lstStyle/>
          <a:p>
            <a:pPr marL="155448" indent="-155448">
              <a:spcAft>
                <a:spcPts val="900"/>
              </a:spcAft>
              <a:buClr>
                <a:srgbClr val="059669"/>
              </a:buClr>
              <a:buSzPct val="110000"/>
              <a:buFont typeface="Arial"/>
              <a:buChar char="▪"/>
            </a:pPr>
            <a:r>
              <a:rPr sz="1040" b="1" i="0">
                <a:solidFill>
                  <a:srgbClr val="334155"/>
                </a:solidFill>
                <a:latin typeface="DM Sans"/>
              </a:rPr>
              <a:t>Risk: </a:t>
            </a:r>
            <a:r>
              <a:rPr sz="1040" b="0" i="0">
                <a:solidFill>
                  <a:srgbClr val="334155"/>
                </a:solidFill>
                <a:latin typeface="DM Sans"/>
              </a:rPr>
              <a:t>the ESP32 ADC is non-linear near its range limits and noisy; ADC2 is unavailable while Wi-Fi/Bluetooth run.</a:t>
            </a:r>
          </a:p>
          <a:p>
            <a:pPr marL="155448" indent="-155448">
              <a:spcAft>
                <a:spcPts val="900"/>
              </a:spcAft>
              <a:buClr>
                <a:srgbClr val="059669"/>
              </a:buClr>
              <a:buSzPct val="110000"/>
              <a:buFont typeface="Arial"/>
              <a:buChar char="▪"/>
            </a:pPr>
            <a:r>
              <a:rPr sz="1040" b="1" i="0">
                <a:solidFill>
                  <a:srgbClr val="334155"/>
                </a:solidFill>
                <a:latin typeface="DM Sans"/>
              </a:rPr>
              <a:t>Mitigation: </a:t>
            </a:r>
            <a:r>
              <a:rPr sz="1040" b="0" i="0">
                <a:solidFill>
                  <a:srgbClr val="334155"/>
                </a:solidFill>
                <a:latin typeface="DM Sans"/>
              </a:rPr>
              <a:t>ADC1 only, linear band, RC anti-alias, oversampling, Espressif calibration API.</a:t>
            </a:r>
          </a:p>
          <a:p>
            <a:pPr marL="155448" indent="-155448">
              <a:spcAft>
                <a:spcPts val="900"/>
              </a:spcAft>
              <a:buClr>
                <a:srgbClr val="059669"/>
              </a:buClr>
              <a:buSzPct val="110000"/>
              <a:buFont typeface="Arial"/>
              <a:buChar char="▪"/>
            </a:pPr>
            <a:r>
              <a:rPr sz="1040" b="1" i="0">
                <a:solidFill>
                  <a:srgbClr val="334155"/>
                </a:solidFill>
                <a:latin typeface="DM Sans"/>
              </a:rPr>
              <a:t>Fallback: </a:t>
            </a:r>
            <a:r>
              <a:rPr sz="1040" b="0" i="0">
                <a:solidFill>
                  <a:srgbClr val="334155"/>
                </a:solidFill>
                <a:latin typeface="DM Sans"/>
              </a:rPr>
              <a:t>an external I2C ADC funded from the ₹2.9k headroom, only if the sweep test fails.</a:t>
            </a:r>
          </a:p>
        </p:txBody>
      </p:sp>
      <p:sp>
        <p:nvSpPr>
          <p:cNvPr id="168" name="Rounded Rectangle 167"/>
          <p:cNvSpPr/>
          <p:nvPr/>
        </p:nvSpPr>
        <p:spPr>
          <a:xfrm>
            <a:off x="8046720" y="932688"/>
            <a:ext cx="3611880" cy="3310128"/>
          </a:xfrm>
          <a:prstGeom prst="roundRect">
            <a:avLst>
              <a:gd name="adj" fmla="val 6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image.png"/>
          <p:cNvPicPr>
            <a:picLocks noChangeAspect="1"/>
          </p:cNvPicPr>
          <p:nvPr/>
        </p:nvPicPr>
        <p:blipFill>
          <a:blip r:embed="rId12"/>
          <a:stretch>
            <a:fillRect/>
          </a:stretch>
        </p:blipFill>
        <p:spPr>
          <a:xfrm>
            <a:off x="8202168" y="1069848"/>
            <a:ext cx="155448" cy="155448"/>
          </a:xfrm>
          <a:prstGeom prst="rect">
            <a:avLst/>
          </a:prstGeom>
        </p:spPr>
      </p:pic>
      <p:sp>
        <p:nvSpPr>
          <p:cNvPr id="170" name="TextBox 169"/>
          <p:cNvSpPr txBox="1"/>
          <p:nvPr/>
        </p:nvSpPr>
        <p:spPr>
          <a:xfrm>
            <a:off x="8439912" y="1042415"/>
            <a:ext cx="3099815" cy="219456"/>
          </a:xfrm>
          <a:prstGeom prst="rect">
            <a:avLst/>
          </a:prstGeom>
          <a:noFill/>
        </p:spPr>
        <p:txBody>
          <a:bodyPr wrap="square" anchor="t" lIns="0" rIns="0" tIns="0" bIns="0">
            <a:spAutoFit/>
          </a:bodyPr>
          <a:lstStyle/>
          <a:p>
            <a:pPr algn="l"/>
            <a:r>
              <a:rPr sz="1060" b="1" i="0">
                <a:solidFill>
                  <a:srgbClr val="0F172A"/>
                </a:solidFill>
                <a:latin typeface="DM Sans"/>
              </a:rPr>
              <a:t>Bottleneck: false jaw-clench triggers</a:t>
            </a:r>
          </a:p>
        </p:txBody>
      </p:sp>
      <p:sp>
        <p:nvSpPr>
          <p:cNvPr id="171" name="TextBox 170"/>
          <p:cNvSpPr txBox="1"/>
          <p:nvPr/>
        </p:nvSpPr>
        <p:spPr>
          <a:xfrm>
            <a:off x="8202168" y="1389888"/>
            <a:ext cx="3310128" cy="2788920"/>
          </a:xfrm>
          <a:prstGeom prst="rect">
            <a:avLst/>
          </a:prstGeom>
          <a:noFill/>
        </p:spPr>
        <p:txBody>
          <a:bodyPr wrap="square" anchor="t" lIns="0" rIns="0" tIns="0" bIns="0">
            <a:spAutoFit/>
          </a:bodyPr>
          <a:lstStyle/>
          <a:p>
            <a:pPr marL="155448" indent="-155448">
              <a:spcAft>
                <a:spcPts val="900"/>
              </a:spcAft>
              <a:buClr>
                <a:srgbClr val="059669"/>
              </a:buClr>
              <a:buSzPct val="110000"/>
              <a:buFont typeface="Arial"/>
              <a:buChar char="▪"/>
            </a:pPr>
            <a:r>
              <a:rPr sz="1040" b="1" i="0">
                <a:solidFill>
                  <a:srgbClr val="334155"/>
                </a:solidFill>
                <a:latin typeface="DM Sans"/>
              </a:rPr>
              <a:t>Risk: </a:t>
            </a:r>
            <a:r>
              <a:rPr sz="1040" b="0" i="0">
                <a:solidFill>
                  <a:srgbClr val="334155"/>
                </a:solidFill>
                <a:latin typeface="DM Sans"/>
              </a:rPr>
              <a:t>chewing, talking and swallowing all produce masseter EMG and could look like a confirmation.</a:t>
            </a:r>
          </a:p>
          <a:p>
            <a:pPr marL="155448" indent="-155448">
              <a:spcAft>
                <a:spcPts val="900"/>
              </a:spcAft>
              <a:buClr>
                <a:srgbClr val="059669"/>
              </a:buClr>
              <a:buSzPct val="110000"/>
              <a:buFont typeface="Arial"/>
              <a:buChar char="▪"/>
            </a:pPr>
            <a:r>
              <a:rPr sz="1040" b="1" i="0">
                <a:solidFill>
                  <a:srgbClr val="334155"/>
                </a:solidFill>
                <a:latin typeface="DM Sans"/>
              </a:rPr>
              <a:t>Mitigation: </a:t>
            </a:r>
            <a:r>
              <a:rPr sz="1040" b="0" i="0">
                <a:solidFill>
                  <a:srgbClr val="334155"/>
                </a:solidFill>
                <a:latin typeface="DM Sans"/>
              </a:rPr>
              <a:t>clench must be held for a set time inside a candidate window; per-user threshold; refractory period.</a:t>
            </a:r>
          </a:p>
          <a:p>
            <a:pPr marL="155448" indent="-155448">
              <a:spcAft>
                <a:spcPts val="900"/>
              </a:spcAft>
              <a:buClr>
                <a:srgbClr val="059669"/>
              </a:buClr>
              <a:buSzPct val="110000"/>
              <a:buFont typeface="Arial"/>
              <a:buChar char="▪"/>
            </a:pPr>
            <a:r>
              <a:rPr sz="1040" b="1" i="0">
                <a:solidFill>
                  <a:srgbClr val="334155"/>
                </a:solidFill>
                <a:latin typeface="DM Sans"/>
              </a:rPr>
              <a:t>Bench test: </a:t>
            </a:r>
            <a:r>
              <a:rPr sz="1040" b="0" i="0">
                <a:solidFill>
                  <a:srgbClr val="334155"/>
                </a:solidFill>
                <a:latin typeface="DM Sans"/>
              </a:rPr>
              <a:t>scripted chew / talk / rest sessions to count false triggers.</a:t>
            </a:r>
          </a:p>
        </p:txBody>
      </p:sp>
      <p:sp>
        <p:nvSpPr>
          <p:cNvPr id="172" name="Rounded Rectangle 171"/>
          <p:cNvSpPr/>
          <p:nvPr/>
        </p:nvSpPr>
        <p:spPr>
          <a:xfrm>
            <a:off x="530352" y="4389120"/>
            <a:ext cx="11128248" cy="1170432"/>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3" name="Picture 172" descr="image.png"/>
          <p:cNvPicPr>
            <a:picLocks noChangeAspect="1"/>
          </p:cNvPicPr>
          <p:nvPr/>
        </p:nvPicPr>
        <p:blipFill>
          <a:blip r:embed="rId12"/>
          <a:stretch>
            <a:fillRect/>
          </a:stretch>
        </p:blipFill>
        <p:spPr>
          <a:xfrm>
            <a:off x="694944" y="4507992"/>
            <a:ext cx="155448" cy="155448"/>
          </a:xfrm>
          <a:prstGeom prst="rect">
            <a:avLst/>
          </a:prstGeom>
        </p:spPr>
      </p:pic>
      <p:sp>
        <p:nvSpPr>
          <p:cNvPr id="174" name="TextBox 173"/>
          <p:cNvSpPr txBox="1"/>
          <p:nvPr/>
        </p:nvSpPr>
        <p:spPr>
          <a:xfrm>
            <a:off x="932688" y="4480560"/>
            <a:ext cx="10552176" cy="219456"/>
          </a:xfrm>
          <a:prstGeom prst="rect">
            <a:avLst/>
          </a:prstGeom>
          <a:noFill/>
        </p:spPr>
        <p:txBody>
          <a:bodyPr wrap="square" anchor="t" lIns="0" rIns="0" tIns="0" bIns="0">
            <a:spAutoFit/>
          </a:bodyPr>
          <a:lstStyle/>
          <a:p>
            <a:pPr algn="l"/>
            <a:r>
              <a:rPr sz="1125" b="1" i="0">
                <a:solidFill>
                  <a:srgbClr val="0F172A"/>
                </a:solidFill>
                <a:latin typeface="DM Sans"/>
              </a:rPr>
              <a:t>Other risks tracked</a:t>
            </a:r>
          </a:p>
        </p:txBody>
      </p:sp>
      <p:sp>
        <p:nvSpPr>
          <p:cNvPr id="175" name="TextBox 174"/>
          <p:cNvSpPr txBox="1"/>
          <p:nvPr/>
        </p:nvSpPr>
        <p:spPr>
          <a:xfrm>
            <a:off x="694944" y="4773168"/>
            <a:ext cx="10789920" cy="777240"/>
          </a:xfrm>
          <a:prstGeom prst="rect">
            <a:avLst/>
          </a:prstGeom>
          <a:noFill/>
        </p:spPr>
        <p:txBody>
          <a:bodyPr wrap="square" anchor="t" lIns="0" rIns="0" tIns="0" bIns="0">
            <a:spAutoFit/>
          </a:bodyPr>
          <a:lstStyle/>
          <a:p>
            <a:pPr marL="155448" indent="-155448">
              <a:spcAft>
                <a:spcPts val="400"/>
              </a:spcAft>
              <a:buClr>
                <a:srgbClr val="059669"/>
              </a:buClr>
              <a:buSzPct val="110000"/>
              <a:buFont typeface="Arial"/>
              <a:buChar char="▪"/>
            </a:pPr>
            <a:r>
              <a:rPr sz="960" b="1" i="0">
                <a:solidFill>
                  <a:srgbClr val="334155"/>
                </a:solidFill>
                <a:latin typeface="DM Sans"/>
              </a:rPr>
              <a:t>ToF on dark / glossy targets: </a:t>
            </a:r>
            <a:r>
              <a:rPr sz="960" b="0" i="0">
                <a:solidFill>
                  <a:srgbClr val="334155"/>
                </a:solidFill>
                <a:latin typeface="DM Sans"/>
              </a:rPr>
              <a:t>test matte, dark and specular cards at set distances; report surface distance separately from inferred gaze depth.</a:t>
            </a:r>
          </a:p>
          <a:p>
            <a:pPr marL="155448" indent="-155448">
              <a:spcAft>
                <a:spcPts val="400"/>
              </a:spcAft>
              <a:buClr>
                <a:srgbClr val="059669"/>
              </a:buClr>
              <a:buSzPct val="110000"/>
              <a:buFont typeface="Arial"/>
              <a:buChar char="▪"/>
            </a:pPr>
            <a:r>
              <a:rPr sz="960" b="1" i="0">
                <a:solidFill>
                  <a:srgbClr val="334155"/>
                </a:solidFill>
                <a:latin typeface="DM Sans"/>
              </a:rPr>
              <a:t>No magnetometer: </a:t>
            </a:r>
            <a:r>
              <a:rPr sz="960" b="0" i="0">
                <a:solidFill>
                  <a:srgbClr val="334155"/>
                </a:solidFill>
                <a:latin typeface="DM Sans"/>
              </a:rPr>
              <a:t>MPU6500 yaw drifts, so it is used only to reject head motion, never for room heading. DUALR3 control path (eWeLink LAN vs cloud) confirmed before coding.</a:t>
            </a:r>
          </a:p>
        </p:txBody>
      </p:sp>
      <p:sp>
        <p:nvSpPr>
          <p:cNvPr id="176" name="Rounded Rectangle 175"/>
          <p:cNvSpPr/>
          <p:nvPr/>
        </p:nvSpPr>
        <p:spPr>
          <a:xfrm>
            <a:off x="530352" y="5687568"/>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Box 176"/>
          <p:cNvSpPr txBox="1"/>
          <p:nvPr/>
        </p:nvSpPr>
        <p:spPr>
          <a:xfrm>
            <a:off x="694944" y="5687568"/>
            <a:ext cx="10835640" cy="402336"/>
          </a:xfrm>
          <a:prstGeom prst="rect">
            <a:avLst/>
          </a:prstGeom>
          <a:noFill/>
        </p:spPr>
        <p:txBody>
          <a:bodyPr wrap="square" anchor="ctr" lIns="0" rIns="0" tIns="0" bIns="0">
            <a:spAutoFit/>
          </a:bodyPr>
          <a:lstStyle/>
          <a:p>
            <a:pPr algn="l"/>
            <a:r>
              <a:rPr sz="936" b="1" i="0">
                <a:solidFill>
                  <a:srgbClr val="0F172A"/>
                </a:solidFill>
                <a:latin typeface="DM Sans"/>
              </a:rPr>
              <a:t>Verification plan: </a:t>
            </a:r>
            <a:r>
              <a:rPr sz="936" b="0" i="0">
                <a:solidFill>
                  <a:srgbClr val="475569"/>
                </a:solidFill>
                <a:latin typeface="DM Sans"/>
              </a:rPr>
              <a:t>every risk has a bench test — 10-minute fixed-gaze drift recordings, a signal-generator ADC sweep, scripted chew / talk / clench sessions — with results reported at Stage 3.</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pic>
        <p:nvPicPr>
          <p:cNvPr descr="image.png" id="125" name="Google Shape;125;p16"/>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id="156" name="Google Shape;156;p16" title="MBF_Logo_2020.png"/>
          <p:cNvPicPr preferRelativeResize="0"/>
          <p:nvPr/>
        </p:nvPicPr>
        <p:blipFill>
          <a:blip r:embed="rId13">
            <a:alphaModFix/>
          </a:blip>
          <a:stretch>
            <a:fillRect/>
          </a:stretch>
        </p:blipFill>
        <p:spPr>
          <a:xfrm>
            <a:off x="11095194" y="6280800"/>
            <a:ext cx="1096806" cy="577200"/>
          </a:xfrm>
          <a:prstGeom prst="rect">
            <a:avLst/>
          </a:prstGeom>
          <a:noFill/>
          <a:ln>
            <a:noFill/>
          </a:ln>
        </p:spPr>
      </p:pic>
      <p:pic>
        <p:nvPicPr>
          <p:cNvPr id="157" name="Google Shape;157;p16" title="VK colored transparent logo.png"/>
          <p:cNvPicPr preferRelativeResize="0"/>
          <p:nvPr/>
        </p:nvPicPr>
        <p:blipFill rotWithShape="1">
          <a:blip r:embed="rId14">
            <a:alphaModFix/>
          </a:blip>
          <a:srcRect b="44466" l="14673" r="15820" t="33074"/>
          <a:stretch/>
        </p:blipFill>
        <p:spPr>
          <a:xfrm>
            <a:off x="0" y="6280800"/>
            <a:ext cx="1786280" cy="577200"/>
          </a:xfrm>
          <a:prstGeom prst="rect">
            <a:avLst/>
          </a:prstGeom>
          <a:noFill/>
          <a:ln>
            <a:noFill/>
          </a:ln>
        </p:spPr>
      </p:pic>
      <p:sp>
        <p:nvSpPr>
          <p:cNvPr id="158" name="TextBox 157"/>
          <p:cNvSpPr txBox="1"/>
          <p:nvPr/>
        </p:nvSpPr>
        <p:spPr>
          <a:xfrm>
            <a:off x="530352" y="365760"/>
            <a:ext cx="8778240" cy="420624"/>
          </a:xfrm>
          <a:prstGeom prst="rect">
            <a:avLst/>
          </a:prstGeom>
          <a:noFill/>
        </p:spPr>
        <p:txBody>
          <a:bodyPr wrap="square" anchor="ctr" lIns="0" rIns="0" tIns="0" bIns="0">
            <a:spAutoFit/>
          </a:bodyPr>
          <a:lstStyle/>
          <a:p>
            <a:pPr algn="l"/>
            <a:r>
              <a:rPr sz="2025" b="1" i="0">
                <a:solidFill>
                  <a:srgbClr val="0F172A"/>
                </a:solidFill>
                <a:latin typeface="Poppins SemiBold"/>
              </a:rPr>
              <a:t>References &amp; Sources</a:t>
            </a:r>
          </a:p>
        </p:txBody>
      </p:sp>
      <p:sp>
        <p:nvSpPr>
          <p:cNvPr id="159" name="Rounded Rectangle 158"/>
          <p:cNvSpPr/>
          <p:nvPr/>
        </p:nvSpPr>
        <p:spPr>
          <a:xfrm>
            <a:off x="9454896" y="457200"/>
            <a:ext cx="2203704" cy="246888"/>
          </a:xfrm>
          <a:prstGeom prst="roundRect">
            <a:avLst>
              <a:gd name="adj" fmla="val 50000"/>
            </a:avLst>
          </a:prstGeom>
          <a:solidFill>
            <a:srgbClr val="D1FAE5"/>
          </a:solidFill>
          <a:ln w="9525">
            <a:solidFill>
              <a:srgbClr val="D1FAE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i="0" spc="60">
                <a:solidFill>
                  <a:srgbClr val="059669"/>
                </a:solidFill>
                <a:latin typeface="Poppins SemiBold"/>
              </a:rPr>
              <a:t>VERGELINK  ·  STAGE 2</a:t>
            </a:r>
          </a:p>
        </p:txBody>
      </p:sp>
      <p:sp>
        <p:nvSpPr>
          <p:cNvPr id="160" name="Rounded Rectangle 159"/>
          <p:cNvSpPr/>
          <p:nvPr/>
        </p:nvSpPr>
        <p:spPr>
          <a:xfrm>
            <a:off x="530352" y="932688"/>
            <a:ext cx="11128248" cy="4224528"/>
          </a:xfrm>
          <a:prstGeom prst="roundRect">
            <a:avLst>
              <a:gd name="adj" fmla="val 6000"/>
            </a:avLst>
          </a:prstGeom>
          <a:solidFill>
            <a:srgbClr val="F8FA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731520" y="1060704"/>
            <a:ext cx="10698480" cy="4023360"/>
          </a:xfrm>
          <a:prstGeom prst="rect">
            <a:avLst/>
          </a:prstGeom>
          <a:noFill/>
        </p:spPr>
        <p:txBody>
          <a:bodyPr wrap="square" anchor="t" lIns="0" rIns="0" tIns="0" bIns="0">
            <a:spAutoFit/>
          </a:bodyPr>
          <a:lstStyle/>
          <a:p>
            <a:pPr>
              <a:spcAft>
                <a:spcPts val="800"/>
              </a:spcAft>
            </a:pPr>
            <a:r>
              <a:rPr sz="1050" b="1" i="0">
                <a:solidFill>
                  <a:srgbClr val="059669"/>
                </a:solidFill>
                <a:latin typeface="DM Sans"/>
              </a:rPr>
              <a:t>[1]  </a:t>
            </a:r>
            <a:r>
              <a:rPr sz="1050" b="0" i="0">
                <a:solidFill>
                  <a:srgbClr val="334155"/>
                </a:solidFill>
                <a:latin typeface="DM Sans"/>
              </a:rPr>
              <a:t>Zhang X. et al., “VergeIO: Depth-Aware Eye Interaction on Glasses,” arXiv:2507.02187 (2025) — arxiv.org/abs/2507.02187</a:t>
            </a:r>
          </a:p>
          <a:p>
            <a:pPr>
              <a:spcAft>
                <a:spcPts val="800"/>
              </a:spcAft>
            </a:pPr>
            <a:r>
              <a:rPr sz="1050" b="1" i="0">
                <a:solidFill>
                  <a:srgbClr val="059669"/>
                </a:solidFill>
                <a:latin typeface="DM Sans"/>
              </a:rPr>
              <a:t>[2]  </a:t>
            </a:r>
            <a:r>
              <a:rPr sz="1050" b="0" i="0">
                <a:solidFill>
                  <a:srgbClr val="334155"/>
                </a:solidFill>
                <a:latin typeface="DM Sans"/>
              </a:rPr>
              <a:t>Upside Down Labs, BioAmp EXG Pill documentation — docs.upsidedownlabs.tech/hardware/bioamp/bioamp-exg-pill</a:t>
            </a:r>
          </a:p>
          <a:p>
            <a:pPr>
              <a:spcAft>
                <a:spcPts val="800"/>
              </a:spcAft>
            </a:pPr>
            <a:r>
              <a:rPr sz="1050" b="1" i="0">
                <a:solidFill>
                  <a:srgbClr val="059669"/>
                </a:solidFill>
                <a:latin typeface="DM Sans"/>
              </a:rPr>
              <a:t>[3]  </a:t>
            </a:r>
            <a:r>
              <a:rPr sz="1050" b="0" i="0">
                <a:solidFill>
                  <a:srgbClr val="334155"/>
                </a:solidFill>
                <a:latin typeface="DM Sans"/>
              </a:rPr>
              <a:t>Upside Down Labs, Muscle BioAmp BisCute documentation — docs.upsidedownlabs.tech/hardware/bioamp/muscle-bioamp-biscute</a:t>
            </a:r>
          </a:p>
          <a:p>
            <a:pPr>
              <a:spcAft>
                <a:spcPts val="800"/>
              </a:spcAft>
            </a:pPr>
            <a:r>
              <a:rPr sz="1050" b="1" i="0">
                <a:solidFill>
                  <a:srgbClr val="059669"/>
                </a:solidFill>
                <a:latin typeface="DM Sans"/>
              </a:rPr>
              <a:t>[4]  </a:t>
            </a:r>
            <a:r>
              <a:rPr sz="1050" b="0" i="0">
                <a:solidFill>
                  <a:srgbClr val="334155"/>
                </a:solidFill>
                <a:latin typeface="DM Sans"/>
              </a:rPr>
              <a:t>STMicroelectronics, VL53L5CX Time-of-Flight 8×8 multizone sensor — st.com/en/imaging-and-photonics-solutions/vl53l5cx.html</a:t>
            </a:r>
          </a:p>
          <a:p>
            <a:pPr>
              <a:spcAft>
                <a:spcPts val="800"/>
              </a:spcAft>
            </a:pPr>
            <a:r>
              <a:rPr sz="1050" b="1" i="0">
                <a:solidFill>
                  <a:srgbClr val="059669"/>
                </a:solidFill>
                <a:latin typeface="DM Sans"/>
              </a:rPr>
              <a:t>[5]  </a:t>
            </a:r>
            <a:r>
              <a:rPr sz="1050" b="0" i="0">
                <a:solidFill>
                  <a:srgbClr val="334155"/>
                </a:solidFill>
                <a:latin typeface="DM Sans"/>
              </a:rPr>
              <a:t>Espressif, ESP-IDF ADC (oneshot) driver and calibration documentation, ESP32 — docs.espressif.com</a:t>
            </a:r>
          </a:p>
          <a:p>
            <a:pPr>
              <a:spcAft>
                <a:spcPts val="800"/>
              </a:spcAft>
            </a:pPr>
            <a:r>
              <a:rPr sz="1050" b="1" i="0">
                <a:solidFill>
                  <a:srgbClr val="059669"/>
                </a:solidFill>
                <a:latin typeface="DM Sans"/>
              </a:rPr>
              <a:t>[6]  </a:t>
            </a:r>
            <a:r>
              <a:rPr sz="1050" b="0" i="0">
                <a:solidFill>
                  <a:srgbClr val="334155"/>
                </a:solidFill>
                <a:latin typeface="DM Sans"/>
              </a:rPr>
              <a:t>Microchip, MCP1700 low-quiescent-current LDO datasheet (DS20001826)</a:t>
            </a:r>
          </a:p>
          <a:p>
            <a:pPr>
              <a:spcAft>
                <a:spcPts val="800"/>
              </a:spcAft>
            </a:pPr>
            <a:r>
              <a:rPr sz="1050" b="1" i="0">
                <a:solidFill>
                  <a:srgbClr val="059669"/>
                </a:solidFill>
                <a:latin typeface="DM Sans"/>
              </a:rPr>
              <a:t>[7]  </a:t>
            </a:r>
            <a:r>
              <a:rPr sz="1050" b="0" i="0">
                <a:solidFill>
                  <a:srgbClr val="334155"/>
                </a:solidFill>
                <a:latin typeface="DM Sans"/>
              </a:rPr>
              <a:t>SONOFF DUALR3 two-gang smart switch — sonoff.in</a:t>
            </a:r>
          </a:p>
          <a:p>
            <a:pPr>
              <a:spcAft>
                <a:spcPts val="800"/>
              </a:spcAft>
            </a:pPr>
            <a:r>
              <a:rPr sz="1050" b="1" i="0">
                <a:solidFill>
                  <a:srgbClr val="059669"/>
                </a:solidFill>
                <a:latin typeface="DM Sans"/>
              </a:rPr>
              <a:t>[8]  </a:t>
            </a:r>
            <a:r>
              <a:rPr sz="1050" b="0" i="0">
                <a:solidFill>
                  <a:srgbClr val="334155"/>
                </a:solidFill>
                <a:latin typeface="DM Sans"/>
              </a:rPr>
              <a:t>International Health Policies, “Spinal cord injuries in India: towards a comprehensive preventive and rehabilitative response”</a:t>
            </a:r>
          </a:p>
          <a:p>
            <a:pPr>
              <a:spcAft>
                <a:spcPts val="800"/>
              </a:spcAft>
            </a:pPr>
            <a:r>
              <a:rPr sz="1050" b="1" i="0">
                <a:solidFill>
                  <a:srgbClr val="059669"/>
                </a:solidFill>
                <a:latin typeface="DM Sans"/>
              </a:rPr>
              <a:t>[9]  </a:t>
            </a:r>
            <a:r>
              <a:rPr sz="1050" b="0" i="0">
                <a:solidFill>
                  <a:srgbClr val="334155"/>
                </a:solidFill>
                <a:latin typeface="DM Sans"/>
              </a:rPr>
              <a:t>Office of the Registrar General &amp; Census Commissioner, India — Census 2011 disability data (via punarbhava.in)</a:t>
            </a:r>
          </a:p>
          <a:p>
            <a:pPr>
              <a:spcAft>
                <a:spcPts val="800"/>
              </a:spcAft>
            </a:pPr>
            <a:r>
              <a:rPr sz="1050" b="1" i="0">
                <a:solidFill>
                  <a:srgbClr val="059669"/>
                </a:solidFill>
                <a:latin typeface="DM Sans"/>
              </a:rPr>
              <a:t>[10]  </a:t>
            </a:r>
            <a:r>
              <a:rPr sz="1050" b="0" i="0">
                <a:solidFill>
                  <a:srgbClr val="334155"/>
                </a:solidFill>
                <a:latin typeface="DM Sans"/>
              </a:rPr>
              <a:t>SCIRE Project, Non-intervention attendant care studies (Robinson-Whelan &amp; Rintala 2003) — scireproject.com</a:t>
            </a:r>
          </a:p>
          <a:p>
            <a:pPr>
              <a:spcAft>
                <a:spcPts val="800"/>
              </a:spcAft>
            </a:pPr>
            <a:r>
              <a:rPr sz="1050" b="1" i="0">
                <a:solidFill>
                  <a:srgbClr val="059669"/>
                </a:solidFill>
                <a:latin typeface="DM Sans"/>
              </a:rPr>
              <a:t>[11]  </a:t>
            </a:r>
            <a:r>
              <a:rPr sz="1050" b="0" i="0">
                <a:solidFill>
                  <a:srgbClr val="334155"/>
                </a:solidFill>
                <a:latin typeface="DM Sans"/>
              </a:rPr>
              <a:t>Amrita Vishwa Vidyapeetham, news release on Netravaad eye-gesture communication device — amrita.edu</a:t>
            </a:r>
          </a:p>
        </p:txBody>
      </p:sp>
      <p:sp>
        <p:nvSpPr>
          <p:cNvPr id="162" name="Rounded Rectangle 161"/>
          <p:cNvSpPr/>
          <p:nvPr/>
        </p:nvSpPr>
        <p:spPr>
          <a:xfrm>
            <a:off x="530352" y="5340096"/>
            <a:ext cx="11128248" cy="402336"/>
          </a:xfrm>
          <a:prstGeom prst="roundRect">
            <a:avLst>
              <a:gd name="adj" fmla="val 12000"/>
            </a:avLst>
          </a:prstGeom>
          <a:solidFill>
            <a:srgbClr val="F0FDF4"/>
          </a:solidFill>
          <a:ln w="9525">
            <a:solidFill>
              <a:srgbClr val="BBF7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694944" y="5340096"/>
            <a:ext cx="10835640" cy="402336"/>
          </a:xfrm>
          <a:prstGeom prst="rect">
            <a:avLst/>
          </a:prstGeom>
          <a:noFill/>
        </p:spPr>
        <p:txBody>
          <a:bodyPr wrap="square" anchor="ctr" lIns="0" rIns="0" tIns="0" bIns="0">
            <a:spAutoFit/>
          </a:bodyPr>
          <a:lstStyle/>
          <a:p>
            <a:pPr algn="l"/>
            <a:r>
              <a:rPr sz="936" b="1" i="0">
                <a:solidFill>
                  <a:srgbClr val="0F172A"/>
                </a:solidFill>
                <a:latin typeface="DM Sans"/>
              </a:rPr>
              <a:t>Image sources: </a:t>
            </a:r>
            <a:r>
              <a:rPr sz="936" b="0" i="0">
                <a:solidFill>
                  <a:srgbClr val="475569"/>
                </a:solidFill>
                <a:latin typeface="DM Sans"/>
              </a:rPr>
              <a:t>all figures were produced for this project — FreeCAD 1.1 models and CalculiX FEA, KiCad 10 schematic, and project flow / block diagrams. No third-party images are used.</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