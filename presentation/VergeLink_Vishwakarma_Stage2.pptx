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9" r:id="rId10"/>
    <p:sldId id="286" r:id="rId57"/>
    <p:sldId id="285" r:id="rId56"/>
    <p:sldId id="284" r:id="rId55"/>
    <p:sldId id="283" r:id="rId54"/>
    <p:sldId id="282" r:id="rId53"/>
    <p:sldId id="281" r:id="rId52"/>
    <p:sldId id="280" r:id="rId51"/>
    <p:sldId id="279" r:id="rId50"/>
    <p:sldId id="278" r:id="rId49"/>
    <p:sldId id="277" r:id="rId48"/>
    <p:sldId id="276" r:id="rId47"/>
  </p:sldIdLst>
  <p:sldSz cy="6858000" cx="12192000"/>
  <p:notesSz cx="6858000" cy="9144000"/>
  <p:embeddedFontLst>
    <p:embeddedFont>
      <p:font typeface="DM Sans Medium"/>
      <p:regular r:id="rId27"/>
      <p:bold r:id="rId28"/>
      <p:italic r:id="rId29"/>
      <p:boldItalic r:id="rId30"/>
    </p:embeddedFont>
    <p:embeddedFont>
      <p:font typeface="Poppins"/>
      <p:regular r:id="rId31"/>
      <p:bold r:id="rId32"/>
      <p:italic r:id="rId33"/>
      <p:boldItalic r:id="rId34"/>
    </p:embeddedFont>
    <p:embeddedFont>
      <p:font typeface="Inter"/>
      <p:regular r:id="rId35"/>
      <p:bold r:id="rId36"/>
      <p:italic r:id="rId37"/>
      <p:boldItalic r:id="rId38"/>
    </p:embeddedFont>
    <p:embeddedFont>
      <p:font typeface="Poppins SemiBold"/>
      <p:regular r:id="rId39"/>
      <p:bold r:id="rId40"/>
      <p:italic r:id="rId41"/>
      <p:boldItalic r:id="rId42"/>
    </p:embeddedFont>
    <p:embeddedFont>
      <p:font typeface="DM Sans"/>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A1CCE7A-FDF7-472A-909B-C5EBB1D3D8B2}">
  <a:tblStyle styleId="{3A1CCE7A-FDF7-472A-909B-C5EBB1D3D8B2}"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10" Type="http://schemas.openxmlformats.org/officeDocument/2006/relationships/slide" Target="slides/slide2.xml"/><Relationship Id="rId27" Type="http://schemas.openxmlformats.org/officeDocument/2006/relationships/font" Target="fonts/DMSansMedium-regular.fntdata"/><Relationship Id="rId28" Type="http://schemas.openxmlformats.org/officeDocument/2006/relationships/font" Target="fonts/DMSansMedium-bold.fntdata"/><Relationship Id="rId29" Type="http://schemas.openxmlformats.org/officeDocument/2006/relationships/font" Target="fonts/DMSansMedium-italic.fntdata"/><Relationship Id="rId30" Type="http://schemas.openxmlformats.org/officeDocument/2006/relationships/font" Target="fonts/DMSansMedium-boldItalic.fntdata"/><Relationship Id="rId31" Type="http://schemas.openxmlformats.org/officeDocument/2006/relationships/font" Target="fonts/Poppins-regular.fntdata"/><Relationship Id="rId32" Type="http://schemas.openxmlformats.org/officeDocument/2006/relationships/font" Target="fonts/Poppins-bold.fntdata"/><Relationship Id="rId33" Type="http://schemas.openxmlformats.org/officeDocument/2006/relationships/font" Target="fonts/Poppins-italic.fntdata"/><Relationship Id="rId34" Type="http://schemas.openxmlformats.org/officeDocument/2006/relationships/font" Target="fonts/Poppins-boldItalic.fntdata"/><Relationship Id="rId35" Type="http://schemas.openxmlformats.org/officeDocument/2006/relationships/font" Target="fonts/Inter-regular.fntdata"/><Relationship Id="rId36" Type="http://schemas.openxmlformats.org/officeDocument/2006/relationships/font" Target="fonts/Inter-bold.fntdata"/><Relationship Id="rId37" Type="http://schemas.openxmlformats.org/officeDocument/2006/relationships/font" Target="fonts/Inter-italic.fntdata"/><Relationship Id="rId38" Type="http://schemas.openxmlformats.org/officeDocument/2006/relationships/font" Target="fonts/Inter-boldItalic.fntdata"/><Relationship Id="rId39" Type="http://schemas.openxmlformats.org/officeDocument/2006/relationships/font" Target="fonts/PoppinsSemiBold-regular.fntdata"/><Relationship Id="rId40" Type="http://schemas.openxmlformats.org/officeDocument/2006/relationships/font" Target="fonts/PoppinsSemiBold-bold.fntdata"/><Relationship Id="rId41" Type="http://schemas.openxmlformats.org/officeDocument/2006/relationships/font" Target="fonts/PoppinsSemiBold-italic.fntdata"/><Relationship Id="rId42" Type="http://schemas.openxmlformats.org/officeDocument/2006/relationships/font" Target="fonts/PoppinsSemiBold-boldItalic.fntdata"/><Relationship Id="rId43" Type="http://schemas.openxmlformats.org/officeDocument/2006/relationships/font" Target="fonts/DMSans-regular.fntdata"/><Relationship Id="rId44" Type="http://schemas.openxmlformats.org/officeDocument/2006/relationships/font" Target="fonts/DMSans-bold.fntdata"/><Relationship Id="rId45" Type="http://schemas.openxmlformats.org/officeDocument/2006/relationships/font" Target="fonts/DMSans-italic.fntdata"/><Relationship Id="rId46" Type="http://schemas.openxmlformats.org/officeDocument/2006/relationships/font" Target="fonts/DMSans-boldItalic.fntdata"/><Relationship Id="rId47" Type="http://schemas.openxmlformats.org/officeDocument/2006/relationships/slide" Target="slides/slide13.xml"/><Relationship Id="rId48" Type="http://schemas.openxmlformats.org/officeDocument/2006/relationships/slide" Target="slides/slide12.xml"/><Relationship Id="rId49" Type="http://schemas.openxmlformats.org/officeDocument/2006/relationships/slide" Target="slides/slide11.xml"/><Relationship Id="rId50" Type="http://schemas.openxmlformats.org/officeDocument/2006/relationships/slide" Target="slides/slide10.xml"/><Relationship Id="rId51" Type="http://schemas.openxmlformats.org/officeDocument/2006/relationships/slide" Target="slides/slide9.xml"/><Relationship Id="rId52" Type="http://schemas.openxmlformats.org/officeDocument/2006/relationships/slide" Target="slides/slide8.xml"/><Relationship Id="rId53" Type="http://schemas.openxmlformats.org/officeDocument/2006/relationships/slide" Target="slides/slide7.xml"/><Relationship Id="rId54" Type="http://schemas.openxmlformats.org/officeDocument/2006/relationships/slide" Target="slides/slide6.xml"/><Relationship Id="rId55" Type="http://schemas.openxmlformats.org/officeDocument/2006/relationships/slide" Target="slides/slide5.xml"/><Relationship Id="rId56" Type="http://schemas.openxmlformats.org/officeDocument/2006/relationships/slide" Target="slides/slide4.xml"/><Relationship Id="rId5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fb70659208_2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p:txBody>
      </p:sp>
      <p:sp>
        <p:nvSpPr>
          <p:cNvPr id="123" name="Google Shape;123;g3fb70659208_26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14.png"/><Relationship Id="rId6" Type="http://schemas.openxmlformats.org/officeDocument/2006/relationships/image" Target="../media/image7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 Id="rId1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 Id="rId15" Type="http://schemas.openxmlformats.org/officeDocument/2006/relationships/image" Target="../media/image13.png"/><Relationship Id="rId1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2"/>
            <a:ext cx="12192000" cy="6858000"/>
          </a:xfrm>
          <a:prstGeom prst="rect">
            <a:avLst/>
          </a:prstGeom>
          <a:noFill/>
          <a:ln>
            <a:noFill/>
          </a:ln>
        </p:spPr>
      </p:pic>
      <p:sp>
        <p:nvSpPr>
          <p:cNvPr id="85" name="Google Shape;85;p13"/>
          <p:cNvSpPr txBox="1"/>
          <p:nvPr/>
        </p:nvSpPr>
        <p:spPr>
          <a:xfrm>
            <a:off x="2320528" y="3182619"/>
            <a:ext cx="7551000" cy="5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3750">
                <a:solidFill>
                  <a:srgbClr val="0F172A"/>
                </a:solidFill>
                <a:latin typeface="Poppins"/>
                <a:ea typeface="Poppins"/>
                <a:cs typeface="Poppins"/>
                <a:sym typeface="Poppins"/>
              </a:rPr>
              <a:t>Application ID: [Enter ID]</a:t>
            </a:r>
            <a:endParaRPr/>
          </a:p>
        </p:txBody>
      </p:sp>
      <p:pic>
        <p:nvPicPr>
          <p:cNvPr descr="image.png" id="87" name="Google Shape;87;p13"/>
          <p:cNvPicPr preferRelativeResize="0"/>
          <p:nvPr/>
        </p:nvPicPr>
        <p:blipFill rotWithShape="1">
          <a:blip r:embed="rId4">
            <a:alphaModFix/>
          </a:blip>
          <a:srcRect b="0" l="0" r="0" t="0"/>
          <a:stretch/>
        </p:blipFill>
        <p:spPr>
          <a:xfrm>
            <a:off x="3170213" y="2268205"/>
            <a:ext cx="5851614" cy="577200"/>
          </a:xfrm>
          <a:prstGeom prst="rect">
            <a:avLst/>
          </a:prstGeom>
          <a:noFill/>
          <a:ln>
            <a:noFill/>
          </a:ln>
        </p:spPr>
      </p:pic>
      <p:pic>
        <p:nvPicPr>
          <p:cNvPr id="88" name="Google Shape;88;p13" title="MBF_Logo_2020.png"/>
          <p:cNvPicPr preferRelativeResize="0"/>
          <p:nvPr/>
        </p:nvPicPr>
        <p:blipFill>
          <a:blip r:embed="rId5">
            <a:alphaModFix/>
          </a:blip>
          <a:stretch>
            <a:fillRect/>
          </a:stretch>
        </p:blipFill>
        <p:spPr>
          <a:xfrm>
            <a:off x="10700669" y="80825"/>
            <a:ext cx="1491330" cy="784825"/>
          </a:xfrm>
          <a:prstGeom prst="rect">
            <a:avLst/>
          </a:prstGeom>
          <a:noFill/>
          <a:ln>
            <a:noFill/>
          </a:ln>
        </p:spPr>
      </p:pic>
      <p:pic>
        <p:nvPicPr>
          <p:cNvPr id="89" name="Google Shape;89;p13" title="VK colored transparent logo.png"/>
          <p:cNvPicPr preferRelativeResize="0"/>
          <p:nvPr/>
        </p:nvPicPr>
        <p:blipFill rotWithShape="1">
          <a:blip r:embed="rId6">
            <a:alphaModFix/>
          </a:blip>
          <a:srcRect b="44466" l="14673" r="15820" t="33074"/>
          <a:stretch/>
        </p:blipFill>
        <p:spPr>
          <a:xfrm>
            <a:off x="0" y="80825"/>
            <a:ext cx="2428825" cy="784825"/>
          </a:xfrm>
          <a:prstGeom prst="rect">
            <a:avLst/>
          </a:prstGeom>
          <a:noFill/>
          <a:ln>
            <a:noFill/>
          </a:ln>
        </p:spPr>
      </p:pic>
      <p:sp>
        <p:nvSpPr>
          <p:cNvPr id="90" name="TextBox 89"/>
          <p:cNvSpPr txBox="1"/>
          <p:nvPr/>
        </p:nvSpPr>
        <p:spPr>
          <a:xfrm>
            <a:off x="1069848" y="3931920"/>
            <a:ext cx="10058400" cy="411480"/>
          </a:xfrm>
          <a:prstGeom prst="rect">
            <a:avLst/>
          </a:prstGeom>
          <a:noFill/>
        </p:spPr>
        <p:txBody>
          <a:bodyPr wrap="square" anchor="ctr" lIns="0" rIns="0" tIns="0" bIns="0">
            <a:spAutoFit/>
          </a:bodyPr>
          <a:lstStyle/>
          <a:p>
            <a:pPr algn="ctr"/>
            <a:r>
              <a:rPr sz="2000" b="1" i="0">
                <a:solidFill>
                  <a:srgbClr val="059669"/>
                </a:solidFill>
                <a:latin typeface="Poppins SemiBold"/>
              </a:rPr>
              <a:t>VergeLink</a:t>
            </a:r>
            <a:r>
              <a:rPr sz="1300" b="0" i="0">
                <a:solidFill>
                  <a:srgbClr val="334155"/>
                </a:solidFill>
                <a:latin typeface="DM Sans"/>
              </a:rPr>
              <a:t>  —  camera-free eye + jaw-clench control of fan and light for people with quadriplegia</a:t>
            </a:r>
          </a:p>
        </p:txBody>
      </p:sp>
      <p:sp>
        <p:nvSpPr>
          <p:cNvPr id="91" name="TextBox 90"/>
          <p:cNvSpPr txBox="1"/>
          <p:nvPr/>
        </p:nvSpPr>
        <p:spPr>
          <a:xfrm>
            <a:off x="1069848" y="4480560"/>
            <a:ext cx="10058400" cy="274320"/>
          </a:xfrm>
          <a:prstGeom prst="rect">
            <a:avLst/>
          </a:prstGeom>
          <a:noFill/>
        </p:spPr>
        <p:txBody>
          <a:bodyPr wrap="square" anchor="t" lIns="0" rIns="0" tIns="0" bIns="0">
            <a:spAutoFit/>
          </a:bodyPr>
          <a:lstStyle/>
          <a:p>
            <a:pPr algn="ctr"/>
            <a:r>
              <a:rPr sz="1100" b="0" i="0">
                <a:solidFill>
                  <a:srgbClr val="475569"/>
                </a:solidFill>
                <a:latin typeface="DM Sans"/>
              </a:rPr>
              <a:t>Team ID: [Team ID]   |   Track: [Track]   |   Dept. of Biomedical Engineering, VCET Erode (Batch 23BM7A)</a:t>
            </a:r>
          </a:p>
        </p:txBody>
      </p:sp>
      <p:sp>
        <p:nvSpPr>
          <p:cNvPr id="92" name="TextBox 91"/>
          <p:cNvSpPr txBox="1"/>
          <p:nvPr/>
        </p:nvSpPr>
        <p:spPr>
          <a:xfrm>
            <a:off x="1069848" y="4773168"/>
            <a:ext cx="10058400" cy="274320"/>
          </a:xfrm>
          <a:prstGeom prst="rect">
            <a:avLst/>
          </a:prstGeom>
          <a:noFill/>
        </p:spPr>
        <p:txBody>
          <a:bodyPr wrap="square" anchor="t" lIns="0" rIns="0" tIns="0" bIns="0">
            <a:spAutoFit/>
          </a:bodyPr>
          <a:lstStyle/>
          <a:p>
            <a:pPr algn="ctr"/>
            <a:r>
              <a:rPr sz="1100" b="0" i="0">
                <a:solidFill>
                  <a:srgbClr val="475569"/>
                </a:solidFill>
                <a:latin typeface="DM Sans"/>
              </a:rPr>
              <a:t>Faculty guide: Mrs. C. Radhika   ·   Industry mentor: K. P. Amalnath, Mediowel Healthineers</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Problem Context &amp; User Journey: Before State</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94944"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~20,000 / yr</a:t>
            </a:r>
          </a:p>
        </p:txBody>
      </p:sp>
      <p:sp>
        <p:nvSpPr>
          <p:cNvPr id="162" name="TextBox 161"/>
          <p:cNvSpPr txBox="1"/>
          <p:nvPr/>
        </p:nvSpPr>
        <p:spPr>
          <a:xfrm>
            <a:off x="694944"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NEW SPINAL CORD INJURIES, INDIA</a:t>
            </a:r>
          </a:p>
        </p:txBody>
      </p:sp>
      <p:sp>
        <p:nvSpPr>
          <p:cNvPr id="163" name="Rounded Rectangle 162"/>
          <p:cNvSpPr/>
          <p:nvPr/>
        </p:nvSpPr>
        <p:spPr>
          <a:xfrm>
            <a:off x="3351276"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515868"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1.5 million</a:t>
            </a:r>
          </a:p>
        </p:txBody>
      </p:sp>
      <p:sp>
        <p:nvSpPr>
          <p:cNvPr id="165" name="TextBox 164"/>
          <p:cNvSpPr txBox="1"/>
          <p:nvPr/>
        </p:nvSpPr>
        <p:spPr>
          <a:xfrm>
            <a:off x="3515868"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INDIANS LIVING WITH SCI</a:t>
            </a:r>
          </a:p>
        </p:txBody>
      </p:sp>
      <p:sp>
        <p:nvSpPr>
          <p:cNvPr id="166" name="Rounded Rectangle 165"/>
          <p:cNvSpPr/>
          <p:nvPr/>
        </p:nvSpPr>
        <p:spPr>
          <a:xfrm>
            <a:off x="6172200"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336792"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54.4 lakh</a:t>
            </a:r>
          </a:p>
        </p:txBody>
      </p:sp>
      <p:sp>
        <p:nvSpPr>
          <p:cNvPr id="168" name="TextBox 167"/>
          <p:cNvSpPr txBox="1"/>
          <p:nvPr/>
        </p:nvSpPr>
        <p:spPr>
          <a:xfrm>
            <a:off x="6336792"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MOVEMENT DISABILITY (CENSUS 2011)</a:t>
            </a:r>
          </a:p>
        </p:txBody>
      </p:sp>
      <p:sp>
        <p:nvSpPr>
          <p:cNvPr id="169" name="Rounded Rectangle 168"/>
          <p:cNvSpPr/>
          <p:nvPr/>
        </p:nvSpPr>
        <p:spPr>
          <a:xfrm>
            <a:off x="8993124"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9157715"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~12.9 h / day</a:t>
            </a:r>
          </a:p>
        </p:txBody>
      </p:sp>
      <p:sp>
        <p:nvSpPr>
          <p:cNvPr id="171" name="TextBox 170"/>
          <p:cNvSpPr txBox="1"/>
          <p:nvPr/>
        </p:nvSpPr>
        <p:spPr>
          <a:xfrm>
            <a:off x="9157715"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UNPAID CARE, SCI USERS (US STUDY)</a:t>
            </a:r>
          </a:p>
        </p:txBody>
      </p:sp>
      <p:sp>
        <p:nvSpPr>
          <p:cNvPr id="172" name="Rounded Rectangle 171"/>
          <p:cNvSpPr/>
          <p:nvPr/>
        </p:nvSpPr>
        <p:spPr>
          <a:xfrm>
            <a:off x="530352" y="1737360"/>
            <a:ext cx="5486400" cy="228600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3" name="Picture 172" descr="before2.png"/>
          <p:cNvPicPr>
            <a:picLocks noChangeAspect="1"/>
          </p:cNvPicPr>
          <p:nvPr/>
        </p:nvPicPr>
        <p:blipFill>
          <a:blip r:embed="rId15"/>
          <a:stretch>
            <a:fillRect/>
          </a:stretch>
        </p:blipFill>
        <p:spPr>
          <a:xfrm>
            <a:off x="929028" y="1810512"/>
            <a:ext cx="4689046" cy="2139696"/>
          </a:xfrm>
          <a:prstGeom prst="rect">
            <a:avLst/>
          </a:prstGeom>
        </p:spPr>
      </p:pic>
      <p:sp>
        <p:nvSpPr>
          <p:cNvPr id="174" name="TextBox 173"/>
          <p:cNvSpPr txBox="1"/>
          <p:nvPr/>
        </p:nvSpPr>
        <p:spPr>
          <a:xfrm>
            <a:off x="530352" y="4069080"/>
            <a:ext cx="5486400" cy="182880"/>
          </a:xfrm>
          <a:prstGeom prst="rect">
            <a:avLst/>
          </a:prstGeom>
          <a:noFill/>
        </p:spPr>
        <p:txBody>
          <a:bodyPr wrap="square" anchor="t" lIns="0" rIns="0" tIns="0" bIns="0">
            <a:spAutoFit/>
          </a:bodyPr>
          <a:lstStyle/>
          <a:p>
            <a:pPr algn="l"/>
            <a:r>
              <a:rPr sz="861" b="0" i="0">
                <a:solidFill>
                  <a:srgbClr val="64748B"/>
                </a:solidFill>
                <a:latin typeface="DM Sans"/>
              </a:rPr>
              <a:t>Figure: Before-state user flow for a single fan or light change.</a:t>
            </a:r>
          </a:p>
        </p:txBody>
      </p:sp>
      <p:sp>
        <p:nvSpPr>
          <p:cNvPr id="175" name="Rounded Rectangle 174"/>
          <p:cNvSpPr/>
          <p:nvPr/>
        </p:nvSpPr>
        <p:spPr>
          <a:xfrm>
            <a:off x="530352" y="4343400"/>
            <a:ext cx="5486400" cy="121615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image.png"/>
          <p:cNvPicPr>
            <a:picLocks noChangeAspect="1"/>
          </p:cNvPicPr>
          <p:nvPr/>
        </p:nvPicPr>
        <p:blipFill>
          <a:blip r:embed="rId12"/>
          <a:stretch>
            <a:fillRect/>
          </a:stretch>
        </p:blipFill>
        <p:spPr>
          <a:xfrm>
            <a:off x="694944" y="4471416"/>
            <a:ext cx="155448" cy="155448"/>
          </a:xfrm>
          <a:prstGeom prst="rect">
            <a:avLst/>
          </a:prstGeom>
        </p:spPr>
      </p:pic>
      <p:sp>
        <p:nvSpPr>
          <p:cNvPr id="177" name="TextBox 176"/>
          <p:cNvSpPr txBox="1"/>
          <p:nvPr/>
        </p:nvSpPr>
        <p:spPr>
          <a:xfrm>
            <a:off x="932688" y="4443984"/>
            <a:ext cx="4974336" cy="219456"/>
          </a:xfrm>
          <a:prstGeom prst="rect">
            <a:avLst/>
          </a:prstGeom>
          <a:noFill/>
        </p:spPr>
        <p:txBody>
          <a:bodyPr wrap="square" anchor="t" lIns="0" rIns="0" tIns="0" bIns="0">
            <a:spAutoFit/>
          </a:bodyPr>
          <a:lstStyle/>
          <a:p>
            <a:pPr algn="l"/>
            <a:r>
              <a:rPr sz="1125" b="1" i="0">
                <a:solidFill>
                  <a:srgbClr val="0F172A"/>
                </a:solidFill>
                <a:latin typeface="DM Sans"/>
              </a:rPr>
              <a:t>Problem Statement</a:t>
            </a:r>
          </a:p>
        </p:txBody>
      </p:sp>
      <p:sp>
        <p:nvSpPr>
          <p:cNvPr id="178" name="TextBox 177"/>
          <p:cNvSpPr txBox="1"/>
          <p:nvPr/>
        </p:nvSpPr>
        <p:spPr>
          <a:xfrm>
            <a:off x="694944" y="4709160"/>
            <a:ext cx="5166360" cy="822960"/>
          </a:xfrm>
          <a:prstGeom prst="rect">
            <a:avLst/>
          </a:prstGeom>
          <a:noFill/>
        </p:spPr>
        <p:txBody>
          <a:bodyPr wrap="square" anchor="t" lIns="0" rIns="0" tIns="0" bIns="0">
            <a:spAutoFit/>
          </a:bodyPr>
          <a:lstStyle/>
          <a:p>
            <a:pPr algn="l"/>
            <a:r>
              <a:rPr sz="1011" b="0" i="0">
                <a:solidFill>
                  <a:srgbClr val="334155"/>
                </a:solidFill>
                <a:latin typeface="DM Sans"/>
              </a:rPr>
              <a:t>People with quadriplegia who can still move their eyes and jaw cannot switch their own fan or light. Every change waits on a caregiver, and the hands-free options on the market depend on a camera, on clear speech, or cost well beyond most Indian households.</a:t>
            </a:r>
          </a:p>
        </p:txBody>
      </p:sp>
      <p:sp>
        <p:nvSpPr>
          <p:cNvPr id="179" name="Rounded Rectangle 178"/>
          <p:cNvSpPr/>
          <p:nvPr/>
        </p:nvSpPr>
        <p:spPr>
          <a:xfrm>
            <a:off x="6227064" y="1737360"/>
            <a:ext cx="5431536" cy="3822191"/>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image.png"/>
          <p:cNvPicPr>
            <a:picLocks noChangeAspect="1"/>
          </p:cNvPicPr>
          <p:nvPr/>
        </p:nvPicPr>
        <p:blipFill>
          <a:blip r:embed="rId12"/>
          <a:stretch>
            <a:fillRect/>
          </a:stretch>
        </p:blipFill>
        <p:spPr>
          <a:xfrm>
            <a:off x="6400800" y="1883663"/>
            <a:ext cx="155448" cy="155448"/>
          </a:xfrm>
          <a:prstGeom prst="rect">
            <a:avLst/>
          </a:prstGeom>
        </p:spPr>
      </p:pic>
      <p:sp>
        <p:nvSpPr>
          <p:cNvPr id="181" name="TextBox 180"/>
          <p:cNvSpPr txBox="1"/>
          <p:nvPr/>
        </p:nvSpPr>
        <p:spPr>
          <a:xfrm>
            <a:off x="6638544" y="1856231"/>
            <a:ext cx="4882896" cy="219456"/>
          </a:xfrm>
          <a:prstGeom prst="rect">
            <a:avLst/>
          </a:prstGeom>
          <a:noFill/>
        </p:spPr>
        <p:txBody>
          <a:bodyPr wrap="square" anchor="t" lIns="0" rIns="0" tIns="0" bIns="0">
            <a:spAutoFit/>
          </a:bodyPr>
          <a:lstStyle/>
          <a:p>
            <a:pPr algn="l"/>
            <a:r>
              <a:rPr sz="1125" b="1" i="0">
                <a:solidFill>
                  <a:srgbClr val="0F172A"/>
                </a:solidFill>
                <a:latin typeface="DM Sans"/>
              </a:rPr>
              <a:t>Target Beneficiary &amp; Before-State User Flow</a:t>
            </a:r>
          </a:p>
        </p:txBody>
      </p:sp>
      <p:sp>
        <p:nvSpPr>
          <p:cNvPr id="182" name="TextBox 181"/>
          <p:cNvSpPr txBox="1"/>
          <p:nvPr/>
        </p:nvSpPr>
        <p:spPr>
          <a:xfrm>
            <a:off x="6400800" y="2194560"/>
            <a:ext cx="5074920" cy="333756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11" b="1" i="0">
                <a:solidFill>
                  <a:srgbClr val="334155"/>
                </a:solidFill>
                <a:latin typeface="DM Sans"/>
              </a:rPr>
              <a:t>Project overview: </a:t>
            </a:r>
            <a:r>
              <a:rPr sz="1011" b="0" i="0">
                <a:solidFill>
                  <a:srgbClr val="334155"/>
                </a:solidFill>
                <a:latin typeface="DM Sans"/>
              </a:rPr>
              <a:t>VergeLink is a camera-free wearable that lets a person switch their own fan and light by looking at a target and clenching the jaw once.</a:t>
            </a:r>
          </a:p>
          <a:p>
            <a:pPr marL="155448" indent="-155448">
              <a:spcAft>
                <a:spcPts val="700"/>
              </a:spcAft>
              <a:buClr>
                <a:srgbClr val="059669"/>
              </a:buClr>
              <a:buSzPct val="110000"/>
              <a:buFont typeface="Arial"/>
              <a:buChar char="▪"/>
            </a:pPr>
            <a:r>
              <a:rPr sz="1011" b="1" i="0">
                <a:solidFill>
                  <a:srgbClr val="334155"/>
                </a:solidFill>
                <a:latin typeface="DM Sans"/>
              </a:rPr>
              <a:t>Target user: </a:t>
            </a:r>
            <a:r>
              <a:rPr sz="1011" b="0" i="0">
                <a:solidFill>
                  <a:srgbClr val="334155"/>
                </a:solidFill>
                <a:latin typeface="DM Sans"/>
              </a:rPr>
              <a:t>Adults with high cervical spinal cord injury, ALS/MND or similar conditions who keep eye movement and jaw control, and the family caregivers who look after them at home or on rehab wards.</a:t>
            </a:r>
          </a:p>
          <a:p>
            <a:pPr marL="155448" indent="-155448">
              <a:spcAft>
                <a:spcPts val="700"/>
              </a:spcAft>
              <a:buClr>
                <a:srgbClr val="059669"/>
              </a:buClr>
              <a:buSzPct val="110000"/>
              <a:buFont typeface="Arial"/>
              <a:buChar char="▪"/>
            </a:pPr>
            <a:r>
              <a:rPr sz="1011" b="1" i="0">
                <a:solidFill>
                  <a:srgbClr val="334155"/>
                </a:solidFill>
                <a:latin typeface="DM Sans"/>
              </a:rPr>
              <a:t>Operational bottleneck: </a:t>
            </a:r>
            <a:r>
              <a:rPr sz="1011" b="0" i="0">
                <a:solidFill>
                  <a:srgbClr val="334155"/>
                </a:solidFill>
                <a:latin typeface="DM Sans"/>
              </a:rPr>
              <a:t>Every environmental change needs another person. The user calls out (if voice allows), the caregiver stops their own work, walks over and toggles the switch, then repeats this day and night.</a:t>
            </a:r>
          </a:p>
          <a:p>
            <a:pPr marL="155448" indent="-155448">
              <a:spcAft>
                <a:spcPts val="700"/>
              </a:spcAft>
              <a:buClr>
                <a:srgbClr val="059669"/>
              </a:buClr>
              <a:buSzPct val="110000"/>
              <a:buFont typeface="Arial"/>
              <a:buChar char="▪"/>
            </a:pPr>
            <a:r>
              <a:rPr sz="1011" b="1" i="0">
                <a:solidFill>
                  <a:srgbClr val="334155"/>
                </a:solidFill>
                <a:latin typeface="DM Sans"/>
              </a:rPr>
              <a:t>Public search disclosure: </a:t>
            </a:r>
            <a:r>
              <a:rPr sz="1011" b="0" i="0">
                <a:solidFill>
                  <a:srgbClr val="334155"/>
                </a:solidFill>
                <a:latin typeface="DM Sans"/>
              </a:rPr>
              <a:t>Camera eye-trackers need steady lighting and a screen-facing camera. The Indian EOG communicator Netravaad is priced at ₹1.65 lakh. VergeIO (2025) showed bilateral EOG can tell 4 depth gestures apart, but as a glasses input study, not home-appliance control for paralysed users.</a:t>
            </a:r>
          </a:p>
        </p:txBody>
      </p:sp>
      <p:sp>
        <p:nvSpPr>
          <p:cNvPr id="183" name="Rounded Rectangle 182"/>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Core innovation: </a:t>
            </a:r>
            <a:r>
              <a:rPr sz="936" b="0" i="0">
                <a:solidFill>
                  <a:srgbClr val="475569"/>
                </a:solidFill>
                <a:latin typeface="DM Sans"/>
              </a:rPr>
              <a:t>Bilateral EOG vergence + ToF depth evidence + a deliberate jaw-clench (EMG) confirmation gives two-factor, camera-free appliance control built from ₹13,093 of ordered parts.  Team ID: [Team ID]  |  Track: [Track]</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User Journey: After State &amp; Quantified Efficiency</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6537960" cy="274320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after2.png"/>
          <p:cNvPicPr>
            <a:picLocks noChangeAspect="1"/>
          </p:cNvPicPr>
          <p:nvPr/>
        </p:nvPicPr>
        <p:blipFill>
          <a:blip r:embed="rId2"/>
          <a:stretch>
            <a:fillRect/>
          </a:stretch>
        </p:blipFill>
        <p:spPr>
          <a:xfrm>
            <a:off x="982741" y="1005840"/>
            <a:ext cx="5633180" cy="2596896"/>
          </a:xfrm>
          <a:prstGeom prst="rect">
            <a:avLst/>
          </a:prstGeom>
        </p:spPr>
      </p:pic>
      <p:sp>
        <p:nvSpPr>
          <p:cNvPr id="162" name="TextBox 161"/>
          <p:cNvSpPr txBox="1"/>
          <p:nvPr/>
        </p:nvSpPr>
        <p:spPr>
          <a:xfrm>
            <a:off x="530352" y="3721608"/>
            <a:ext cx="6537960" cy="182880"/>
          </a:xfrm>
          <a:prstGeom prst="rect">
            <a:avLst/>
          </a:prstGeom>
          <a:noFill/>
        </p:spPr>
        <p:txBody>
          <a:bodyPr wrap="square" anchor="t" lIns="0" rIns="0" tIns="0" bIns="0">
            <a:spAutoFit/>
          </a:bodyPr>
          <a:lstStyle/>
          <a:p>
            <a:pPr algn="l"/>
            <a:r>
              <a:rPr sz="861" b="0" i="0">
                <a:solidFill>
                  <a:srgbClr val="64748B"/>
                </a:solidFill>
                <a:latin typeface="DM Sans"/>
              </a:rPr>
              <a:t>Figure: Target after-state flow — look, clench, relay switches.</a:t>
            </a:r>
          </a:p>
        </p:txBody>
      </p:sp>
      <p:sp>
        <p:nvSpPr>
          <p:cNvPr id="163" name="Rounded Rectangle 162"/>
          <p:cNvSpPr/>
          <p:nvPr/>
        </p:nvSpPr>
        <p:spPr>
          <a:xfrm>
            <a:off x="530352" y="3995928"/>
            <a:ext cx="6537960" cy="1563624"/>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123944"/>
            <a:ext cx="155448" cy="155448"/>
          </a:xfrm>
          <a:prstGeom prst="rect">
            <a:avLst/>
          </a:prstGeom>
        </p:spPr>
      </p:pic>
      <p:sp>
        <p:nvSpPr>
          <p:cNvPr id="165" name="TextBox 164"/>
          <p:cNvSpPr txBox="1"/>
          <p:nvPr/>
        </p:nvSpPr>
        <p:spPr>
          <a:xfrm>
            <a:off x="932688" y="4096512"/>
            <a:ext cx="5980176" cy="219456"/>
          </a:xfrm>
          <a:prstGeom prst="rect">
            <a:avLst/>
          </a:prstGeom>
          <a:noFill/>
        </p:spPr>
        <p:txBody>
          <a:bodyPr wrap="square" anchor="t" lIns="0" rIns="0" tIns="0" bIns="0">
            <a:spAutoFit/>
          </a:bodyPr>
          <a:lstStyle/>
          <a:p>
            <a:pPr algn="l"/>
            <a:r>
              <a:rPr sz="1125" b="1" i="0">
                <a:solidFill>
                  <a:srgbClr val="0F172A"/>
                </a:solidFill>
                <a:latin typeface="DM Sans"/>
              </a:rPr>
              <a:t>How these targets will be measured (Stage 3)</a:t>
            </a:r>
          </a:p>
        </p:txBody>
      </p:sp>
      <p:sp>
        <p:nvSpPr>
          <p:cNvPr id="166" name="TextBox 165"/>
          <p:cNvSpPr txBox="1"/>
          <p:nvPr/>
        </p:nvSpPr>
        <p:spPr>
          <a:xfrm>
            <a:off x="694944" y="4389120"/>
            <a:ext cx="6263640" cy="1188720"/>
          </a:xfrm>
          <a:prstGeom prst="rect">
            <a:avLst/>
          </a:prstGeom>
          <a:noFill/>
        </p:spPr>
        <p:txBody>
          <a:bodyPr wrap="square" anchor="t" lIns="0" rIns="0" tIns="0" bIns="0">
            <a:spAutoFit/>
          </a:bodyPr>
          <a:lstStyle/>
          <a:p>
            <a:pPr marL="155448" indent="-155448">
              <a:spcAft>
                <a:spcPts val="500"/>
              </a:spcAft>
              <a:buClr>
                <a:srgbClr val="059669"/>
              </a:buClr>
              <a:buSzPct val="110000"/>
              <a:buFont typeface="Arial"/>
              <a:buChar char="▪"/>
            </a:pPr>
            <a:r>
              <a:rPr sz="1011" b="1" i="0">
                <a:solidFill>
                  <a:srgbClr val="334155"/>
                </a:solidFill>
                <a:latin typeface="DM Sans"/>
              </a:rPr>
              <a:t>Timed trials: </a:t>
            </a:r>
            <a:r>
              <a:rPr sz="1011" b="0" i="0">
                <a:solidFill>
                  <a:srgbClr val="334155"/>
                </a:solidFill>
                <a:latin typeface="DM Sans"/>
              </a:rPr>
              <a:t>app logs time from target shown to relay state confirmed, per attempt.</a:t>
            </a:r>
          </a:p>
          <a:p>
            <a:pPr marL="155448" indent="-155448">
              <a:spcAft>
                <a:spcPts val="500"/>
              </a:spcAft>
              <a:buClr>
                <a:srgbClr val="059669"/>
              </a:buClr>
              <a:buSzPct val="110000"/>
              <a:buFont typeface="Arial"/>
              <a:buChar char="▪"/>
            </a:pPr>
            <a:r>
              <a:rPr sz="1011" b="1" i="0">
                <a:solidFill>
                  <a:srgbClr val="334155"/>
                </a:solidFill>
                <a:latin typeface="DM Sans"/>
              </a:rPr>
              <a:t>False activations: </a:t>
            </a:r>
            <a:r>
              <a:rPr sz="1011" b="0" i="0">
                <a:solidFill>
                  <a:srgbClr val="334155"/>
                </a:solidFill>
                <a:latin typeface="DM Sans"/>
              </a:rPr>
              <a:t>30-minute sessions of rest, talking, chewing and blinking with the system armed.</a:t>
            </a:r>
          </a:p>
          <a:p>
            <a:pPr marL="155448" indent="-155448">
              <a:spcAft>
                <a:spcPts val="500"/>
              </a:spcAft>
              <a:buClr>
                <a:srgbClr val="059669"/>
              </a:buClr>
              <a:buSzPct val="110000"/>
              <a:buFont typeface="Arial"/>
              <a:buChar char="▪"/>
            </a:pPr>
            <a:r>
              <a:rPr sz="1011" b="1" i="0">
                <a:solidFill>
                  <a:srgbClr val="334155"/>
                </a:solidFill>
                <a:latin typeface="DM Sans"/>
              </a:rPr>
              <a:t>Accuracy: </a:t>
            </a:r>
            <a:r>
              <a:rPr sz="1011" b="0" i="0">
                <a:solidFill>
                  <a:srgbClr val="334155"/>
                </a:solidFill>
                <a:latin typeface="DM Sans"/>
              </a:rPr>
              <a:t>2 targets × 2 depths, scripted order; first with team volunteers under institutional approval.</a:t>
            </a:r>
          </a:p>
        </p:txBody>
      </p:sp>
      <p:sp>
        <p:nvSpPr>
          <p:cNvPr id="167" name="Rounded Rectangle 166"/>
          <p:cNvSpPr/>
          <p:nvPr/>
        </p:nvSpPr>
        <p:spPr>
          <a:xfrm>
            <a:off x="7269480" y="932688"/>
            <a:ext cx="4389120"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7424927" y="1069848"/>
            <a:ext cx="155448" cy="155448"/>
          </a:xfrm>
          <a:prstGeom prst="rect">
            <a:avLst/>
          </a:prstGeom>
        </p:spPr>
      </p:pic>
      <p:sp>
        <p:nvSpPr>
          <p:cNvPr id="169" name="TextBox 168"/>
          <p:cNvSpPr txBox="1"/>
          <p:nvPr/>
        </p:nvSpPr>
        <p:spPr>
          <a:xfrm>
            <a:off x="7662671" y="1042415"/>
            <a:ext cx="3877056" cy="219456"/>
          </a:xfrm>
          <a:prstGeom prst="rect">
            <a:avLst/>
          </a:prstGeom>
          <a:noFill/>
        </p:spPr>
        <p:txBody>
          <a:bodyPr wrap="square" anchor="t" lIns="0" rIns="0" tIns="0" bIns="0">
            <a:spAutoFit/>
          </a:bodyPr>
          <a:lstStyle/>
          <a:p>
            <a:pPr algn="l"/>
            <a:r>
              <a:rPr sz="1125" b="1" i="0">
                <a:solidFill>
                  <a:srgbClr val="0F172A"/>
                </a:solidFill>
                <a:latin typeface="DM Sans"/>
              </a:rPr>
              <a:t>Before vs VergeLink (targets)</a:t>
            </a:r>
          </a:p>
        </p:txBody>
      </p:sp>
      <p:graphicFrame>
        <p:nvGraphicFramePr>
          <p:cNvPr id="170" name="Table 169"/>
          <p:cNvGraphicFramePr>
            <a:graphicFrameLocks noGrp="1"/>
          </p:cNvGraphicFramePr>
          <p:nvPr/>
        </p:nvGraphicFramePr>
        <p:xfrm>
          <a:off x="7424927" y="1371600"/>
          <a:ext cx="4096512" cy="2926080"/>
        </p:xfrm>
        <a:graphic>
          <a:graphicData uri="http://schemas.openxmlformats.org/drawingml/2006/table">
            <a:tbl>
              <a:tblPr firstRow="0" bandRow="0">
                <a:tableStyleId>{2D5ABB26-0587-4C30-8999-92F81FD0307C}</a:tableStyleId>
              </a:tblPr>
              <a:tblGrid>
                <a:gridCol w="1143000"/>
                <a:gridCol w="1325880"/>
                <a:gridCol w="1627632"/>
              </a:tblGrid>
              <a:tr h="365760">
                <a:tc>
                  <a:txBody>
                    <a:bodyPr wrap="square"/>
                    <a:lstStyle/>
                    <a:p>
                      <a:r>
                        <a:rPr sz="860" b="1" i="0">
                          <a:solidFill>
                            <a:srgbClr val="0F172A"/>
                          </a:solidFill>
                          <a:latin typeface="DM Sans"/>
                        </a:rPr>
                        <a:t>Metric</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Before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VergeLink target</a:t>
                      </a:r>
                    </a:p>
                  </a:txBody>
                  <a:tcPr marL="54864" marR="54864" marT="27432" marB="27432" anchor="ctr">
                    <a:lnL w="6350">
                      <a:noFill/>
                    </a:lnL>
                    <a:lnR w="6350">
                      <a:noFill/>
                    </a:lnR>
                    <a:lnT w="6350">
                      <a:noFill/>
                    </a:lnT>
                    <a:lnB w="6350">
                      <a:solidFill>
                        <a:srgbClr val="E2E8F0"/>
                      </a:solidFill>
                    </a:lnB>
                    <a:solidFill>
                      <a:srgbClr val="E2E8F0"/>
                    </a:solidFill>
                  </a:tcPr>
                </a:tc>
              </a:tr>
              <a:tr h="365760">
                <a:tc>
                  <a:txBody>
                    <a:bodyPr wrap="square"/>
                    <a:lstStyle/>
                    <a:p>
                      <a:r>
                        <a:rPr sz="860" b="1" i="0">
                          <a:solidFill>
                            <a:srgbClr val="0F172A"/>
                          </a:solidFill>
                          <a:latin typeface="DM Sans"/>
                        </a:rPr>
                        <a:t>Who switches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Caregiver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User alone</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Time per change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Caregiver response time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3 s look → clench → relay</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Hands-free cost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₹1.65 L (Netravaad)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₹13,093 ordered BOM (−92%)</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Camera / mic</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Camera or voice needed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Neither</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False activations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n/a</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 1 per 30 min armed</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Selection accuracy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n/a</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90% (2 targets × 2 depths)</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Caregiver trips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Every fan/light change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Zero for these two loads</a:t>
                      </a:r>
                    </a:p>
                  </a:txBody>
                  <a:tcPr marL="54864" marR="54864" marT="27432" marB="27432" anchor="ctr">
                    <a:lnL w="6350">
                      <a:noFill/>
                    </a:lnL>
                    <a:lnR w="6350">
                      <a:noFill/>
                    </a:lnR>
                    <a:lnT w="6350">
                      <a:noFill/>
                    </a:lnT>
                    <a:lnB w="6350">
                      <a:solidFill>
                        <a:srgbClr val="E2E8F0"/>
                      </a:solidFill>
                    </a:lnB>
                    <a:solidFill>
                      <a:srgbClr val="FFFFFF"/>
                    </a:solidFill>
                  </a:tcPr>
                </a:tc>
              </a:tr>
            </a:tbl>
          </a:graphicData>
        </a:graphic>
      </p:graphicFrame>
      <p:sp>
        <p:nvSpPr>
          <p:cNvPr id="171" name="TextBox 170"/>
          <p:cNvSpPr txBox="1"/>
          <p:nvPr/>
        </p:nvSpPr>
        <p:spPr>
          <a:xfrm>
            <a:off x="7424927" y="4434840"/>
            <a:ext cx="4114800" cy="1051560"/>
          </a:xfrm>
          <a:prstGeom prst="rect">
            <a:avLst/>
          </a:prstGeom>
          <a:noFill/>
        </p:spPr>
        <p:txBody>
          <a:bodyPr wrap="square" anchor="t" lIns="0" rIns="0" tIns="0" bIns="0">
            <a:spAutoFit/>
          </a:bodyPr>
          <a:lstStyle/>
          <a:p>
            <a:pPr algn="l"/>
            <a:r>
              <a:rPr sz="900" b="1" i="0">
                <a:solidFill>
                  <a:srgbClr val="0F172A"/>
                </a:solidFill>
                <a:latin typeface="DM Sans"/>
              </a:rPr>
              <a:t>Efficiency claim scope: </a:t>
            </a:r>
            <a:r>
              <a:rPr sz="900" b="0" i="0">
                <a:solidFill>
                  <a:srgbClr val="475569"/>
                </a:solidFill>
                <a:latin typeface="DM Sans"/>
              </a:rPr>
              <a:t>only the cost row is a fact today (Netravaad price vs our recorded orders). Every other VergeLink figure is a design target; parts were ordered on 6 Oct 2026 and bench measurement starts after delivery checks.</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Beneficiary impact: </a:t>
            </a:r>
            <a:r>
              <a:rPr sz="936" b="0" i="0">
                <a:solidFill>
                  <a:srgbClr val="475569"/>
                </a:solidFill>
                <a:latin typeface="DM Sans"/>
              </a:rPr>
              <a:t>routine fan and light changes become self-directed, so the caregiver's time goes to care that genuinely needs a person — and the user is not left waiting in the heat or dark.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System Architecture &amp; Specs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669280" cy="3035808"/>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system2.png"/>
          <p:cNvPicPr>
            <a:picLocks noChangeAspect="1"/>
          </p:cNvPicPr>
          <p:nvPr/>
        </p:nvPicPr>
        <p:blipFill>
          <a:blip r:embed="rId2"/>
          <a:stretch>
            <a:fillRect/>
          </a:stretch>
        </p:blipFill>
        <p:spPr>
          <a:xfrm>
            <a:off x="710824" y="1005840"/>
            <a:ext cx="5308335" cy="2889503"/>
          </a:xfrm>
          <a:prstGeom prst="rect">
            <a:avLst/>
          </a:prstGeom>
        </p:spPr>
      </p:pic>
      <p:sp>
        <p:nvSpPr>
          <p:cNvPr id="162" name="TextBox 161"/>
          <p:cNvSpPr txBox="1"/>
          <p:nvPr/>
        </p:nvSpPr>
        <p:spPr>
          <a:xfrm>
            <a:off x="530352" y="4014215"/>
            <a:ext cx="5669280" cy="182880"/>
          </a:xfrm>
          <a:prstGeom prst="rect">
            <a:avLst/>
          </a:prstGeom>
          <a:noFill/>
        </p:spPr>
        <p:txBody>
          <a:bodyPr wrap="square" anchor="t" lIns="0" rIns="0" tIns="0" bIns="0">
            <a:spAutoFit/>
          </a:bodyPr>
          <a:lstStyle/>
          <a:p>
            <a:pPr algn="l"/>
            <a:r>
              <a:rPr sz="861" b="0" i="0">
                <a:solidFill>
                  <a:srgbClr val="64748B"/>
                </a:solidFill>
                <a:latin typeface="DM Sans"/>
              </a:rPr>
              <a:t>Figure: System block diagram — worn sensing unit, laptop application, and mains-side relay.</a:t>
            </a:r>
          </a:p>
        </p:txBody>
      </p:sp>
      <p:sp>
        <p:nvSpPr>
          <p:cNvPr id="163" name="Rounded Rectangle 162"/>
          <p:cNvSpPr/>
          <p:nvPr/>
        </p:nvSpPr>
        <p:spPr>
          <a:xfrm>
            <a:off x="530352" y="4279392"/>
            <a:ext cx="5669280" cy="1280160"/>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398264"/>
            <a:ext cx="155448" cy="155448"/>
          </a:xfrm>
          <a:prstGeom prst="rect">
            <a:avLst/>
          </a:prstGeom>
        </p:spPr>
      </p:pic>
      <p:sp>
        <p:nvSpPr>
          <p:cNvPr id="165" name="TextBox 164"/>
          <p:cNvSpPr txBox="1"/>
          <p:nvPr/>
        </p:nvSpPr>
        <p:spPr>
          <a:xfrm>
            <a:off x="932688" y="4370832"/>
            <a:ext cx="5157216" cy="219456"/>
          </a:xfrm>
          <a:prstGeom prst="rect">
            <a:avLst/>
          </a:prstGeom>
          <a:noFill/>
        </p:spPr>
        <p:txBody>
          <a:bodyPr wrap="square" anchor="t" lIns="0" rIns="0" tIns="0" bIns="0">
            <a:spAutoFit/>
          </a:bodyPr>
          <a:lstStyle/>
          <a:p>
            <a:pPr algn="l"/>
            <a:r>
              <a:rPr sz="1125" b="1" i="0">
                <a:solidFill>
                  <a:srgbClr val="0F172A"/>
                </a:solidFill>
                <a:latin typeface="DM Sans"/>
              </a:rPr>
              <a:t>Firmware / logic flow</a:t>
            </a:r>
          </a:p>
        </p:txBody>
      </p:sp>
      <p:sp>
        <p:nvSpPr>
          <p:cNvPr id="166" name="TextBox 165"/>
          <p:cNvSpPr txBox="1"/>
          <p:nvPr/>
        </p:nvSpPr>
        <p:spPr>
          <a:xfrm>
            <a:off x="694944" y="4645152"/>
            <a:ext cx="5394960" cy="914400"/>
          </a:xfrm>
          <a:prstGeom prst="rect">
            <a:avLst/>
          </a:prstGeom>
          <a:noFill/>
        </p:spPr>
        <p:txBody>
          <a:bodyPr wrap="square" anchor="t" lIns="0" rIns="0" tIns="0" bIns="0">
            <a:spAutoFit/>
          </a:bodyPr>
          <a:lstStyle/>
          <a:p>
            <a:pPr marL="155448" indent="-155448">
              <a:spcAft>
                <a:spcPts val="300"/>
              </a:spcAft>
              <a:buClr>
                <a:srgbClr val="059669"/>
              </a:buClr>
              <a:buSzPct val="110000"/>
              <a:buFont typeface="Arial"/>
              <a:buChar char="▪"/>
            </a:pPr>
            <a:r>
              <a:rPr sz="940" b="0" i="0">
                <a:solidFill>
                  <a:srgbClr val="334155"/>
                </a:solidFill>
                <a:latin typeface="DM Sans"/>
              </a:rPr>
              <a:t>ESP32 samples 3 analog channels + I2C sensors, timestamps every frame, flags clipping / stale / missing data.</a:t>
            </a:r>
          </a:p>
          <a:p>
            <a:pPr marL="155448" indent="-155448">
              <a:spcAft>
                <a:spcPts val="300"/>
              </a:spcAft>
              <a:buClr>
                <a:srgbClr val="059669"/>
              </a:buClr>
              <a:buSzPct val="110000"/>
              <a:buFont typeface="Arial"/>
              <a:buChar char="▪"/>
            </a:pPr>
            <a:r>
              <a:rPr sz="940" b="0" i="0">
                <a:solidFill>
                  <a:srgbClr val="334155"/>
                </a:solidFill>
                <a:latin typeface="DM Sans"/>
              </a:rPr>
              <a:t>Laptop state machine: DISARMED → ARMED → CANDIDATE (gaze + depth agree) → CONFIRMED (clench in window) → ON/OFF.</a:t>
            </a:r>
          </a:p>
        </p:txBody>
      </p:sp>
      <p:sp>
        <p:nvSpPr>
          <p:cNvPr id="167" name="Rounded Rectangle 166"/>
          <p:cNvSpPr/>
          <p:nvPr/>
        </p:nvSpPr>
        <p:spPr>
          <a:xfrm>
            <a:off x="6382512" y="932688"/>
            <a:ext cx="5276088"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6537960" y="1069848"/>
            <a:ext cx="155448" cy="155448"/>
          </a:xfrm>
          <a:prstGeom prst="rect">
            <a:avLst/>
          </a:prstGeom>
        </p:spPr>
      </p:pic>
      <p:sp>
        <p:nvSpPr>
          <p:cNvPr id="169" name="TextBox 168"/>
          <p:cNvSpPr txBox="1"/>
          <p:nvPr/>
        </p:nvSpPr>
        <p:spPr>
          <a:xfrm>
            <a:off x="6775704" y="1042415"/>
            <a:ext cx="4700016" cy="219456"/>
          </a:xfrm>
          <a:prstGeom prst="rect">
            <a:avLst/>
          </a:prstGeom>
          <a:noFill/>
        </p:spPr>
        <p:txBody>
          <a:bodyPr wrap="square" anchor="t" lIns="0" rIns="0" tIns="0" bIns="0">
            <a:spAutoFit/>
          </a:bodyPr>
          <a:lstStyle/>
          <a:p>
            <a:pPr algn="l"/>
            <a:r>
              <a:rPr sz="1125" b="1" i="0">
                <a:solidFill>
                  <a:srgbClr val="0F172A"/>
                </a:solidFill>
                <a:latin typeface="DM Sans"/>
              </a:rPr>
              <a:t>Engineering Target Specifications &amp; Subsystems</a:t>
            </a:r>
          </a:p>
        </p:txBody>
      </p:sp>
      <p:graphicFrame>
        <p:nvGraphicFramePr>
          <p:cNvPr id="170" name="Table 169"/>
          <p:cNvGraphicFramePr>
            <a:graphicFrameLocks noGrp="1"/>
          </p:cNvGraphicFramePr>
          <p:nvPr/>
        </p:nvGraphicFramePr>
        <p:xfrm>
          <a:off x="6537960" y="1371600"/>
          <a:ext cx="4965192" cy="3621024"/>
        </p:xfrm>
        <a:graphic>
          <a:graphicData uri="http://schemas.openxmlformats.org/drawingml/2006/table">
            <a:tbl>
              <a:tblPr firstRow="0" bandRow="0">
                <a:tableStyleId>{2D5ABB26-0587-4C30-8999-92F81FD0307C}</a:tableStyleId>
              </a:tblPr>
              <a:tblGrid>
                <a:gridCol w="1051560"/>
                <a:gridCol w="1691640"/>
                <a:gridCol w="2221992"/>
              </a:tblGrid>
              <a:tr h="402336">
                <a:tc>
                  <a:txBody>
                    <a:bodyPr wrap="square"/>
                    <a:lstStyle/>
                    <a:p>
                      <a:r>
                        <a:rPr sz="860" b="1" i="0">
                          <a:solidFill>
                            <a:srgbClr val="0F172A"/>
                          </a:solidFill>
                          <a:latin typeface="DM Sans"/>
                        </a:rPr>
                        <a:t>Parameter</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Target spec</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Selected hardware / protocol</a:t>
                      </a:r>
                    </a:p>
                  </a:txBody>
                  <a:tcPr marL="54864" marR="54864" marT="27432" marB="27432" anchor="ctr">
                    <a:lnL w="6350">
                      <a:noFill/>
                    </a:lnL>
                    <a:lnR w="6350">
                      <a:noFill/>
                    </a:lnR>
                    <a:lnT w="6350">
                      <a:noFill/>
                    </a:lnT>
                    <a:lnB w="6350">
                      <a:solidFill>
                        <a:srgbClr val="E2E8F0"/>
                      </a:solidFill>
                    </a:lnB>
                    <a:solidFill>
                      <a:srgbClr val="E2E8F0"/>
                    </a:solidFill>
                  </a:tcPr>
                </a:tc>
              </a:tr>
              <a:tr h="402336">
                <a:tc>
                  <a:txBody>
                    <a:bodyPr wrap="square"/>
                    <a:lstStyle/>
                    <a:p>
                      <a:r>
                        <a:rPr sz="860" b="1" i="0">
                          <a:solidFill>
                            <a:srgbClr val="0F172A"/>
                          </a:solidFill>
                          <a:latin typeface="DM Sans"/>
                        </a:rPr>
                        <a:t>Eye signals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ch bilateral horizontal EOG</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Upside Down Labs BioAmp EXG Pill</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Intent confirm</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1 ch jaw EMG (72–720 Hz band)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Muscle BioAmp BisCute</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Depth evidence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8×8 zones, up to 4 m</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ST VL53L5CX ToF, I2C</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Head motion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6-axis, motion rejection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MPU6500 (GY-6500), I2C</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Controller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3× ADC1, ≥ 500 Hz/ch</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ESP32-WROOM-32 DevKit</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Laptop link</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&lt; 50 ms frame latency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Bluetooth Classic serial</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Appliances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ch, explicit ON / OFF</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SONOFF DUALR3 via home Wi-Fi</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Power</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8 h session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10,000 mAh bank; MCP1700 3V3_AFE</a:t>
                      </a:r>
                    </a:p>
                  </a:txBody>
                  <a:tcPr marL="54864" marR="54864" marT="27432" marB="27432" anchor="ctr">
                    <a:lnL w="6350">
                      <a:noFill/>
                    </a:lnL>
                    <a:lnR w="6350">
                      <a:noFill/>
                    </a:lnR>
                    <a:lnT w="6350">
                      <a:noFill/>
                    </a:lnT>
                    <a:lnB w="6350">
                      <a:solidFill>
                        <a:srgbClr val="E2E8F0"/>
                      </a:solidFill>
                    </a:lnB>
                    <a:solidFill>
                      <a:srgbClr val="F8FAFC"/>
                    </a:solidFill>
                  </a:tcPr>
                </a:tc>
              </a:tr>
            </a:tbl>
          </a:graphicData>
        </a:graphic>
      </p:graphicFrame>
      <p:sp>
        <p:nvSpPr>
          <p:cNvPr id="171" name="TextBox 170"/>
          <p:cNvSpPr txBox="1"/>
          <p:nvPr/>
        </p:nvSpPr>
        <p:spPr>
          <a:xfrm>
            <a:off x="6537960" y="5074920"/>
            <a:ext cx="4983480" cy="457200"/>
          </a:xfrm>
          <a:prstGeom prst="rect">
            <a:avLst/>
          </a:prstGeom>
          <a:noFill/>
        </p:spPr>
        <p:txBody>
          <a:bodyPr wrap="square" anchor="t" lIns="0" rIns="0" tIns="0" bIns="0">
            <a:spAutoFit/>
          </a:bodyPr>
          <a:lstStyle/>
          <a:p>
            <a:pPr algn="l"/>
            <a:r>
              <a:rPr sz="861" b="0" i="1">
                <a:solidFill>
                  <a:srgbClr val="64748B"/>
                </a:solidFill>
                <a:latin typeface="DM Sans"/>
              </a:rPr>
              <a:t>All rate, latency and runtime values are targets to be verified at bring-up.</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Architecture rationale: </a:t>
            </a:r>
            <a:r>
              <a:rPr sz="936" b="0" i="0">
                <a:solidFill>
                  <a:srgbClr val="475569"/>
                </a:solidFill>
                <a:latin typeface="DM Sans"/>
              </a:rPr>
              <a:t>analog inputs use ADC1 only because ESP32 ADC2 cannot be used while the radio runs; the bio-amps get their own MCP1700 rail; the body-worn unit has no wired path to mains — commands reach the relay only over Wi-Fi.</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CAD Design &amp; Mechanical Specs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431536" cy="254203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cad_exploded.png"/>
          <p:cNvPicPr>
            <a:picLocks noChangeAspect="1"/>
          </p:cNvPicPr>
          <p:nvPr/>
        </p:nvPicPr>
        <p:blipFill>
          <a:blip r:embed="rId2"/>
          <a:stretch>
            <a:fillRect/>
          </a:stretch>
        </p:blipFill>
        <p:spPr>
          <a:xfrm>
            <a:off x="2009968" y="1005840"/>
            <a:ext cx="2472303" cy="2395727"/>
          </a:xfrm>
          <a:prstGeom prst="rect">
            <a:avLst/>
          </a:prstGeom>
        </p:spPr>
      </p:pic>
      <p:sp>
        <p:nvSpPr>
          <p:cNvPr id="162" name="TextBox 161"/>
          <p:cNvSpPr txBox="1"/>
          <p:nvPr/>
        </p:nvSpPr>
        <p:spPr>
          <a:xfrm>
            <a:off x="530352" y="3511296"/>
            <a:ext cx="5431536" cy="182880"/>
          </a:xfrm>
          <a:prstGeom prst="rect">
            <a:avLst/>
          </a:prstGeom>
          <a:noFill/>
        </p:spPr>
        <p:txBody>
          <a:bodyPr wrap="square" anchor="t" lIns="0" rIns="0" tIns="0" bIns="0">
            <a:spAutoFit/>
          </a:bodyPr>
          <a:lstStyle/>
          <a:p>
            <a:pPr algn="l"/>
            <a:r>
              <a:rPr sz="861" b="0" i="0">
                <a:solidFill>
                  <a:srgbClr val="64748B"/>
                </a:solidFill>
                <a:latin typeface="DM Sans"/>
              </a:rPr>
              <a:t>Figure: FreeCAD 1.1 exploded assembly — enclosure 116×92×30 mm, pod 64×30×16 mm.</a:t>
            </a:r>
          </a:p>
        </p:txBody>
      </p:sp>
      <p:sp>
        <p:nvSpPr>
          <p:cNvPr id="163" name="Rounded Rectangle 162"/>
          <p:cNvSpPr/>
          <p:nvPr/>
        </p:nvSpPr>
        <p:spPr>
          <a:xfrm>
            <a:off x="530352" y="3785615"/>
            <a:ext cx="1874519" cy="153619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cad_iso_assembled.png"/>
          <p:cNvPicPr>
            <a:picLocks noChangeAspect="1"/>
          </p:cNvPicPr>
          <p:nvPr/>
        </p:nvPicPr>
        <p:blipFill>
          <a:blip r:embed="rId15"/>
          <a:stretch>
            <a:fillRect/>
          </a:stretch>
        </p:blipFill>
        <p:spPr>
          <a:xfrm>
            <a:off x="603503" y="3904999"/>
            <a:ext cx="1728216" cy="1297424"/>
          </a:xfrm>
          <a:prstGeom prst="rect">
            <a:avLst/>
          </a:prstGeom>
        </p:spPr>
      </p:pic>
      <p:sp>
        <p:nvSpPr>
          <p:cNvPr id="165" name="Rounded Rectangle 164"/>
          <p:cNvSpPr/>
          <p:nvPr/>
        </p:nvSpPr>
        <p:spPr>
          <a:xfrm>
            <a:off x="2532888" y="3785615"/>
            <a:ext cx="3429000" cy="153619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6" name="Picture 165" descr="fea_plot.png"/>
          <p:cNvPicPr>
            <a:picLocks noChangeAspect="1"/>
          </p:cNvPicPr>
          <p:nvPr/>
        </p:nvPicPr>
        <p:blipFill>
          <a:blip r:embed="rId16"/>
          <a:stretch>
            <a:fillRect/>
          </a:stretch>
        </p:blipFill>
        <p:spPr>
          <a:xfrm>
            <a:off x="3065929" y="3822191"/>
            <a:ext cx="2362917" cy="1463039"/>
          </a:xfrm>
          <a:prstGeom prst="rect">
            <a:avLst/>
          </a:prstGeom>
        </p:spPr>
      </p:pic>
      <p:sp>
        <p:nvSpPr>
          <p:cNvPr id="167" name="TextBox 166"/>
          <p:cNvSpPr txBox="1"/>
          <p:nvPr/>
        </p:nvSpPr>
        <p:spPr>
          <a:xfrm>
            <a:off x="530352" y="5358384"/>
            <a:ext cx="1874519" cy="182880"/>
          </a:xfrm>
          <a:prstGeom prst="rect">
            <a:avLst/>
          </a:prstGeom>
          <a:noFill/>
        </p:spPr>
        <p:txBody>
          <a:bodyPr wrap="square" anchor="t" lIns="0" rIns="0" tIns="0" bIns="0">
            <a:spAutoFit/>
          </a:bodyPr>
          <a:lstStyle/>
          <a:p>
            <a:pPr algn="l"/>
            <a:r>
              <a:rPr sz="861" b="0" i="0">
                <a:solidFill>
                  <a:srgbClr val="64748B"/>
                </a:solidFill>
                <a:latin typeface="DM Sans"/>
              </a:rPr>
              <a:t>Assembled view.</a:t>
            </a:r>
          </a:p>
        </p:txBody>
      </p:sp>
      <p:sp>
        <p:nvSpPr>
          <p:cNvPr id="168" name="TextBox 167"/>
          <p:cNvSpPr txBox="1"/>
          <p:nvPr/>
        </p:nvSpPr>
        <p:spPr>
          <a:xfrm>
            <a:off x="2532888" y="5358384"/>
            <a:ext cx="3429000" cy="182880"/>
          </a:xfrm>
          <a:prstGeom prst="rect">
            <a:avLst/>
          </a:prstGeom>
          <a:noFill/>
        </p:spPr>
        <p:txBody>
          <a:bodyPr wrap="square" anchor="t" lIns="0" rIns="0" tIns="0" bIns="0">
            <a:spAutoFit/>
          </a:bodyPr>
          <a:lstStyle/>
          <a:p>
            <a:pPr algn="l"/>
            <a:r>
              <a:rPr sz="861" b="0" i="0">
                <a:solidFill>
                  <a:srgbClr val="64748B"/>
                </a:solidFill>
                <a:latin typeface="DM Sans"/>
              </a:rPr>
              <a:t>CalculiX FEA of the strap loop (von Mises).</a:t>
            </a:r>
          </a:p>
        </p:txBody>
      </p:sp>
      <p:sp>
        <p:nvSpPr>
          <p:cNvPr id="169" name="Rounded Rectangle 168"/>
          <p:cNvSpPr/>
          <p:nvPr/>
        </p:nvSpPr>
        <p:spPr>
          <a:xfrm>
            <a:off x="6227064" y="932688"/>
            <a:ext cx="5431536"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image.png"/>
          <p:cNvPicPr>
            <a:picLocks noChangeAspect="1"/>
          </p:cNvPicPr>
          <p:nvPr/>
        </p:nvPicPr>
        <p:blipFill>
          <a:blip r:embed="rId12"/>
          <a:stretch>
            <a:fillRect/>
          </a:stretch>
        </p:blipFill>
        <p:spPr>
          <a:xfrm>
            <a:off x="6400800" y="1069848"/>
            <a:ext cx="155448" cy="155448"/>
          </a:xfrm>
          <a:prstGeom prst="rect">
            <a:avLst/>
          </a:prstGeom>
        </p:spPr>
      </p:pic>
      <p:sp>
        <p:nvSpPr>
          <p:cNvPr id="171" name="TextBox 170"/>
          <p:cNvSpPr txBox="1"/>
          <p:nvPr/>
        </p:nvSpPr>
        <p:spPr>
          <a:xfrm>
            <a:off x="6638544" y="1042415"/>
            <a:ext cx="4882896" cy="219456"/>
          </a:xfrm>
          <a:prstGeom prst="rect">
            <a:avLst/>
          </a:prstGeom>
          <a:noFill/>
        </p:spPr>
        <p:txBody>
          <a:bodyPr wrap="square" anchor="t" lIns="0" rIns="0" tIns="0" bIns="0">
            <a:spAutoFit/>
          </a:bodyPr>
          <a:lstStyle/>
          <a:p>
            <a:pPr algn="l"/>
            <a:r>
              <a:rPr sz="1125" b="1" i="0">
                <a:solidFill>
                  <a:srgbClr val="0F172A"/>
                </a:solidFill>
                <a:latin typeface="DM Sans"/>
              </a:rPr>
              <a:t>Mechanical Validation &amp; FEA Stress Report</a:t>
            </a:r>
          </a:p>
        </p:txBody>
      </p:sp>
      <p:sp>
        <p:nvSpPr>
          <p:cNvPr id="172" name="TextBox 171"/>
          <p:cNvSpPr txBox="1"/>
          <p:nvPr/>
        </p:nvSpPr>
        <p:spPr>
          <a:xfrm>
            <a:off x="6400800" y="1371600"/>
            <a:ext cx="5120640" cy="4160520"/>
          </a:xfrm>
          <a:prstGeom prst="rect">
            <a:avLst/>
          </a:prstGeom>
          <a:noFill/>
        </p:spPr>
        <p:txBody>
          <a:bodyPr wrap="square" anchor="t" lIns="0" rIns="0" tIns="0" bIns="0">
            <a:spAutoFit/>
          </a:bodyPr>
          <a:lstStyle/>
          <a:p>
            <a:pPr marL="155448" indent="-155448">
              <a:spcAft>
                <a:spcPts val="600"/>
              </a:spcAft>
              <a:buClr>
                <a:srgbClr val="059669"/>
              </a:buClr>
              <a:buSzPct val="110000"/>
              <a:buFont typeface="Arial"/>
              <a:buChar char="▪"/>
            </a:pPr>
            <a:r>
              <a:rPr sz="980" b="1" i="0">
                <a:solidFill>
                  <a:srgbClr val="334155"/>
                </a:solidFill>
                <a:latin typeface="DM Sans"/>
              </a:rPr>
              <a:t>Enclosure: </a:t>
            </a:r>
            <a:r>
              <a:rPr sz="980" b="0" i="0">
                <a:solidFill>
                  <a:srgbClr val="334155"/>
                </a:solidFill>
                <a:latin typeface="DM Sans"/>
              </a:rPr>
              <a:t>2.2 mm PETG walls, 5 mm corner radii, four M2.5 standoffs on the 3×4 in perfboard pattern; ports for 3 electrode leads, pod cable, USB power and ESP32 programming; lid holes for the disarm button and 2 status LEDs.</a:t>
            </a:r>
          </a:p>
          <a:p>
            <a:pPr marL="155448" indent="-155448">
              <a:spcAft>
                <a:spcPts val="600"/>
              </a:spcAft>
              <a:buClr>
                <a:srgbClr val="059669"/>
              </a:buClr>
              <a:buSzPct val="110000"/>
              <a:buFont typeface="Arial"/>
              <a:buChar char="▪"/>
            </a:pPr>
            <a:r>
              <a:rPr sz="980" b="1" i="0">
                <a:solidFill>
                  <a:srgbClr val="334155"/>
                </a:solidFill>
                <a:latin typeface="DM Sans"/>
              </a:rPr>
              <a:t>Forehead pod: </a:t>
            </a:r>
            <a:r>
              <a:rPr sz="980" b="0" i="0">
                <a:solidFill>
                  <a:srgbClr val="334155"/>
                </a:solidFill>
                <a:latin typeface="DM Sans"/>
              </a:rPr>
              <a:t>14×10 mm ToF window, IMU on an internal shelf, 26 mm slots for an elastic headband, rear cable exit.</a:t>
            </a:r>
          </a:p>
          <a:p>
            <a:pPr marL="155448" indent="-155448">
              <a:spcAft>
                <a:spcPts val="600"/>
              </a:spcAft>
              <a:buClr>
                <a:srgbClr val="059669"/>
              </a:buClr>
              <a:buSzPct val="110000"/>
              <a:buFont typeface="Arial"/>
              <a:buChar char="▪"/>
            </a:pPr>
            <a:r>
              <a:rPr sz="980" b="1" i="0">
                <a:solidFill>
                  <a:srgbClr val="334155"/>
                </a:solidFill>
                <a:latin typeface="DM Sans"/>
              </a:rPr>
              <a:t>Material selection: </a:t>
            </a:r>
            <a:r>
              <a:rPr sz="980" b="0" i="0">
                <a:solidFill>
                  <a:srgbClr val="334155"/>
                </a:solidFill>
                <a:latin typeface="DM Sans"/>
              </a:rPr>
              <a:t>PETG over PLA (PLA softens at modest temperatures near the body and in a warm room) and over ABS (warps on an open-frame printer); printed on the college FDM printer.</a:t>
            </a:r>
          </a:p>
          <a:p>
            <a:pPr marL="155448" indent="-155448">
              <a:spcAft>
                <a:spcPts val="600"/>
              </a:spcAft>
              <a:buClr>
                <a:srgbClr val="059669"/>
              </a:buClr>
              <a:buSzPct val="110000"/>
              <a:buFont typeface="Arial"/>
              <a:buChar char="▪"/>
            </a:pPr>
            <a:r>
              <a:rPr sz="980" b="1" i="0">
                <a:solidFill>
                  <a:srgbClr val="334155"/>
                </a:solidFill>
                <a:latin typeface="DM Sans"/>
              </a:rPr>
              <a:t>FEA load case: </a:t>
            </a:r>
            <a:r>
              <a:rPr sz="980" b="0" i="0">
                <a:solidFill>
                  <a:srgbClr val="334155"/>
                </a:solidFill>
                <a:latin typeface="DM Sans"/>
              </a:rPr>
              <a:t>strap loop (30×6×6 mm, 2 mm posts, 3 mm bridge) on a 2.2 mm wall patch; wall face fixed; 50 N pull on the bridge away from the case (strap snag). 44,420-node 2nd-order tet mesh, E = 2.1 GPa, ν = 0.38.</a:t>
            </a:r>
          </a:p>
          <a:p>
            <a:pPr marL="155448" indent="-155448">
              <a:spcAft>
                <a:spcPts val="600"/>
              </a:spcAft>
              <a:buClr>
                <a:srgbClr val="059669"/>
              </a:buClr>
              <a:buSzPct val="110000"/>
              <a:buFont typeface="Arial"/>
              <a:buChar char="▪"/>
            </a:pPr>
            <a:r>
              <a:rPr sz="980" b="1" i="0">
                <a:solidFill>
                  <a:srgbClr val="334155"/>
                </a:solidFill>
                <a:latin typeface="DM Sans"/>
              </a:rPr>
              <a:t>Result: </a:t>
            </a:r>
            <a:r>
              <a:rPr sz="980" b="0" i="0">
                <a:solidFill>
                  <a:srgbClr val="334155"/>
                </a:solidFill>
                <a:latin typeface="DM Sans"/>
              </a:rPr>
              <a:t>peak von Mises 21.3 MPa at the sharp inner corner where bridge meets post; max displacement 0.20 mm. Against ~45–50 MPa typical PETG datasheet yield, FoS ≈ 2.1–2.3 (bulk).</a:t>
            </a:r>
          </a:p>
          <a:p>
            <a:pPr marL="155448" indent="-155448">
              <a:spcAft>
                <a:spcPts val="600"/>
              </a:spcAft>
              <a:buClr>
                <a:srgbClr val="059669"/>
              </a:buClr>
              <a:buSzPct val="110000"/>
              <a:buFont typeface="Arial"/>
              <a:buChar char="▪"/>
            </a:pPr>
            <a:r>
              <a:rPr sz="980" b="1" i="0">
                <a:solidFill>
                  <a:srgbClr val="334155"/>
                </a:solidFill>
                <a:latin typeface="DM Sans"/>
              </a:rPr>
              <a:t>Next action: </a:t>
            </a:r>
            <a:r>
              <a:rPr sz="980" b="0" i="0">
                <a:solidFill>
                  <a:srgbClr val="334155"/>
                </a:solidFill>
                <a:latin typeface="DM Sans"/>
              </a:rPr>
              <a:t>add a 1 mm fillet at that corner and print with layers along the load path, since FDM inter-layer strength is below bulk.</a:t>
            </a:r>
          </a:p>
        </p:txBody>
      </p:sp>
      <p:sp>
        <p:nvSpPr>
          <p:cNvPr id="173" name="Rounded Rectangle 172"/>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Design iteration: </a:t>
            </a:r>
            <a:r>
              <a:rPr sz="936" b="0" i="0">
                <a:solidFill>
                  <a:srgbClr val="475569"/>
                </a:solidFill>
                <a:latin typeface="DM Sans"/>
              </a:rPr>
              <a:t>CAD review caught the strap-loop gap modelled on the wrong side (loop was solid against the case) — corrected before FEA. Native files: VergeLink_Enclosure.FCStd / .step, VergeLink_StrapLoop_FEA.FCStd.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Electronics Schematics &amp; BOM</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669280" cy="324612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schematic_slide.png"/>
          <p:cNvPicPr>
            <a:picLocks noChangeAspect="1"/>
          </p:cNvPicPr>
          <p:nvPr/>
        </p:nvPicPr>
        <p:blipFill>
          <a:blip r:embed="rId2"/>
          <a:stretch>
            <a:fillRect/>
          </a:stretch>
        </p:blipFill>
        <p:spPr>
          <a:xfrm>
            <a:off x="603503" y="1014960"/>
            <a:ext cx="5522976" cy="3081574"/>
          </a:xfrm>
          <a:prstGeom prst="rect">
            <a:avLst/>
          </a:prstGeom>
        </p:spPr>
      </p:pic>
      <p:sp>
        <p:nvSpPr>
          <p:cNvPr id="162" name="TextBox 161"/>
          <p:cNvSpPr txBox="1"/>
          <p:nvPr/>
        </p:nvSpPr>
        <p:spPr>
          <a:xfrm>
            <a:off x="530352" y="4215384"/>
            <a:ext cx="5669280" cy="182880"/>
          </a:xfrm>
          <a:prstGeom prst="rect">
            <a:avLst/>
          </a:prstGeom>
          <a:noFill/>
        </p:spPr>
        <p:txBody>
          <a:bodyPr wrap="square" anchor="t" lIns="0" rIns="0" tIns="0" bIns="0">
            <a:spAutoFit/>
          </a:bodyPr>
          <a:lstStyle/>
          <a:p>
            <a:pPr algn="l"/>
            <a:r>
              <a:rPr sz="861" b="0" i="0">
                <a:solidFill>
                  <a:srgbClr val="64748B"/>
                </a:solidFill>
                <a:latin typeface="DM Sans"/>
              </a:rPr>
              <a:t>Figure: KiCad 10 schematic, Rev A — ERC 0 errors / 0 warnings (file VergeLink_Mainboard.kicad_sch).</a:t>
            </a:r>
          </a:p>
        </p:txBody>
      </p:sp>
      <p:sp>
        <p:nvSpPr>
          <p:cNvPr id="163" name="Rounded Rectangle 162"/>
          <p:cNvSpPr/>
          <p:nvPr/>
        </p:nvSpPr>
        <p:spPr>
          <a:xfrm>
            <a:off x="530352" y="4480560"/>
            <a:ext cx="5669280" cy="107899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599432"/>
            <a:ext cx="155448" cy="155448"/>
          </a:xfrm>
          <a:prstGeom prst="rect">
            <a:avLst/>
          </a:prstGeom>
        </p:spPr>
      </p:pic>
      <p:sp>
        <p:nvSpPr>
          <p:cNvPr id="165" name="TextBox 164"/>
          <p:cNvSpPr txBox="1"/>
          <p:nvPr/>
        </p:nvSpPr>
        <p:spPr>
          <a:xfrm>
            <a:off x="932688" y="4572000"/>
            <a:ext cx="5157216" cy="219456"/>
          </a:xfrm>
          <a:prstGeom prst="rect">
            <a:avLst/>
          </a:prstGeom>
          <a:noFill/>
        </p:spPr>
        <p:txBody>
          <a:bodyPr wrap="square" anchor="t" lIns="0" rIns="0" tIns="0" bIns="0">
            <a:spAutoFit/>
          </a:bodyPr>
          <a:lstStyle/>
          <a:p>
            <a:pPr algn="l"/>
            <a:r>
              <a:rPr sz="1125" b="1" i="0">
                <a:solidFill>
                  <a:srgbClr val="0F172A"/>
                </a:solidFill>
                <a:latin typeface="DM Sans"/>
              </a:rPr>
              <a:t>Power distribution &amp; regulation</a:t>
            </a:r>
          </a:p>
        </p:txBody>
      </p:sp>
      <p:sp>
        <p:nvSpPr>
          <p:cNvPr id="166" name="TextBox 165"/>
          <p:cNvSpPr txBox="1"/>
          <p:nvPr/>
        </p:nvSpPr>
        <p:spPr>
          <a:xfrm>
            <a:off x="694944" y="4846320"/>
            <a:ext cx="5394960" cy="731520"/>
          </a:xfrm>
          <a:prstGeom prst="rect">
            <a:avLst/>
          </a:prstGeom>
          <a:noFill/>
        </p:spPr>
        <p:txBody>
          <a:bodyPr wrap="square" anchor="t" lIns="0" rIns="0" tIns="0" bIns="0">
            <a:spAutoFit/>
          </a:bodyPr>
          <a:lstStyle/>
          <a:p>
            <a:pPr marL="155448" indent="-155448">
              <a:spcAft>
                <a:spcPts val="300"/>
              </a:spcAft>
              <a:buClr>
                <a:srgbClr val="059669"/>
              </a:buClr>
              <a:buSzPct val="110000"/>
              <a:buFont typeface="Arial"/>
              <a:buChar char="▪"/>
            </a:pPr>
            <a:r>
              <a:rPr sz="919" b="0" i="0">
                <a:solidFill>
                  <a:srgbClr val="334155"/>
                </a:solidFill>
                <a:latin typeface="DM Sans"/>
              </a:rPr>
              <a:t>Power bank 5 V → ESP32 VIN (its on-board 3V3 feeds MCU, ToF, IMU). MCP1700 (250 mA LDO, 1 µF in/out) feeds only the three bio-amps.</a:t>
            </a:r>
          </a:p>
          <a:p>
            <a:pPr marL="155448" indent="-155448">
              <a:spcAft>
                <a:spcPts val="300"/>
              </a:spcAft>
              <a:buClr>
                <a:srgbClr val="059669"/>
              </a:buClr>
              <a:buSzPct val="110000"/>
              <a:buFont typeface="Arial"/>
              <a:buChar char="▪"/>
            </a:pPr>
            <a:r>
              <a:rPr sz="919" b="0" i="0">
                <a:solidFill>
                  <a:srgbClr val="334155"/>
                </a:solidFill>
                <a:latin typeface="DM Sans"/>
              </a:rPr>
              <a:t>1 kΩ + 100 nF RC (1.6 kHz) on each ADC input; rail currents measured at bring-up.</a:t>
            </a:r>
          </a:p>
        </p:txBody>
      </p:sp>
      <p:sp>
        <p:nvSpPr>
          <p:cNvPr id="167" name="Rounded Rectangle 166"/>
          <p:cNvSpPr/>
          <p:nvPr/>
        </p:nvSpPr>
        <p:spPr>
          <a:xfrm>
            <a:off x="6382512" y="932688"/>
            <a:ext cx="5276088"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6537960" y="1069848"/>
            <a:ext cx="155448" cy="155448"/>
          </a:xfrm>
          <a:prstGeom prst="rect">
            <a:avLst/>
          </a:prstGeom>
        </p:spPr>
      </p:pic>
      <p:sp>
        <p:nvSpPr>
          <p:cNvPr id="169" name="TextBox 168"/>
          <p:cNvSpPr txBox="1"/>
          <p:nvPr/>
        </p:nvSpPr>
        <p:spPr>
          <a:xfrm>
            <a:off x="6775704" y="1042415"/>
            <a:ext cx="4700016" cy="219456"/>
          </a:xfrm>
          <a:prstGeom prst="rect">
            <a:avLst/>
          </a:prstGeom>
          <a:noFill/>
        </p:spPr>
        <p:txBody>
          <a:bodyPr wrap="square" anchor="t" lIns="0" rIns="0" tIns="0" bIns="0">
            <a:spAutoFit/>
          </a:bodyPr>
          <a:lstStyle/>
          <a:p>
            <a:pPr algn="l"/>
            <a:r>
              <a:rPr sz="1125" b="1" i="0">
                <a:solidFill>
                  <a:srgbClr val="0F172A"/>
                </a:solidFill>
                <a:latin typeface="DM Sans"/>
              </a:rPr>
              <a:t>Itemized Prototype Bill of Materials (as ordered)</a:t>
            </a:r>
          </a:p>
        </p:txBody>
      </p:sp>
      <p:graphicFrame>
        <p:nvGraphicFramePr>
          <p:cNvPr id="170" name="Table 169"/>
          <p:cNvGraphicFramePr>
            <a:graphicFrameLocks noGrp="1"/>
          </p:cNvGraphicFramePr>
          <p:nvPr/>
        </p:nvGraphicFramePr>
        <p:xfrm>
          <a:off x="6537960" y="1353312"/>
          <a:ext cx="4965192" cy="3570732"/>
        </p:xfrm>
        <a:graphic>
          <a:graphicData uri="http://schemas.openxmlformats.org/drawingml/2006/table">
            <a:tbl>
              <a:tblPr firstRow="0" bandRow="0">
                <a:tableStyleId>{2D5ABB26-0587-4C30-8999-92F81FD0307C}</a:tableStyleId>
              </a:tblPr>
              <a:tblGrid>
                <a:gridCol w="1024128"/>
                <a:gridCol w="1627632"/>
                <a:gridCol w="347472"/>
                <a:gridCol w="1143000"/>
                <a:gridCol w="822960"/>
              </a:tblGrid>
              <a:tr h="324612">
                <a:tc>
                  <a:txBody>
                    <a:bodyPr wrap="square"/>
                    <a:lstStyle/>
                    <a:p>
                      <a:r>
                        <a:rPr sz="800" b="1" i="0">
                          <a:solidFill>
                            <a:srgbClr val="0F172A"/>
                          </a:solidFill>
                          <a:latin typeface="DM Sans"/>
                        </a:rPr>
                        <a:t>Component</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Part / specification</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Qty</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Vendor (India)</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Cost ₹</a:t>
                      </a:r>
                    </a:p>
                  </a:txBody>
                  <a:tcPr marL="54864" marR="54864" marT="27432" marB="27432" anchor="ctr">
                    <a:lnL w="6350">
                      <a:noFill/>
                    </a:lnL>
                    <a:lnR w="6350">
                      <a:noFill/>
                    </a:lnR>
                    <a:lnT w="6350">
                      <a:noFill/>
                    </a:lnT>
                    <a:lnB w="6350">
                      <a:solidFill>
                        <a:srgbClr val="E2E8F0"/>
                      </a:solidFill>
                    </a:lnB>
                    <a:solidFill>
                      <a:srgbClr val="E2E8F0"/>
                    </a:solidFill>
                  </a:tcPr>
                </a:tc>
              </a:tr>
              <a:tr h="324612">
                <a:tc>
                  <a:txBody>
                    <a:bodyPr wrap="square"/>
                    <a:lstStyle/>
                    <a:p>
                      <a:r>
                        <a:rPr sz="800" b="1" i="0">
                          <a:solidFill>
                            <a:srgbClr val="0F172A"/>
                          </a:solidFill>
                          <a:latin typeface="DM Sans"/>
                        </a:rPr>
                        <a:t>EOG front-end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BioAmp EXG Pill kit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2</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Upside Down Labs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5,198.00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EMG front-end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BisCute kit + cable + electrodes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Upside Down Labs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1,346.00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Wi-Fi relay</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SONOFF DUALR3 (2 ch)</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SONOFF India</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1,665.06</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Power bank</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Portronics Aero 10, 10,000 mAh</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Portronics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1,303.00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Depth sensor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SmartElex VL53L5CX breakout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RoboTechMinds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1,096.80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MCU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ESP32-WROOM-32 38-pin DevKit</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Robu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421.00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IMU</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GY-6500 MPU6500</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FlyRobo</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345.00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LDO</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MCP1700T-3302E/TT</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2</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Robu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145.00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Passives &amp; build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Resistor kit, caps, LEDs, perfboard, wire, button, OLED, cables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lot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Robu / IHC / ElectronComponents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1,573.41</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Total (incl. GST &amp; shipping)</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13,093.27</a:t>
                      </a:r>
                    </a:p>
                  </a:txBody>
                  <a:tcPr marL="54864" marR="54864" marT="27432" marB="27432" anchor="ctr">
                    <a:lnL w="6350">
                      <a:noFill/>
                    </a:lnL>
                    <a:lnR w="6350">
                      <a:noFill/>
                    </a:lnR>
                    <a:lnT w="6350">
                      <a:noFill/>
                    </a:lnT>
                    <a:lnB w="6350">
                      <a:solidFill>
                        <a:srgbClr val="E2E8F0"/>
                      </a:solidFill>
                    </a:lnB>
                    <a:solidFill>
                      <a:srgbClr val="F0FDF4"/>
                    </a:solidFill>
                  </a:tcPr>
                </a:tc>
              </a:tr>
            </a:tbl>
          </a:graphicData>
        </a:graphic>
      </p:graphicFrame>
      <p:sp>
        <p:nvSpPr>
          <p:cNvPr id="171" name="TextBox 170"/>
          <p:cNvSpPr txBox="1"/>
          <p:nvPr/>
        </p:nvSpPr>
        <p:spPr>
          <a:xfrm>
            <a:off x="6537960" y="5212080"/>
            <a:ext cx="4983480" cy="310896"/>
          </a:xfrm>
          <a:prstGeom prst="rect">
            <a:avLst/>
          </a:prstGeom>
          <a:noFill/>
        </p:spPr>
        <p:txBody>
          <a:bodyPr wrap="square" anchor="t" lIns="0" rIns="0" tIns="0" bIns="0">
            <a:spAutoFit/>
          </a:bodyPr>
          <a:lstStyle/>
          <a:p>
            <a:pPr algn="l"/>
            <a:r>
              <a:rPr sz="861" b="0" i="1">
                <a:solidFill>
                  <a:srgbClr val="64748B"/>
                </a:solidFill>
                <a:latin typeface="DM Sans"/>
              </a:rPr>
              <a:t>Approved cap ₹16,000 → headroom ₹2,906.73 (printing, targets and electrician allowances come from this).</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Procurement status: </a:t>
            </a:r>
            <a:r>
              <a:rPr sz="936" b="0" i="0">
                <a:solidFill>
                  <a:srgbClr val="475569"/>
                </a:solidFill>
                <a:latin typeface="DM Sans"/>
              </a:rPr>
              <a:t>every part ordered from Indian sellers by 6 Oct 2026 — no imports. Delivery inventory and module-revision checks are in progress, so no lead time is claimed as met.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Your Maker Journey</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431536" cy="1335024"/>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freecad_ui_crop.png"/>
          <p:cNvPicPr>
            <a:picLocks noChangeAspect="1"/>
          </p:cNvPicPr>
          <p:nvPr/>
        </p:nvPicPr>
        <p:blipFill>
          <a:blip r:embed="rId2"/>
          <a:stretch>
            <a:fillRect/>
          </a:stretch>
        </p:blipFill>
        <p:spPr>
          <a:xfrm>
            <a:off x="566928" y="998253"/>
            <a:ext cx="5358384" cy="1203893"/>
          </a:xfrm>
          <a:prstGeom prst="rect">
            <a:avLst/>
          </a:prstGeom>
        </p:spPr>
      </p:pic>
      <p:sp>
        <p:nvSpPr>
          <p:cNvPr id="162" name="TextBox 161"/>
          <p:cNvSpPr txBox="1"/>
          <p:nvPr/>
        </p:nvSpPr>
        <p:spPr>
          <a:xfrm>
            <a:off x="530352" y="2304288"/>
            <a:ext cx="5431536" cy="182880"/>
          </a:xfrm>
          <a:prstGeom prst="rect">
            <a:avLst/>
          </a:prstGeom>
          <a:noFill/>
        </p:spPr>
        <p:txBody>
          <a:bodyPr wrap="square" anchor="t" lIns="0" rIns="0" tIns="0" bIns="0">
            <a:spAutoFit/>
          </a:bodyPr>
          <a:lstStyle/>
          <a:p>
            <a:pPr algn="l"/>
            <a:r>
              <a:rPr sz="861" b="0" i="0">
                <a:solidFill>
                  <a:srgbClr val="64748B"/>
                </a:solidFill>
                <a:latin typeface="DM Sans"/>
              </a:rPr>
              <a:t>Figure: FreeCAD 1.1 session — VergeLink_Enclosure feature tree and live model (14 Oct 2026).</a:t>
            </a:r>
          </a:p>
        </p:txBody>
      </p:sp>
      <p:sp>
        <p:nvSpPr>
          <p:cNvPr id="163" name="Rounded Rectangle 162"/>
          <p:cNvSpPr/>
          <p:nvPr/>
        </p:nvSpPr>
        <p:spPr>
          <a:xfrm>
            <a:off x="530352" y="2596896"/>
            <a:ext cx="5431536" cy="2962656"/>
          </a:xfrm>
          <a:prstGeom prst="roundRect">
            <a:avLst>
              <a:gd name="adj" fmla="val 6000"/>
            </a:avLst>
          </a:prstGeom>
          <a:solidFill>
            <a:srgbClr val="FFFFFF"/>
          </a:solidFill>
          <a:ln w="9525">
            <a:solidFill>
              <a:srgbClr val="94A3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31520" y="2743200"/>
            <a:ext cx="5029200" cy="2651760"/>
          </a:xfrm>
          <a:prstGeom prst="rect">
            <a:avLst/>
          </a:prstGeom>
          <a:noFill/>
        </p:spPr>
        <p:txBody>
          <a:bodyPr wrap="square" anchor="ctr" lIns="0" rIns="0" tIns="0" bIns="0">
            <a:spAutoFit/>
          </a:bodyPr>
          <a:lstStyle/>
          <a:p>
            <a:pPr algn="ctr"/>
            <a:r>
              <a:rPr sz="1100" b="1" i="0">
                <a:solidFill>
                  <a:srgbClr val="0369A1"/>
                </a:solidFill>
                <a:latin typeface="DM Sans"/>
              </a:rPr>
              <a:t>[Add photo]  </a:t>
            </a:r>
            <a:r>
              <a:rPr sz="1011" b="0" i="0">
                <a:solidFill>
                  <a:srgbClr val="64748B"/>
                </a:solidFill>
                <a:latin typeface="DM Sans"/>
              </a:rPr>
              <a:t>Team members soldering the perfboard / assembling the enclosure, wearing institutional ID badges, plus a joint review photo with the faculty guide.</a:t>
            </a:r>
          </a:p>
        </p:txBody>
      </p:sp>
      <p:sp>
        <p:nvSpPr>
          <p:cNvPr id="165" name="Rounded Rectangle 164"/>
          <p:cNvSpPr/>
          <p:nvPr/>
        </p:nvSpPr>
        <p:spPr>
          <a:xfrm>
            <a:off x="6227064" y="932688"/>
            <a:ext cx="5431536"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6" name="Picture 165" descr="image.png"/>
          <p:cNvPicPr>
            <a:picLocks noChangeAspect="1"/>
          </p:cNvPicPr>
          <p:nvPr/>
        </p:nvPicPr>
        <p:blipFill>
          <a:blip r:embed="rId12"/>
          <a:stretch>
            <a:fillRect/>
          </a:stretch>
        </p:blipFill>
        <p:spPr>
          <a:xfrm>
            <a:off x="6400800" y="1069848"/>
            <a:ext cx="155448" cy="155448"/>
          </a:xfrm>
          <a:prstGeom prst="rect">
            <a:avLst/>
          </a:prstGeom>
        </p:spPr>
      </p:pic>
      <p:sp>
        <p:nvSpPr>
          <p:cNvPr id="167" name="TextBox 166"/>
          <p:cNvSpPr txBox="1"/>
          <p:nvPr/>
        </p:nvSpPr>
        <p:spPr>
          <a:xfrm>
            <a:off x="6638544" y="1042415"/>
            <a:ext cx="4882896" cy="219456"/>
          </a:xfrm>
          <a:prstGeom prst="rect">
            <a:avLst/>
          </a:prstGeom>
          <a:noFill/>
        </p:spPr>
        <p:txBody>
          <a:bodyPr wrap="square" anchor="t" lIns="0" rIns="0" tIns="0" bIns="0">
            <a:spAutoFit/>
          </a:bodyPr>
          <a:lstStyle/>
          <a:p>
            <a:pPr algn="l"/>
            <a:r>
              <a:rPr sz="1125" b="1" i="0">
                <a:solidFill>
                  <a:srgbClr val="0F172A"/>
                </a:solidFill>
                <a:latin typeface="DM Sans"/>
              </a:rPr>
              <a:t>Stage 1 to Stage 2 Engineering Iterations</a:t>
            </a:r>
          </a:p>
        </p:txBody>
      </p:sp>
      <p:sp>
        <p:nvSpPr>
          <p:cNvPr id="168" name="TextBox 167"/>
          <p:cNvSpPr txBox="1"/>
          <p:nvPr/>
        </p:nvSpPr>
        <p:spPr>
          <a:xfrm>
            <a:off x="6400800" y="1371600"/>
            <a:ext cx="5120640" cy="41605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1" i="0">
                <a:solidFill>
                  <a:srgbClr val="334155"/>
                </a:solidFill>
                <a:latin typeface="DM Sans"/>
              </a:rPr>
              <a:t>Front-end pivot: </a:t>
            </a:r>
            <a:r>
              <a:rPr sz="1000" b="0" i="0">
                <a:solidFill>
                  <a:srgbClr val="334155"/>
                </a:solidFill>
                <a:latin typeface="DM Sans"/>
              </a:rPr>
              <a:t>Stage 1 planned ADS1293 + AD8232 + nRF52840. The ₹6,995 ADS1293 order was cancelled; two BioAmp EXG Pills + BisCute + ESP32 keep the build inside ₹16,000 and match the bilateral EOG set-up used in VergeIO (2025).</a:t>
            </a:r>
          </a:p>
          <a:p>
            <a:pPr marL="155448" indent="-155448">
              <a:spcAft>
                <a:spcPts val="700"/>
              </a:spcAft>
              <a:buClr>
                <a:srgbClr val="059669"/>
              </a:buClr>
              <a:buSzPct val="110000"/>
              <a:buFont typeface="Arial"/>
              <a:buChar char="▪"/>
            </a:pPr>
            <a:r>
              <a:rPr sz="1000" b="1" i="0">
                <a:solidFill>
                  <a:srgbClr val="334155"/>
                </a:solidFill>
                <a:latin typeface="DM Sans"/>
              </a:rPr>
              <a:t>Scope made honest: </a:t>
            </a:r>
            <a:r>
              <a:rPr sz="1000" b="0" i="0">
                <a:solidFill>
                  <a:srgbClr val="334155"/>
                </a:solidFill>
                <a:latin typeface="DM Sans"/>
              </a:rPr>
              <a:t>third (vertical) EOG channel, magnetometer heading, wheelchair DAC and dry electrodes are out of this build; Stage 1 simulation figures are not reported as results.</a:t>
            </a:r>
          </a:p>
          <a:p>
            <a:pPr marL="155448" indent="-155448">
              <a:spcAft>
                <a:spcPts val="700"/>
              </a:spcAft>
              <a:buClr>
                <a:srgbClr val="059669"/>
              </a:buClr>
              <a:buSzPct val="110000"/>
              <a:buFont typeface="Arial"/>
              <a:buChar char="▪"/>
            </a:pPr>
            <a:r>
              <a:rPr sz="1000" b="1" i="0">
                <a:solidFill>
                  <a:srgbClr val="334155"/>
                </a:solidFill>
                <a:latin typeface="DM Sans"/>
              </a:rPr>
              <a:t>Actuation: </a:t>
            </a:r>
            <a:r>
              <a:rPr sz="1000" b="0" i="0">
                <a:solidFill>
                  <a:srgbClr val="334155"/>
                </a:solidFill>
                <a:latin typeface="DM Sans"/>
              </a:rPr>
              <a:t>two separate MINIR4 relays replaced by one SONOFF DUALR3 — two channels in one retrofit box.</a:t>
            </a:r>
          </a:p>
          <a:p>
            <a:pPr marL="155448" indent="-155448">
              <a:spcAft>
                <a:spcPts val="700"/>
              </a:spcAft>
              <a:buClr>
                <a:srgbClr val="059669"/>
              </a:buClr>
              <a:buSzPct val="110000"/>
              <a:buFont typeface="Arial"/>
              <a:buChar char="▪"/>
            </a:pPr>
            <a:r>
              <a:rPr sz="1000" b="1" i="0">
                <a:solidFill>
                  <a:srgbClr val="334155"/>
                </a:solidFill>
                <a:latin typeface="DM Sans"/>
              </a:rPr>
              <a:t>CAD milestone: </a:t>
            </a:r>
            <a:r>
              <a:rPr sz="1000" b="0" i="0">
                <a:solidFill>
                  <a:srgbClr val="334155"/>
                </a:solidFill>
                <a:latin typeface="DM Sans"/>
              </a:rPr>
              <a:t>12-part FreeCAD assembly, STEP export and a CalculiX FEA of the strap loop completed on 14 Oct 2026.</a:t>
            </a:r>
          </a:p>
          <a:p>
            <a:pPr marL="155448" indent="-155448">
              <a:spcAft>
                <a:spcPts val="700"/>
              </a:spcAft>
              <a:buClr>
                <a:srgbClr val="059669"/>
              </a:buClr>
              <a:buSzPct val="110000"/>
              <a:buFont typeface="Arial"/>
              <a:buChar char="▪"/>
            </a:pPr>
            <a:r>
              <a:rPr sz="1000" b="1" i="0">
                <a:solidFill>
                  <a:srgbClr val="334155"/>
                </a:solidFill>
                <a:latin typeface="DM Sans"/>
              </a:rPr>
              <a:t>EDA milestone: </a:t>
            </a:r>
            <a:r>
              <a:rPr sz="1000" b="0" i="0">
                <a:solidFill>
                  <a:srgbClr val="334155"/>
                </a:solidFill>
                <a:latin typeface="DM Sans"/>
              </a:rPr>
              <a:t>KiCad 10 schematic with 21 components and 15 named nets; ERC clean (0 errors, 0 warnings) on 14 Oct 2026; netlist and BOM exported.</a:t>
            </a:r>
          </a:p>
          <a:p>
            <a:pPr marL="155448" indent="-155448">
              <a:spcAft>
                <a:spcPts val="700"/>
              </a:spcAft>
              <a:buClr>
                <a:srgbClr val="059669"/>
              </a:buClr>
              <a:buSzPct val="110000"/>
              <a:buFont typeface="Arial"/>
              <a:buChar char="▪"/>
            </a:pPr>
            <a:r>
              <a:rPr sz="1000" b="1" i="0">
                <a:solidFill>
                  <a:srgbClr val="334155"/>
                </a:solidFill>
                <a:latin typeface="DM Sans"/>
              </a:rPr>
              <a:t>Raw repository: </a:t>
            </a:r>
            <a:r>
              <a:rPr sz="1000" b="0" i="0">
                <a:solidFill>
                  <a:srgbClr val="334155"/>
                </a:solidFill>
                <a:latin typeface="DM Sans"/>
              </a:rPr>
              <a:t>github.com/amalnathkp13-boop/vergelink — native .FCStd, .step, .kicad_sch, netlist, ERC report, BOM, figures and this deck.</a:t>
            </a:r>
          </a:p>
        </p:txBody>
      </p:sp>
      <p:sp>
        <p:nvSpPr>
          <p:cNvPr id="169" name="Rounded Rectangle 168"/>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Institutional sign-off: </a:t>
            </a:r>
            <a:r>
              <a:rPr sz="936" b="0" i="0">
                <a:solidFill>
                  <a:srgbClr val="475569"/>
                </a:solidFill>
                <a:latin typeface="DM Sans"/>
              </a:rPr>
              <a:t>Faculty guide Mrs. C. Radhika, Dept. of Biomedical Engineering, VCET Erode (Batch 23BM7A) — [add review date / signature].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Safety &amp; Hazard Mitigation</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11128248" cy="2761488"/>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image.png"/>
          <p:cNvPicPr>
            <a:picLocks noChangeAspect="1"/>
          </p:cNvPicPr>
          <p:nvPr/>
        </p:nvPicPr>
        <p:blipFill>
          <a:blip r:embed="rId12"/>
          <a:stretch>
            <a:fillRect/>
          </a:stretch>
        </p:blipFill>
        <p:spPr>
          <a:xfrm>
            <a:off x="694944" y="1051560"/>
            <a:ext cx="155448" cy="155448"/>
          </a:xfrm>
          <a:prstGeom prst="rect">
            <a:avLst/>
          </a:prstGeom>
        </p:spPr>
      </p:pic>
      <p:sp>
        <p:nvSpPr>
          <p:cNvPr id="162" name="TextBox 161"/>
          <p:cNvSpPr txBox="1"/>
          <p:nvPr/>
        </p:nvSpPr>
        <p:spPr>
          <a:xfrm>
            <a:off x="932688" y="1024128"/>
            <a:ext cx="10552176" cy="219456"/>
          </a:xfrm>
          <a:prstGeom prst="rect">
            <a:avLst/>
          </a:prstGeom>
          <a:noFill/>
        </p:spPr>
        <p:txBody>
          <a:bodyPr wrap="square" anchor="t" lIns="0" rIns="0" tIns="0" bIns="0">
            <a:spAutoFit/>
          </a:bodyPr>
          <a:lstStyle/>
          <a:p>
            <a:pPr algn="l"/>
            <a:r>
              <a:rPr sz="1125" b="1" i="0">
                <a:solidFill>
                  <a:srgbClr val="0F172A"/>
                </a:solidFill>
                <a:latin typeface="DM Sans"/>
              </a:rPr>
              <a:t>FMEA Matrix — failure modes and embedded protections</a:t>
            </a:r>
          </a:p>
        </p:txBody>
      </p:sp>
      <p:graphicFrame>
        <p:nvGraphicFramePr>
          <p:cNvPr id="163" name="Table 162"/>
          <p:cNvGraphicFramePr>
            <a:graphicFrameLocks noGrp="1"/>
          </p:cNvGraphicFramePr>
          <p:nvPr/>
        </p:nvGraphicFramePr>
        <p:xfrm>
          <a:off x="694944" y="1298448"/>
          <a:ext cx="10799064" cy="2432304"/>
        </p:xfrm>
        <a:graphic>
          <a:graphicData uri="http://schemas.openxmlformats.org/drawingml/2006/table">
            <a:tbl>
              <a:tblPr firstRow="0" bandRow="0">
                <a:tableStyleId>{2D5ABB26-0587-4C30-8999-92F81FD0307C}</a:tableStyleId>
              </a:tblPr>
              <a:tblGrid>
                <a:gridCol w="2743200"/>
                <a:gridCol w="2194560"/>
                <a:gridCol w="5861304"/>
              </a:tblGrid>
              <a:tr h="347472">
                <a:tc>
                  <a:txBody>
                    <a:bodyPr wrap="square"/>
                    <a:lstStyle/>
                    <a:p>
                      <a:r>
                        <a:rPr sz="880" b="1" i="0">
                          <a:solidFill>
                            <a:srgbClr val="0F172A"/>
                          </a:solidFill>
                          <a:latin typeface="DM Sans"/>
                        </a:rPr>
                        <a:t>Failure mode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80" b="1" i="0">
                          <a:solidFill>
                            <a:srgbClr val="0F172A"/>
                          </a:solidFill>
                          <a:latin typeface="DM Sans"/>
                        </a:rPr>
                        <a:t>Potential hazard</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80" b="1" i="0">
                          <a:solidFill>
                            <a:srgbClr val="0F172A"/>
                          </a:solidFill>
                          <a:latin typeface="DM Sans"/>
                        </a:rPr>
                        <a:t>Embedded fail-safe / mitigation response</a:t>
                      </a:r>
                    </a:p>
                  </a:txBody>
                  <a:tcPr marL="54864" marR="54864" marT="27432" marB="27432" anchor="ctr">
                    <a:lnL w="6350">
                      <a:noFill/>
                    </a:lnL>
                    <a:lnR w="6350">
                      <a:noFill/>
                    </a:lnR>
                    <a:lnT w="6350">
                      <a:noFill/>
                    </a:lnT>
                    <a:lnB w="6350">
                      <a:solidFill>
                        <a:srgbClr val="E2E8F0"/>
                      </a:solidFill>
                    </a:lnB>
                    <a:solidFill>
                      <a:srgbClr val="E2E8F0"/>
                    </a:solidFill>
                  </a:tcPr>
                </a:tc>
              </a:tr>
              <a:tr h="347472">
                <a:tc>
                  <a:txBody>
                    <a:bodyPr wrap="square"/>
                    <a:lstStyle/>
                    <a:p>
                      <a:r>
                        <a:rPr sz="880" b="1" i="0">
                          <a:solidFill>
                            <a:srgbClr val="0F172A"/>
                          </a:solidFill>
                          <a:latin typeface="DM Sans"/>
                        </a:rPr>
                        <a:t>Electrodes worn while USB goes to a mains PC</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Leakage current through skin electrodes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Battery-only operation whenever electrodes are attached; program over USB only with electrodes removed; no wired path to the relay.</a:t>
                      </a:r>
                    </a:p>
                  </a:txBody>
                  <a:tcPr marL="54864" marR="54864" marT="27432" marB="27432" anchor="ctr">
                    <a:lnL w="6350">
                      <a:noFill/>
                    </a:lnL>
                    <a:lnR w="6350">
                      <a:noFill/>
                    </a:lnR>
                    <a:lnT w="6350">
                      <a:noFill/>
                    </a:lnT>
                    <a:lnB w="6350">
                      <a:solidFill>
                        <a:srgbClr val="E2E8F0"/>
                      </a:solidFill>
                    </a:lnB>
                    <a:solidFill>
                      <a:srgbClr val="FFFFFF"/>
                    </a:solidFill>
                  </a:tcPr>
                </a:tc>
              </a:tr>
              <a:tr h="347472">
                <a:tc>
                  <a:txBody>
                    <a:bodyPr wrap="square"/>
                    <a:lstStyle/>
                    <a:p>
                      <a:r>
                        <a:rPr sz="880" b="1" i="0">
                          <a:solidFill>
                            <a:srgbClr val="0F172A"/>
                          </a:solidFill>
                          <a:latin typeface="DM Sans"/>
                        </a:rPr>
                        <a:t>Chewing / talking produces jaw EMG</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Fan or light switches unintentionally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EMG accepted only inside a candidate window after gaze + depth agree; refractory period; physical disarm button (GPIO32).</a:t>
                      </a:r>
                    </a:p>
                  </a:txBody>
                  <a:tcPr marL="54864" marR="54864" marT="27432" marB="27432" anchor="ctr">
                    <a:lnL w="6350">
                      <a:noFill/>
                    </a:lnL>
                    <a:lnR w="6350">
                      <a:noFill/>
                    </a:lnR>
                    <a:lnT w="6350">
                      <a:noFill/>
                    </a:lnT>
                    <a:lnB w="6350">
                      <a:solidFill>
                        <a:srgbClr val="E2E8F0"/>
                      </a:solidFill>
                    </a:lnB>
                    <a:solidFill>
                      <a:srgbClr val="F8FAFC"/>
                    </a:solidFill>
                  </a:tcPr>
                </a:tc>
              </a:tr>
              <a:tr h="347472">
                <a:tc>
                  <a:txBody>
                    <a:bodyPr wrap="square"/>
                    <a:lstStyle/>
                    <a:p>
                      <a:r>
                        <a:rPr sz="880" b="1" i="0">
                          <a:solidFill>
                            <a:srgbClr val="0F172A"/>
                          </a:solidFill>
                          <a:latin typeface="DM Sans"/>
                        </a:rPr>
                        <a:t>EOG drift, electrode peel, sensor dropout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Wrong target selected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Clipping / stale / missing-sensor flags force FAULT; per-session calibration; candidates expire automatically.</a:t>
                      </a:r>
                    </a:p>
                  </a:txBody>
                  <a:tcPr marL="54864" marR="54864" marT="27432" marB="27432" anchor="ctr">
                    <a:lnL w="6350">
                      <a:noFill/>
                    </a:lnL>
                    <a:lnR w="6350">
                      <a:noFill/>
                    </a:lnR>
                    <a:lnT w="6350">
                      <a:noFill/>
                    </a:lnT>
                    <a:lnB w="6350">
                      <a:solidFill>
                        <a:srgbClr val="E2E8F0"/>
                      </a:solidFill>
                    </a:lnB>
                    <a:solidFill>
                      <a:srgbClr val="FFFFFF"/>
                    </a:solidFill>
                  </a:tcPr>
                </a:tc>
              </a:tr>
              <a:tr h="347472">
                <a:tc>
                  <a:txBody>
                    <a:bodyPr wrap="square"/>
                    <a:lstStyle/>
                    <a:p>
                      <a:r>
                        <a:rPr sz="880" b="1" i="0">
                          <a:solidFill>
                            <a:srgbClr val="0F172A"/>
                          </a:solidFill>
                          <a:latin typeface="DM Sans"/>
                        </a:rPr>
                        <a:t>Bluetooth or Wi-Fi link drops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Command lost or repeated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Restart in DISARMED; explicit ON / OFF (never toggle); app shows requested vs actual relay state.</a:t>
                      </a:r>
                    </a:p>
                  </a:txBody>
                  <a:tcPr marL="54864" marR="54864" marT="27432" marB="27432" anchor="ctr">
                    <a:lnL w="6350">
                      <a:noFill/>
                    </a:lnL>
                    <a:lnR w="6350">
                      <a:noFill/>
                    </a:lnR>
                    <a:lnT w="6350">
                      <a:noFill/>
                    </a:lnT>
                    <a:lnB w="6350">
                      <a:solidFill>
                        <a:srgbClr val="E2E8F0"/>
                      </a:solidFill>
                    </a:lnB>
                    <a:solidFill>
                      <a:srgbClr val="F8FAFC"/>
                    </a:solidFill>
                  </a:tcPr>
                </a:tc>
              </a:tr>
              <a:tr h="347472">
                <a:tc>
                  <a:txBody>
                    <a:bodyPr wrap="square"/>
                    <a:lstStyle/>
                    <a:p>
                      <a:r>
                        <a:rPr sz="880" b="1" i="0">
                          <a:solidFill>
                            <a:srgbClr val="0F172A"/>
                          </a:solidFill>
                          <a:latin typeface="DM Sans"/>
                        </a:rPr>
                        <a:t>Supply sag / LDO overload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Noisy or clipped bio-signals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80" b="0" i="0">
                          <a:solidFill>
                            <a:srgbClr val="334155"/>
                          </a:solidFill>
                          <a:latin typeface="DM Sans"/>
                        </a:rPr>
                        <a:t>Bio-amps on a separate MCP1700 rail; ESP32 and radio on the DevKit regulator; rail currents measured at bring-up.</a:t>
                      </a:r>
                    </a:p>
                  </a:txBody>
                  <a:tcPr marL="54864" marR="54864" marT="27432" marB="27432" anchor="ctr">
                    <a:lnL w="6350">
                      <a:noFill/>
                    </a:lnL>
                    <a:lnR w="6350">
                      <a:noFill/>
                    </a:lnR>
                    <a:lnT w="6350">
                      <a:noFill/>
                    </a:lnT>
                    <a:lnB w="6350">
                      <a:solidFill>
                        <a:srgbClr val="E2E8F0"/>
                      </a:solidFill>
                    </a:lnB>
                    <a:solidFill>
                      <a:srgbClr val="FFFFFF"/>
                    </a:solidFill>
                  </a:tcPr>
                </a:tc>
              </a:tr>
              <a:tr h="347472">
                <a:tc>
                  <a:txBody>
                    <a:bodyPr wrap="square"/>
                    <a:lstStyle/>
                    <a:p>
                      <a:r>
                        <a:rPr sz="880" b="1" i="0">
                          <a:solidFill>
                            <a:srgbClr val="0F172A"/>
                          </a:solidFill>
                          <a:latin typeface="DM Sans"/>
                        </a:rPr>
                        <a:t>Mains wiring of the DUALR3</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Shock or fire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80" b="0" i="0">
                          <a:solidFill>
                            <a:srgbClr val="334155"/>
                          </a:solidFill>
                          <a:latin typeface="DM Sans"/>
                        </a:rPr>
                        <a:t>Licensed electrician installs in existing switchboard; wall switch and fan regulator stay in service.</a:t>
                      </a:r>
                    </a:p>
                  </a:txBody>
                  <a:tcPr marL="54864" marR="54864" marT="27432" marB="27432" anchor="ctr">
                    <a:lnL w="6350">
                      <a:noFill/>
                    </a:lnL>
                    <a:lnR w="6350">
                      <a:noFill/>
                    </a:lnR>
                    <a:lnT w="6350">
                      <a:noFill/>
                    </a:lnT>
                    <a:lnB w="6350">
                      <a:solidFill>
                        <a:srgbClr val="E2E8F0"/>
                      </a:solidFill>
                    </a:lnB>
                    <a:solidFill>
                      <a:srgbClr val="F8FAFC"/>
                    </a:solidFill>
                  </a:tcPr>
                </a:tc>
              </a:tr>
            </a:tbl>
          </a:graphicData>
        </a:graphic>
      </p:graphicFrame>
      <p:sp>
        <p:nvSpPr>
          <p:cNvPr id="164" name="Rounded Rectangle 163"/>
          <p:cNvSpPr/>
          <p:nvPr/>
        </p:nvSpPr>
        <p:spPr>
          <a:xfrm>
            <a:off x="530352" y="3858768"/>
            <a:ext cx="5477256" cy="170078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image.png"/>
          <p:cNvPicPr>
            <a:picLocks noChangeAspect="1"/>
          </p:cNvPicPr>
          <p:nvPr/>
        </p:nvPicPr>
        <p:blipFill>
          <a:blip r:embed="rId12"/>
          <a:stretch>
            <a:fillRect/>
          </a:stretch>
        </p:blipFill>
        <p:spPr>
          <a:xfrm>
            <a:off x="694944" y="3977640"/>
            <a:ext cx="155448" cy="155448"/>
          </a:xfrm>
          <a:prstGeom prst="rect">
            <a:avLst/>
          </a:prstGeom>
        </p:spPr>
      </p:pic>
      <p:sp>
        <p:nvSpPr>
          <p:cNvPr id="166" name="TextBox 165"/>
          <p:cNvSpPr txBox="1"/>
          <p:nvPr/>
        </p:nvSpPr>
        <p:spPr>
          <a:xfrm>
            <a:off x="932688" y="3950208"/>
            <a:ext cx="4882896" cy="219456"/>
          </a:xfrm>
          <a:prstGeom prst="rect">
            <a:avLst/>
          </a:prstGeom>
          <a:noFill/>
        </p:spPr>
        <p:txBody>
          <a:bodyPr wrap="square" anchor="t" lIns="0" rIns="0" tIns="0" bIns="0">
            <a:spAutoFit/>
          </a:bodyPr>
          <a:lstStyle/>
          <a:p>
            <a:pPr algn="l"/>
            <a:r>
              <a:rPr sz="1125" b="1" i="0">
                <a:solidFill>
                  <a:srgbClr val="0F172A"/>
                </a:solidFill>
                <a:latin typeface="DM Sans"/>
              </a:rPr>
              <a:t>Physical fail-safes</a:t>
            </a:r>
          </a:p>
        </p:txBody>
      </p:sp>
      <p:sp>
        <p:nvSpPr>
          <p:cNvPr id="167" name="TextBox 166"/>
          <p:cNvSpPr txBox="1"/>
          <p:nvPr/>
        </p:nvSpPr>
        <p:spPr>
          <a:xfrm>
            <a:off x="694944" y="4242816"/>
            <a:ext cx="5166360" cy="1280160"/>
          </a:xfrm>
          <a:prstGeom prst="rect">
            <a:avLst/>
          </a:prstGeom>
          <a:noFill/>
        </p:spPr>
        <p:txBody>
          <a:bodyPr wrap="square" anchor="t" lIns="0" rIns="0" tIns="0" bIns="0">
            <a:spAutoFit/>
          </a:bodyPr>
          <a:lstStyle/>
          <a:p>
            <a:pPr marL="155448" indent="-155448">
              <a:spcAft>
                <a:spcPts val="500"/>
              </a:spcAft>
              <a:buClr>
                <a:srgbClr val="059669"/>
              </a:buClr>
              <a:buSzPct val="110000"/>
              <a:buFont typeface="Arial"/>
              <a:buChar char="▪"/>
            </a:pPr>
            <a:r>
              <a:rPr sz="980" b="1" i="0">
                <a:solidFill>
                  <a:srgbClr val="334155"/>
                </a:solidFill>
                <a:latin typeface="DM Sans"/>
              </a:rPr>
              <a:t>Disarm button: </a:t>
            </a:r>
            <a:r>
              <a:rPr sz="980" b="0" i="0">
                <a:solidFill>
                  <a:srgbClr val="334155"/>
                </a:solidFill>
                <a:latin typeface="DM Sans"/>
              </a:rPr>
              <a:t>momentary PSB-110 on GPIO32 drops the system to DISARMED at once.</a:t>
            </a:r>
          </a:p>
          <a:p>
            <a:pPr marL="155448" indent="-155448">
              <a:spcAft>
                <a:spcPts val="500"/>
              </a:spcAft>
              <a:buClr>
                <a:srgbClr val="059669"/>
              </a:buClr>
              <a:buSzPct val="110000"/>
              <a:buFont typeface="Arial"/>
              <a:buChar char="▪"/>
            </a:pPr>
            <a:r>
              <a:rPr sz="980" b="1" i="0">
                <a:solidFill>
                  <a:srgbClr val="334155"/>
                </a:solidFill>
                <a:latin typeface="DM Sans"/>
              </a:rPr>
              <a:t>Enclosures: </a:t>
            </a:r>
            <a:r>
              <a:rPr sz="980" b="0" i="0">
                <a:solidFill>
                  <a:srgbClr val="334155"/>
                </a:solidFill>
                <a:latin typeface="DM Sans"/>
              </a:rPr>
              <a:t>PETG case and pod cover all boards; no exposed conductors near the skin.</a:t>
            </a:r>
          </a:p>
          <a:p>
            <a:pPr marL="155448" indent="-155448">
              <a:spcAft>
                <a:spcPts val="500"/>
              </a:spcAft>
              <a:buClr>
                <a:srgbClr val="059669"/>
              </a:buClr>
              <a:buSzPct val="110000"/>
              <a:buFont typeface="Arial"/>
              <a:buChar char="▪"/>
            </a:pPr>
            <a:r>
              <a:rPr sz="980" b="1" i="0">
                <a:solidFill>
                  <a:srgbClr val="334155"/>
                </a:solidFill>
                <a:latin typeface="DM Sans"/>
              </a:rPr>
              <a:t>Isolation: </a:t>
            </a:r>
            <a:r>
              <a:rPr sz="980" b="0" i="0">
                <a:solidFill>
                  <a:srgbClr val="334155"/>
                </a:solidFill>
                <a:latin typeface="DM Sans"/>
              </a:rPr>
              <a:t>body-worn unit and mains relay share no wire — only Wi-Fi.</a:t>
            </a:r>
          </a:p>
        </p:txBody>
      </p:sp>
      <p:sp>
        <p:nvSpPr>
          <p:cNvPr id="168" name="Rounded Rectangle 167"/>
          <p:cNvSpPr/>
          <p:nvPr/>
        </p:nvSpPr>
        <p:spPr>
          <a:xfrm>
            <a:off x="6181344" y="3858768"/>
            <a:ext cx="5477256" cy="1700784"/>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image.png"/>
          <p:cNvPicPr>
            <a:picLocks noChangeAspect="1"/>
          </p:cNvPicPr>
          <p:nvPr/>
        </p:nvPicPr>
        <p:blipFill>
          <a:blip r:embed="rId12"/>
          <a:stretch>
            <a:fillRect/>
          </a:stretch>
        </p:blipFill>
        <p:spPr>
          <a:xfrm>
            <a:off x="6345936" y="3977640"/>
            <a:ext cx="155448" cy="155448"/>
          </a:xfrm>
          <a:prstGeom prst="rect">
            <a:avLst/>
          </a:prstGeom>
        </p:spPr>
      </p:pic>
      <p:sp>
        <p:nvSpPr>
          <p:cNvPr id="170" name="TextBox 169"/>
          <p:cNvSpPr txBox="1"/>
          <p:nvPr/>
        </p:nvSpPr>
        <p:spPr>
          <a:xfrm>
            <a:off x="6583680" y="3950208"/>
            <a:ext cx="4882896" cy="219456"/>
          </a:xfrm>
          <a:prstGeom prst="rect">
            <a:avLst/>
          </a:prstGeom>
          <a:noFill/>
        </p:spPr>
        <p:txBody>
          <a:bodyPr wrap="square" anchor="t" lIns="0" rIns="0" tIns="0" bIns="0">
            <a:spAutoFit/>
          </a:bodyPr>
          <a:lstStyle/>
          <a:p>
            <a:pPr algn="l"/>
            <a:r>
              <a:rPr sz="1125" b="1" i="0">
                <a:solidFill>
                  <a:srgbClr val="0F172A"/>
                </a:solidFill>
                <a:latin typeface="DM Sans"/>
              </a:rPr>
              <a:t>Standards Compliance (considered, not certified)</a:t>
            </a:r>
          </a:p>
        </p:txBody>
      </p:sp>
      <p:sp>
        <p:nvSpPr>
          <p:cNvPr id="171" name="TextBox 170"/>
          <p:cNvSpPr txBox="1"/>
          <p:nvPr/>
        </p:nvSpPr>
        <p:spPr>
          <a:xfrm>
            <a:off x="6345936" y="4242816"/>
            <a:ext cx="5166360" cy="1280160"/>
          </a:xfrm>
          <a:prstGeom prst="rect">
            <a:avLst/>
          </a:prstGeom>
          <a:noFill/>
        </p:spPr>
        <p:txBody>
          <a:bodyPr wrap="square" anchor="t" lIns="0" rIns="0" tIns="0" bIns="0">
            <a:spAutoFit/>
          </a:bodyPr>
          <a:lstStyle/>
          <a:p>
            <a:pPr marL="155448" indent="-155448">
              <a:spcAft>
                <a:spcPts val="500"/>
              </a:spcAft>
              <a:buClr>
                <a:srgbClr val="059669"/>
              </a:buClr>
              <a:buSzPct val="110000"/>
              <a:buFont typeface="Arial"/>
              <a:buChar char="▪"/>
            </a:pPr>
            <a:r>
              <a:rPr sz="980" b="1" i="0">
                <a:solidFill>
                  <a:srgbClr val="334155"/>
                </a:solidFill>
                <a:latin typeface="DM Sans"/>
              </a:rPr>
              <a:t>ISO 14971: </a:t>
            </a:r>
            <a:r>
              <a:rPr sz="980" b="0" i="0">
                <a:solidFill>
                  <a:srgbClr val="334155"/>
                </a:solidFill>
                <a:latin typeface="DM Sans"/>
              </a:rPr>
              <a:t>risk-management file started from this FMEA.</a:t>
            </a:r>
          </a:p>
          <a:p>
            <a:pPr marL="155448" indent="-155448">
              <a:spcAft>
                <a:spcPts val="500"/>
              </a:spcAft>
              <a:buClr>
                <a:srgbClr val="059669"/>
              </a:buClr>
              <a:buSzPct val="110000"/>
              <a:buFont typeface="Arial"/>
              <a:buChar char="▪"/>
            </a:pPr>
            <a:r>
              <a:rPr sz="980" b="1" i="0">
                <a:solidFill>
                  <a:srgbClr val="334155"/>
                </a:solidFill>
                <a:latin typeface="DM Sans"/>
              </a:rPr>
              <a:t>IEC 60601-1: </a:t>
            </a:r>
            <a:r>
              <a:rPr sz="980" b="0" i="0">
                <a:solidFill>
                  <a:srgbClr val="334155"/>
                </a:solidFill>
                <a:latin typeface="DM Sans"/>
              </a:rPr>
              <a:t>leakage-current principles for body-worn electrodes.</a:t>
            </a:r>
          </a:p>
          <a:p>
            <a:pPr marL="155448" indent="-155448">
              <a:spcAft>
                <a:spcPts val="500"/>
              </a:spcAft>
              <a:buClr>
                <a:srgbClr val="059669"/>
              </a:buClr>
              <a:buSzPct val="110000"/>
              <a:buFont typeface="Arial"/>
              <a:buChar char="▪"/>
            </a:pPr>
            <a:r>
              <a:rPr sz="980" b="1" i="0">
                <a:solidFill>
                  <a:srgbClr val="334155"/>
                </a:solidFill>
                <a:latin typeface="DM Sans"/>
              </a:rPr>
              <a:t>IEC 60825-1: </a:t>
            </a:r>
            <a:r>
              <a:rPr sz="980" b="0" i="0">
                <a:solidFill>
                  <a:srgbClr val="334155"/>
                </a:solidFill>
                <a:latin typeface="DM Sans"/>
              </a:rPr>
              <a:t>VL53L5CX emitter is Class 1 (per ST).</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Human testing: </a:t>
            </a:r>
            <a:r>
              <a:rPr sz="936" b="0" i="0">
                <a:solidFill>
                  <a:srgbClr val="475569"/>
                </a:solidFill>
                <a:latin typeface="DM Sans"/>
              </a:rPr>
              <a:t>electrode trials only on team members first, and volunteer sessions only after institutional ethics approval. No conformity or medical-device claim is made.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Roadmap: 4-Month Fabrication Plan</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2679192" cy="3017520"/>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76656" y="1024128"/>
            <a:ext cx="2377440" cy="457200"/>
          </a:xfrm>
          <a:prstGeom prst="rect">
            <a:avLst/>
          </a:prstGeom>
          <a:noFill/>
        </p:spPr>
        <p:txBody>
          <a:bodyPr wrap="square" anchor="t" lIns="0" rIns="0" tIns="0" bIns="0">
            <a:spAutoFit/>
          </a:bodyPr>
          <a:lstStyle/>
          <a:p>
            <a:pPr algn="l"/>
            <a:r>
              <a:rPr sz="2200" b="1" i="0">
                <a:solidFill>
                  <a:srgbClr val="0369A1"/>
                </a:solidFill>
                <a:latin typeface="Poppins"/>
              </a:rPr>
              <a:t>M1</a:t>
            </a:r>
          </a:p>
        </p:txBody>
      </p:sp>
      <p:pic>
        <p:nvPicPr>
          <p:cNvPr id="162" name="Picture 161" descr="image.png"/>
          <p:cNvPicPr>
            <a:picLocks noChangeAspect="1"/>
          </p:cNvPicPr>
          <p:nvPr/>
        </p:nvPicPr>
        <p:blipFill>
          <a:blip r:embed="rId12"/>
          <a:stretch>
            <a:fillRect/>
          </a:stretch>
        </p:blipFill>
        <p:spPr>
          <a:xfrm>
            <a:off x="658368" y="1581912"/>
            <a:ext cx="155448" cy="155448"/>
          </a:xfrm>
          <a:prstGeom prst="rect">
            <a:avLst/>
          </a:prstGeom>
        </p:spPr>
      </p:pic>
      <p:sp>
        <p:nvSpPr>
          <p:cNvPr id="163" name="TextBox 162"/>
          <p:cNvSpPr txBox="1"/>
          <p:nvPr/>
        </p:nvSpPr>
        <p:spPr>
          <a:xfrm>
            <a:off x="896112" y="1554480"/>
            <a:ext cx="2231136" cy="219456"/>
          </a:xfrm>
          <a:prstGeom prst="rect">
            <a:avLst/>
          </a:prstGeom>
          <a:noFill/>
        </p:spPr>
        <p:txBody>
          <a:bodyPr wrap="square" anchor="t" lIns="0" rIns="0" tIns="0" bIns="0">
            <a:spAutoFit/>
          </a:bodyPr>
          <a:lstStyle/>
          <a:p>
            <a:pPr algn="l"/>
            <a:r>
              <a:rPr sz="1060" b="1" i="0">
                <a:solidFill>
                  <a:srgbClr val="0F172A"/>
                </a:solidFill>
                <a:latin typeface="DM Sans"/>
              </a:rPr>
              <a:t>Oct 2026 · Fabrication</a:t>
            </a:r>
          </a:p>
        </p:txBody>
      </p:sp>
      <p:sp>
        <p:nvSpPr>
          <p:cNvPr id="164" name="TextBox 163"/>
          <p:cNvSpPr txBox="1"/>
          <p:nvPr/>
        </p:nvSpPr>
        <p:spPr>
          <a:xfrm>
            <a:off x="658368" y="1883664"/>
            <a:ext cx="2432304" cy="2011680"/>
          </a:xfrm>
          <a:prstGeom prst="rect">
            <a:avLst/>
          </a:prstGeom>
          <a:noFill/>
        </p:spPr>
        <p:txBody>
          <a:bodyPr wrap="square" anchor="t" lIns="0" rIns="0" tIns="0" bIns="0">
            <a:spAutoFit/>
          </a:bodyPr>
          <a:lstStyle/>
          <a:p>
            <a:pPr marL="155448" indent="-155448">
              <a:spcAft>
                <a:spcPts val="800"/>
              </a:spcAft>
              <a:buClr>
                <a:srgbClr val="059669"/>
              </a:buClr>
              <a:buSzPct val="110000"/>
              <a:buFont typeface="Arial"/>
              <a:buChar char="▪"/>
            </a:pPr>
            <a:r>
              <a:rPr sz="1000" b="0" i="0">
                <a:solidFill>
                  <a:srgbClr val="334155"/>
                </a:solidFill>
                <a:latin typeface="DM Sans"/>
              </a:rPr>
              <a:t>Delivery inventory and module revision checks</a:t>
            </a:r>
          </a:p>
          <a:p>
            <a:pPr marL="155448" indent="-155448">
              <a:spcAft>
                <a:spcPts val="800"/>
              </a:spcAft>
              <a:buClr>
                <a:srgbClr val="059669"/>
              </a:buClr>
              <a:buSzPct val="110000"/>
              <a:buFont typeface="Arial"/>
              <a:buChar char="▪"/>
            </a:pPr>
            <a:r>
              <a:rPr sz="1000" b="0" i="0">
                <a:solidFill>
                  <a:srgbClr val="334155"/>
                </a:solidFill>
                <a:latin typeface="DM Sans"/>
              </a:rPr>
              <a:t>Perfboard soldering per Rev A schematic</a:t>
            </a:r>
          </a:p>
          <a:p>
            <a:pPr marL="155448" indent="-155448">
              <a:spcAft>
                <a:spcPts val="800"/>
              </a:spcAft>
              <a:buClr>
                <a:srgbClr val="059669"/>
              </a:buClr>
              <a:buSzPct val="110000"/>
              <a:buFont typeface="Arial"/>
              <a:buChar char="▪"/>
            </a:pPr>
            <a:r>
              <a:rPr sz="1000" b="0" i="0">
                <a:solidFill>
                  <a:srgbClr val="334155"/>
                </a:solidFill>
                <a:latin typeface="DM Sans"/>
              </a:rPr>
              <a:t>ADC bring-up with a signal generator — no body contact yet</a:t>
            </a:r>
          </a:p>
        </p:txBody>
      </p:sp>
      <p:sp>
        <p:nvSpPr>
          <p:cNvPr id="165" name="Rounded Rectangle 164"/>
          <p:cNvSpPr/>
          <p:nvPr/>
        </p:nvSpPr>
        <p:spPr>
          <a:xfrm>
            <a:off x="3346704" y="932688"/>
            <a:ext cx="2679192" cy="3017520"/>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3493008" y="1024128"/>
            <a:ext cx="2377440" cy="457200"/>
          </a:xfrm>
          <a:prstGeom prst="rect">
            <a:avLst/>
          </a:prstGeom>
          <a:noFill/>
        </p:spPr>
        <p:txBody>
          <a:bodyPr wrap="square" anchor="t" lIns="0" rIns="0" tIns="0" bIns="0">
            <a:spAutoFit/>
          </a:bodyPr>
          <a:lstStyle/>
          <a:p>
            <a:pPr algn="l"/>
            <a:r>
              <a:rPr sz="2200" b="1" i="0">
                <a:solidFill>
                  <a:srgbClr val="0369A1"/>
                </a:solidFill>
                <a:latin typeface="Poppins"/>
              </a:rPr>
              <a:t>M2</a:t>
            </a:r>
          </a:p>
        </p:txBody>
      </p:sp>
      <p:pic>
        <p:nvPicPr>
          <p:cNvPr id="167" name="Picture 166" descr="image.png"/>
          <p:cNvPicPr>
            <a:picLocks noChangeAspect="1"/>
          </p:cNvPicPr>
          <p:nvPr/>
        </p:nvPicPr>
        <p:blipFill>
          <a:blip r:embed="rId12"/>
          <a:stretch>
            <a:fillRect/>
          </a:stretch>
        </p:blipFill>
        <p:spPr>
          <a:xfrm>
            <a:off x="3474720" y="1581912"/>
            <a:ext cx="155448" cy="155448"/>
          </a:xfrm>
          <a:prstGeom prst="rect">
            <a:avLst/>
          </a:prstGeom>
        </p:spPr>
      </p:pic>
      <p:sp>
        <p:nvSpPr>
          <p:cNvPr id="168" name="TextBox 167"/>
          <p:cNvSpPr txBox="1"/>
          <p:nvPr/>
        </p:nvSpPr>
        <p:spPr>
          <a:xfrm>
            <a:off x="3712464" y="1554480"/>
            <a:ext cx="2231136" cy="219456"/>
          </a:xfrm>
          <a:prstGeom prst="rect">
            <a:avLst/>
          </a:prstGeom>
          <a:noFill/>
        </p:spPr>
        <p:txBody>
          <a:bodyPr wrap="square" anchor="t" lIns="0" rIns="0" tIns="0" bIns="0">
            <a:spAutoFit/>
          </a:bodyPr>
          <a:lstStyle/>
          <a:p>
            <a:pPr algn="l"/>
            <a:r>
              <a:rPr sz="1060" b="1" i="0">
                <a:solidFill>
                  <a:srgbClr val="0F172A"/>
                </a:solidFill>
                <a:latin typeface="DM Sans"/>
              </a:rPr>
              <a:t>Nov 2026 · Fabrication</a:t>
            </a:r>
          </a:p>
        </p:txBody>
      </p:sp>
      <p:sp>
        <p:nvSpPr>
          <p:cNvPr id="169" name="TextBox 168"/>
          <p:cNvSpPr txBox="1"/>
          <p:nvPr/>
        </p:nvSpPr>
        <p:spPr>
          <a:xfrm>
            <a:off x="3474720" y="1883664"/>
            <a:ext cx="2432304" cy="2011680"/>
          </a:xfrm>
          <a:prstGeom prst="rect">
            <a:avLst/>
          </a:prstGeom>
          <a:noFill/>
        </p:spPr>
        <p:txBody>
          <a:bodyPr wrap="square" anchor="t" lIns="0" rIns="0" tIns="0" bIns="0">
            <a:spAutoFit/>
          </a:bodyPr>
          <a:lstStyle/>
          <a:p>
            <a:pPr marL="155448" indent="-155448">
              <a:spcAft>
                <a:spcPts val="800"/>
              </a:spcAft>
              <a:buClr>
                <a:srgbClr val="059669"/>
              </a:buClr>
              <a:buSzPct val="110000"/>
              <a:buFont typeface="Arial"/>
              <a:buChar char="▪"/>
            </a:pPr>
            <a:r>
              <a:rPr sz="1000" b="0" i="0">
                <a:solidFill>
                  <a:srgbClr val="334155"/>
                </a:solidFill>
                <a:latin typeface="DM Sans"/>
              </a:rPr>
              <a:t>PETG print of enclosure + pod on the college printer</a:t>
            </a:r>
          </a:p>
          <a:p>
            <a:pPr marL="155448" indent="-155448">
              <a:spcAft>
                <a:spcPts val="800"/>
              </a:spcAft>
              <a:buClr>
                <a:srgbClr val="059669"/>
              </a:buClr>
              <a:buSzPct val="110000"/>
              <a:buFont typeface="Arial"/>
              <a:buChar char="▪"/>
            </a:pPr>
            <a:r>
              <a:rPr sz="1000" b="0" i="0">
                <a:solidFill>
                  <a:srgbClr val="334155"/>
                </a:solidFill>
                <a:latin typeface="DM Sans"/>
              </a:rPr>
              <a:t>Firmware: timed acquisition + health flags</a:t>
            </a:r>
          </a:p>
          <a:p>
            <a:pPr marL="155448" indent="-155448">
              <a:spcAft>
                <a:spcPts val="800"/>
              </a:spcAft>
              <a:buClr>
                <a:srgbClr val="059669"/>
              </a:buClr>
              <a:buSzPct val="110000"/>
              <a:buFont typeface="Arial"/>
              <a:buChar char="▪"/>
            </a:pPr>
            <a:r>
              <a:rPr sz="1000" b="0" i="0">
                <a:solidFill>
                  <a:srgbClr val="334155"/>
                </a:solidFill>
                <a:latin typeface="DM Sans"/>
              </a:rPr>
              <a:t>Laptop app v0; electrode trials on team members</a:t>
            </a:r>
          </a:p>
        </p:txBody>
      </p:sp>
      <p:sp>
        <p:nvSpPr>
          <p:cNvPr id="170" name="Rounded Rectangle 169"/>
          <p:cNvSpPr/>
          <p:nvPr/>
        </p:nvSpPr>
        <p:spPr>
          <a:xfrm>
            <a:off x="6163056" y="932688"/>
            <a:ext cx="2679192" cy="3017520"/>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6309360" y="1024128"/>
            <a:ext cx="2377440" cy="457200"/>
          </a:xfrm>
          <a:prstGeom prst="rect">
            <a:avLst/>
          </a:prstGeom>
          <a:noFill/>
        </p:spPr>
        <p:txBody>
          <a:bodyPr wrap="square" anchor="t" lIns="0" rIns="0" tIns="0" bIns="0">
            <a:spAutoFit/>
          </a:bodyPr>
          <a:lstStyle/>
          <a:p>
            <a:pPr algn="l"/>
            <a:r>
              <a:rPr sz="2200" b="1" i="0">
                <a:solidFill>
                  <a:srgbClr val="0369A1"/>
                </a:solidFill>
                <a:latin typeface="Poppins"/>
              </a:rPr>
              <a:t>M3</a:t>
            </a:r>
          </a:p>
        </p:txBody>
      </p:sp>
      <p:pic>
        <p:nvPicPr>
          <p:cNvPr id="172" name="Picture 171" descr="image.png"/>
          <p:cNvPicPr>
            <a:picLocks noChangeAspect="1"/>
          </p:cNvPicPr>
          <p:nvPr/>
        </p:nvPicPr>
        <p:blipFill>
          <a:blip r:embed="rId12"/>
          <a:stretch>
            <a:fillRect/>
          </a:stretch>
        </p:blipFill>
        <p:spPr>
          <a:xfrm>
            <a:off x="6291072" y="1581912"/>
            <a:ext cx="155448" cy="155448"/>
          </a:xfrm>
          <a:prstGeom prst="rect">
            <a:avLst/>
          </a:prstGeom>
        </p:spPr>
      </p:pic>
      <p:sp>
        <p:nvSpPr>
          <p:cNvPr id="173" name="TextBox 172"/>
          <p:cNvSpPr txBox="1"/>
          <p:nvPr/>
        </p:nvSpPr>
        <p:spPr>
          <a:xfrm>
            <a:off x="6528816" y="1554480"/>
            <a:ext cx="2231136" cy="219456"/>
          </a:xfrm>
          <a:prstGeom prst="rect">
            <a:avLst/>
          </a:prstGeom>
          <a:noFill/>
        </p:spPr>
        <p:txBody>
          <a:bodyPr wrap="square" anchor="t" lIns="0" rIns="0" tIns="0" bIns="0">
            <a:spAutoFit/>
          </a:bodyPr>
          <a:lstStyle/>
          <a:p>
            <a:pPr algn="l"/>
            <a:r>
              <a:rPr sz="1060" b="1" i="0">
                <a:solidFill>
                  <a:srgbClr val="0F172A"/>
                </a:solidFill>
                <a:latin typeface="DM Sans"/>
              </a:rPr>
              <a:t>Dec 2026 · Integration</a:t>
            </a:r>
          </a:p>
        </p:txBody>
      </p:sp>
      <p:sp>
        <p:nvSpPr>
          <p:cNvPr id="174" name="TextBox 173"/>
          <p:cNvSpPr txBox="1"/>
          <p:nvPr/>
        </p:nvSpPr>
        <p:spPr>
          <a:xfrm>
            <a:off x="6291072" y="1883664"/>
            <a:ext cx="2432304" cy="2011680"/>
          </a:xfrm>
          <a:prstGeom prst="rect">
            <a:avLst/>
          </a:prstGeom>
          <a:noFill/>
        </p:spPr>
        <p:txBody>
          <a:bodyPr wrap="square" anchor="t" lIns="0" rIns="0" tIns="0" bIns="0">
            <a:spAutoFit/>
          </a:bodyPr>
          <a:lstStyle/>
          <a:p>
            <a:pPr marL="155448" indent="-155448">
              <a:spcAft>
                <a:spcPts val="800"/>
              </a:spcAft>
              <a:buClr>
                <a:srgbClr val="059669"/>
              </a:buClr>
              <a:buSzPct val="110000"/>
              <a:buFont typeface="Arial"/>
              <a:buChar char="▪"/>
            </a:pPr>
            <a:r>
              <a:rPr sz="1000" b="0" i="0">
                <a:solidFill>
                  <a:srgbClr val="334155"/>
                </a:solidFill>
                <a:latin typeface="DM Sans"/>
              </a:rPr>
              <a:t>Calibration routine and two-factor state machine</a:t>
            </a:r>
          </a:p>
          <a:p>
            <a:pPr marL="155448" indent="-155448">
              <a:spcAft>
                <a:spcPts val="800"/>
              </a:spcAft>
              <a:buClr>
                <a:srgbClr val="059669"/>
              </a:buClr>
              <a:buSzPct val="110000"/>
              <a:buFont typeface="Arial"/>
              <a:buChar char="▪"/>
            </a:pPr>
            <a:r>
              <a:rPr sz="1000" b="0" i="0">
                <a:solidFill>
                  <a:srgbClr val="334155"/>
                </a:solidFill>
                <a:latin typeface="DM Sans"/>
              </a:rPr>
              <a:t>ToF depth gating, IMU motion rejection</a:t>
            </a:r>
          </a:p>
          <a:p>
            <a:pPr marL="155448" indent="-155448">
              <a:spcAft>
                <a:spcPts val="800"/>
              </a:spcAft>
              <a:buClr>
                <a:srgbClr val="059669"/>
              </a:buClr>
              <a:buSzPct val="110000"/>
              <a:buFont typeface="Arial"/>
              <a:buChar char="▪"/>
            </a:pPr>
            <a:r>
              <a:rPr sz="1000" b="0" i="0">
                <a:solidFill>
                  <a:srgbClr val="334155"/>
                </a:solidFill>
                <a:latin typeface="DM Sans"/>
              </a:rPr>
              <a:t>DUALR3 fitted by an electrician and integrated</a:t>
            </a:r>
          </a:p>
        </p:txBody>
      </p:sp>
      <p:sp>
        <p:nvSpPr>
          <p:cNvPr id="175" name="Rounded Rectangle 174"/>
          <p:cNvSpPr/>
          <p:nvPr/>
        </p:nvSpPr>
        <p:spPr>
          <a:xfrm>
            <a:off x="8979408" y="932688"/>
            <a:ext cx="2679192" cy="3017520"/>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125712" y="1024128"/>
            <a:ext cx="2377440" cy="457200"/>
          </a:xfrm>
          <a:prstGeom prst="rect">
            <a:avLst/>
          </a:prstGeom>
          <a:noFill/>
        </p:spPr>
        <p:txBody>
          <a:bodyPr wrap="square" anchor="t" lIns="0" rIns="0" tIns="0" bIns="0">
            <a:spAutoFit/>
          </a:bodyPr>
          <a:lstStyle/>
          <a:p>
            <a:pPr algn="l"/>
            <a:r>
              <a:rPr sz="2200" b="1" i="0">
                <a:solidFill>
                  <a:srgbClr val="0369A1"/>
                </a:solidFill>
                <a:latin typeface="Poppins"/>
              </a:rPr>
              <a:t>M4</a:t>
            </a:r>
          </a:p>
        </p:txBody>
      </p:sp>
      <p:pic>
        <p:nvPicPr>
          <p:cNvPr id="177" name="Picture 176" descr="image.png"/>
          <p:cNvPicPr>
            <a:picLocks noChangeAspect="1"/>
          </p:cNvPicPr>
          <p:nvPr/>
        </p:nvPicPr>
        <p:blipFill>
          <a:blip r:embed="rId12"/>
          <a:stretch>
            <a:fillRect/>
          </a:stretch>
        </p:blipFill>
        <p:spPr>
          <a:xfrm>
            <a:off x="9107424" y="1581912"/>
            <a:ext cx="155448" cy="155448"/>
          </a:xfrm>
          <a:prstGeom prst="rect">
            <a:avLst/>
          </a:prstGeom>
        </p:spPr>
      </p:pic>
      <p:sp>
        <p:nvSpPr>
          <p:cNvPr id="178" name="TextBox 177"/>
          <p:cNvSpPr txBox="1"/>
          <p:nvPr/>
        </p:nvSpPr>
        <p:spPr>
          <a:xfrm>
            <a:off x="9345168" y="1554480"/>
            <a:ext cx="2231136" cy="219456"/>
          </a:xfrm>
          <a:prstGeom prst="rect">
            <a:avLst/>
          </a:prstGeom>
          <a:noFill/>
        </p:spPr>
        <p:txBody>
          <a:bodyPr wrap="square" anchor="t" lIns="0" rIns="0" tIns="0" bIns="0">
            <a:spAutoFit/>
          </a:bodyPr>
          <a:lstStyle/>
          <a:p>
            <a:pPr algn="l"/>
            <a:r>
              <a:rPr sz="1060" b="1" i="0">
                <a:solidFill>
                  <a:srgbClr val="0F172A"/>
                </a:solidFill>
                <a:latin typeface="DM Sans"/>
              </a:rPr>
              <a:t>Jan 2027 · Field demo</a:t>
            </a:r>
          </a:p>
        </p:txBody>
      </p:sp>
      <p:sp>
        <p:nvSpPr>
          <p:cNvPr id="179" name="TextBox 178"/>
          <p:cNvSpPr txBox="1"/>
          <p:nvPr/>
        </p:nvSpPr>
        <p:spPr>
          <a:xfrm>
            <a:off x="9107424" y="1883664"/>
            <a:ext cx="2432304" cy="2011680"/>
          </a:xfrm>
          <a:prstGeom prst="rect">
            <a:avLst/>
          </a:prstGeom>
          <a:noFill/>
        </p:spPr>
        <p:txBody>
          <a:bodyPr wrap="square" anchor="t" lIns="0" rIns="0" tIns="0" bIns="0">
            <a:spAutoFit/>
          </a:bodyPr>
          <a:lstStyle/>
          <a:p>
            <a:pPr marL="155448" indent="-155448">
              <a:spcAft>
                <a:spcPts val="800"/>
              </a:spcAft>
              <a:buClr>
                <a:srgbClr val="059669"/>
              </a:buClr>
              <a:buSzPct val="110000"/>
              <a:buFont typeface="Arial"/>
              <a:buChar char="▪"/>
            </a:pPr>
            <a:r>
              <a:rPr sz="1000" b="0" i="0">
                <a:solidFill>
                  <a:srgbClr val="334155"/>
                </a:solidFill>
                <a:latin typeface="DM Sans"/>
              </a:rPr>
              <a:t>Timed trials: accuracy, false triggers, latency</a:t>
            </a:r>
          </a:p>
          <a:p>
            <a:pPr marL="155448" indent="-155448">
              <a:spcAft>
                <a:spcPts val="800"/>
              </a:spcAft>
              <a:buClr>
                <a:srgbClr val="059669"/>
              </a:buClr>
              <a:buSzPct val="110000"/>
              <a:buFont typeface="Arial"/>
              <a:buChar char="▪"/>
            </a:pPr>
            <a:r>
              <a:rPr sz="1000" b="0" i="0">
                <a:solidFill>
                  <a:srgbClr val="334155"/>
                </a:solidFill>
                <a:latin typeface="DM Sans"/>
              </a:rPr>
              <a:t>Stage 2 → 3 report with measured data</a:t>
            </a:r>
          </a:p>
          <a:p>
            <a:pPr marL="155448" indent="-155448">
              <a:spcAft>
                <a:spcPts val="800"/>
              </a:spcAft>
              <a:buClr>
                <a:srgbClr val="059669"/>
              </a:buClr>
              <a:buSzPct val="110000"/>
              <a:buFont typeface="Arial"/>
              <a:buChar char="▪"/>
            </a:pPr>
            <a:r>
              <a:rPr sz="1000" b="0" i="0">
                <a:solidFill>
                  <a:srgbClr val="334155"/>
                </a:solidFill>
                <a:latin typeface="DM Sans"/>
              </a:rPr>
              <a:t>Demo rehearsal with the faculty guide</a:t>
            </a:r>
          </a:p>
        </p:txBody>
      </p:sp>
      <p:sp>
        <p:nvSpPr>
          <p:cNvPr id="180" name="Rounded Rectangle 179"/>
          <p:cNvSpPr/>
          <p:nvPr/>
        </p:nvSpPr>
        <p:spPr>
          <a:xfrm>
            <a:off x="530352" y="4114800"/>
            <a:ext cx="11128248" cy="144475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1" name="Picture 180" descr="image.png"/>
          <p:cNvPicPr>
            <a:picLocks noChangeAspect="1"/>
          </p:cNvPicPr>
          <p:nvPr/>
        </p:nvPicPr>
        <p:blipFill>
          <a:blip r:embed="rId12"/>
          <a:stretch>
            <a:fillRect/>
          </a:stretch>
        </p:blipFill>
        <p:spPr>
          <a:xfrm>
            <a:off x="694944" y="4233672"/>
            <a:ext cx="155448" cy="155448"/>
          </a:xfrm>
          <a:prstGeom prst="rect">
            <a:avLst/>
          </a:prstGeom>
        </p:spPr>
      </p:pic>
      <p:sp>
        <p:nvSpPr>
          <p:cNvPr id="182" name="TextBox 181"/>
          <p:cNvSpPr txBox="1"/>
          <p:nvPr/>
        </p:nvSpPr>
        <p:spPr>
          <a:xfrm>
            <a:off x="932688" y="4206240"/>
            <a:ext cx="10552176" cy="219456"/>
          </a:xfrm>
          <a:prstGeom prst="rect">
            <a:avLst/>
          </a:prstGeom>
          <a:noFill/>
        </p:spPr>
        <p:txBody>
          <a:bodyPr wrap="square" anchor="t" lIns="0" rIns="0" tIns="0" bIns="0">
            <a:spAutoFit/>
          </a:bodyPr>
          <a:lstStyle/>
          <a:p>
            <a:pPr algn="l"/>
            <a:r>
              <a:rPr sz="1125" b="1" i="0">
                <a:solidFill>
                  <a:srgbClr val="0F172A"/>
                </a:solidFill>
                <a:latin typeface="DM Sans"/>
              </a:rPr>
              <a:t>Stage 3 Target</a:t>
            </a:r>
          </a:p>
        </p:txBody>
      </p:sp>
      <p:sp>
        <p:nvSpPr>
          <p:cNvPr id="183" name="TextBox 182"/>
          <p:cNvSpPr txBox="1"/>
          <p:nvPr/>
        </p:nvSpPr>
        <p:spPr>
          <a:xfrm>
            <a:off x="694944" y="4498848"/>
            <a:ext cx="10789920" cy="1005840"/>
          </a:xfrm>
          <a:prstGeom prst="rect">
            <a:avLst/>
          </a:prstGeom>
          <a:noFill/>
        </p:spPr>
        <p:txBody>
          <a:bodyPr wrap="square" anchor="t" lIns="0" rIns="0" tIns="0" bIns="0">
            <a:spAutoFit/>
          </a:bodyPr>
          <a:lstStyle/>
          <a:p>
            <a:pPr marL="155448" indent="-155448">
              <a:spcAft>
                <a:spcPts val="600"/>
              </a:spcAft>
              <a:buClr>
                <a:srgbClr val="059669"/>
              </a:buClr>
              <a:buSzPct val="110000"/>
              <a:buFont typeface="Arial"/>
              <a:buChar char="▪"/>
            </a:pPr>
            <a:r>
              <a:rPr sz="1000" b="1" i="0">
                <a:solidFill>
                  <a:srgbClr val="334155"/>
                </a:solidFill>
                <a:latin typeface="DM Sans"/>
              </a:rPr>
              <a:t>Commitment: </a:t>
            </a:r>
            <a:r>
              <a:rPr sz="1000" b="0" i="0">
                <a:solidFill>
                  <a:srgbClr val="334155"/>
                </a:solidFill>
                <a:latin typeface="DM Sans"/>
              </a:rPr>
              <a:t>a working prototype that switches a real fan and light from look + clench, ready for functional testing in Stage 3.</a:t>
            </a:r>
          </a:p>
          <a:p>
            <a:pPr marL="155448" indent="-155448">
              <a:spcAft>
                <a:spcPts val="600"/>
              </a:spcAft>
              <a:buClr>
                <a:srgbClr val="059669"/>
              </a:buClr>
              <a:buSzPct val="110000"/>
              <a:buFont typeface="Arial"/>
              <a:buChar char="▪"/>
            </a:pPr>
            <a:r>
              <a:rPr sz="1000" b="1" i="0">
                <a:solidFill>
                  <a:srgbClr val="334155"/>
                </a:solidFill>
                <a:latin typeface="DM Sans"/>
              </a:rPr>
              <a:t>Evidence we will bring: </a:t>
            </a:r>
            <a:r>
              <a:rPr sz="1000" b="0" i="0">
                <a:solidFill>
                  <a:srgbClr val="334155"/>
                </a:solidFill>
                <a:latin typeface="DM Sans"/>
              </a:rPr>
              <a:t>logged accuracy, false-activation and latency numbers from scripted sessions, plus the commits and photos that show each milestone.</a:t>
            </a:r>
          </a:p>
        </p:txBody>
      </p:sp>
      <p:sp>
        <p:nvSpPr>
          <p:cNvPr id="184" name="Rounded Rectangle 183"/>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Dependencies: </a:t>
            </a:r>
            <a:r>
              <a:rPr sz="936" b="0" i="0">
                <a:solidFill>
                  <a:srgbClr val="475569"/>
                </a:solidFill>
                <a:latin typeface="DM Sans"/>
              </a:rPr>
              <a:t>parts delivery (ordered by 6 Oct 2026), college 3D-printer slot, electrician visit for the DUALR3, and ethics approval before any volunteer testing.</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Technical Challenges &amp; Risks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3611880" cy="2560320"/>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image.png"/>
          <p:cNvPicPr>
            <a:picLocks noChangeAspect="1"/>
          </p:cNvPicPr>
          <p:nvPr/>
        </p:nvPicPr>
        <p:blipFill>
          <a:blip r:embed="rId12"/>
          <a:stretch>
            <a:fillRect/>
          </a:stretch>
        </p:blipFill>
        <p:spPr>
          <a:xfrm>
            <a:off x="685800" y="1069848"/>
            <a:ext cx="155448" cy="155448"/>
          </a:xfrm>
          <a:prstGeom prst="rect">
            <a:avLst/>
          </a:prstGeom>
        </p:spPr>
      </p:pic>
      <p:sp>
        <p:nvSpPr>
          <p:cNvPr id="162" name="TextBox 161"/>
          <p:cNvSpPr txBox="1"/>
          <p:nvPr/>
        </p:nvSpPr>
        <p:spPr>
          <a:xfrm>
            <a:off x="923544"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EOG drift vs vergence</a:t>
            </a:r>
          </a:p>
        </p:txBody>
      </p:sp>
      <p:sp>
        <p:nvSpPr>
          <p:cNvPr id="163" name="TextBox 162"/>
          <p:cNvSpPr txBox="1"/>
          <p:nvPr/>
        </p:nvSpPr>
        <p:spPr>
          <a:xfrm>
            <a:off x="685800" y="1426464"/>
            <a:ext cx="3310128" cy="2011680"/>
          </a:xfrm>
          <a:prstGeom prst="rect">
            <a:avLst/>
          </a:prstGeom>
          <a:noFill/>
        </p:spPr>
        <p:txBody>
          <a:bodyPr wrap="square" anchor="t" lIns="0" rIns="0" tIns="0" bIns="0">
            <a:spAutoFit/>
          </a:bodyPr>
          <a:lstStyle/>
          <a:p>
            <a:pPr marL="155448" indent="-155448">
              <a:spcAft>
                <a:spcPts val="1000"/>
              </a:spcAft>
              <a:buClr>
                <a:srgbClr val="059669"/>
              </a:buClr>
              <a:buSzPct val="110000"/>
              <a:buFont typeface="Arial"/>
              <a:buChar char="▪"/>
            </a:pPr>
            <a:r>
              <a:rPr sz="1100" b="1" i="0">
                <a:solidFill>
                  <a:srgbClr val="334155"/>
                </a:solidFill>
                <a:latin typeface="DM Sans"/>
              </a:rPr>
              <a:t>Constraint: </a:t>
            </a:r>
            <a:r>
              <a:rPr sz="1100" b="0" i="0">
                <a:solidFill>
                  <a:srgbClr val="334155"/>
                </a:solidFill>
                <a:latin typeface="DM Sans"/>
              </a:rPr>
              <a:t>The near/far vergence change is small next to slow electrode drift. A strong high-pass filter would remove the drift — and the vergence signal with it.</a:t>
            </a:r>
          </a:p>
          <a:p>
            <a:pPr marL="155448" indent="-155448">
              <a:spcAft>
                <a:spcPts val="1000"/>
              </a:spcAft>
              <a:buClr>
                <a:srgbClr val="059669"/>
              </a:buClr>
              <a:buSzPct val="110000"/>
              <a:buFont typeface="Arial"/>
              <a:buChar char="▪"/>
            </a:pPr>
            <a:r>
              <a:rPr sz="1100" b="1" i="0">
                <a:solidFill>
                  <a:srgbClr val="334155"/>
                </a:solidFill>
                <a:latin typeface="DM Sans"/>
              </a:rPr>
              <a:t>If unmanaged: </a:t>
            </a:r>
            <a:r>
              <a:rPr sz="1100" b="0" i="0">
                <a:solidFill>
                  <a:srgbClr val="334155"/>
                </a:solidFill>
                <a:latin typeface="DM Sans"/>
              </a:rPr>
              <a:t>Wrong depth chosen; selections that wander over a session.</a:t>
            </a:r>
          </a:p>
        </p:txBody>
      </p:sp>
      <p:sp>
        <p:nvSpPr>
          <p:cNvPr id="164" name="Rounded Rectangle 163"/>
          <p:cNvSpPr/>
          <p:nvPr/>
        </p:nvSpPr>
        <p:spPr>
          <a:xfrm>
            <a:off x="4288536" y="932688"/>
            <a:ext cx="3611880" cy="2560320"/>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image.png"/>
          <p:cNvPicPr>
            <a:picLocks noChangeAspect="1"/>
          </p:cNvPicPr>
          <p:nvPr/>
        </p:nvPicPr>
        <p:blipFill>
          <a:blip r:embed="rId12"/>
          <a:stretch>
            <a:fillRect/>
          </a:stretch>
        </p:blipFill>
        <p:spPr>
          <a:xfrm>
            <a:off x="4443984" y="1069848"/>
            <a:ext cx="155448" cy="155448"/>
          </a:xfrm>
          <a:prstGeom prst="rect">
            <a:avLst/>
          </a:prstGeom>
        </p:spPr>
      </p:pic>
      <p:sp>
        <p:nvSpPr>
          <p:cNvPr id="166" name="TextBox 165"/>
          <p:cNvSpPr txBox="1"/>
          <p:nvPr/>
        </p:nvSpPr>
        <p:spPr>
          <a:xfrm>
            <a:off x="4681728"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ESP32 ADC quality</a:t>
            </a:r>
          </a:p>
        </p:txBody>
      </p:sp>
      <p:sp>
        <p:nvSpPr>
          <p:cNvPr id="167" name="TextBox 166"/>
          <p:cNvSpPr txBox="1"/>
          <p:nvPr/>
        </p:nvSpPr>
        <p:spPr>
          <a:xfrm>
            <a:off x="4443984" y="1426464"/>
            <a:ext cx="3310128" cy="2011680"/>
          </a:xfrm>
          <a:prstGeom prst="rect">
            <a:avLst/>
          </a:prstGeom>
          <a:noFill/>
        </p:spPr>
        <p:txBody>
          <a:bodyPr wrap="square" anchor="t" lIns="0" rIns="0" tIns="0" bIns="0">
            <a:spAutoFit/>
          </a:bodyPr>
          <a:lstStyle/>
          <a:p>
            <a:pPr marL="155448" indent="-155448">
              <a:spcAft>
                <a:spcPts val="1000"/>
              </a:spcAft>
              <a:buClr>
                <a:srgbClr val="059669"/>
              </a:buClr>
              <a:buSzPct val="110000"/>
              <a:buFont typeface="Arial"/>
              <a:buChar char="▪"/>
            </a:pPr>
            <a:r>
              <a:rPr sz="1100" b="1" i="0">
                <a:solidFill>
                  <a:srgbClr val="334155"/>
                </a:solidFill>
                <a:latin typeface="DM Sans"/>
              </a:rPr>
              <a:t>Constraint: </a:t>
            </a:r>
            <a:r>
              <a:rPr sz="1100" b="0" i="0">
                <a:solidFill>
                  <a:srgbClr val="334155"/>
                </a:solidFill>
                <a:latin typeface="DM Sans"/>
              </a:rPr>
              <a:t>The ESP32 ADC is non-linear near its range limits and noisy, and ADC2 is unavailable while Wi-Fi or Bluetooth runs.</a:t>
            </a:r>
          </a:p>
          <a:p>
            <a:pPr marL="155448" indent="-155448">
              <a:spcAft>
                <a:spcPts val="1000"/>
              </a:spcAft>
              <a:buClr>
                <a:srgbClr val="059669"/>
              </a:buClr>
              <a:buSzPct val="110000"/>
              <a:buFont typeface="Arial"/>
              <a:buChar char="▪"/>
            </a:pPr>
            <a:r>
              <a:rPr sz="1100" b="1" i="0">
                <a:solidFill>
                  <a:srgbClr val="334155"/>
                </a:solidFill>
                <a:latin typeface="DM Sans"/>
              </a:rPr>
              <a:t>If unmanaged: </a:t>
            </a:r>
            <a:r>
              <a:rPr sz="1100" b="0" i="0">
                <a:solidFill>
                  <a:srgbClr val="334155"/>
                </a:solidFill>
                <a:latin typeface="DM Sans"/>
              </a:rPr>
              <a:t>Distorted EOG / EMG traces; poor repeatability between units.</a:t>
            </a:r>
          </a:p>
        </p:txBody>
      </p:sp>
      <p:sp>
        <p:nvSpPr>
          <p:cNvPr id="168" name="Rounded Rectangle 167"/>
          <p:cNvSpPr/>
          <p:nvPr/>
        </p:nvSpPr>
        <p:spPr>
          <a:xfrm>
            <a:off x="8046720" y="932688"/>
            <a:ext cx="3611880" cy="2560320"/>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image.png"/>
          <p:cNvPicPr>
            <a:picLocks noChangeAspect="1"/>
          </p:cNvPicPr>
          <p:nvPr/>
        </p:nvPicPr>
        <p:blipFill>
          <a:blip r:embed="rId12"/>
          <a:stretch>
            <a:fillRect/>
          </a:stretch>
        </p:blipFill>
        <p:spPr>
          <a:xfrm>
            <a:off x="8202168" y="1069848"/>
            <a:ext cx="155448" cy="155448"/>
          </a:xfrm>
          <a:prstGeom prst="rect">
            <a:avLst/>
          </a:prstGeom>
        </p:spPr>
      </p:pic>
      <p:sp>
        <p:nvSpPr>
          <p:cNvPr id="170" name="TextBox 169"/>
          <p:cNvSpPr txBox="1"/>
          <p:nvPr/>
        </p:nvSpPr>
        <p:spPr>
          <a:xfrm>
            <a:off x="8439912"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false jaw-clench triggers</a:t>
            </a:r>
          </a:p>
        </p:txBody>
      </p:sp>
      <p:sp>
        <p:nvSpPr>
          <p:cNvPr id="171" name="TextBox 170"/>
          <p:cNvSpPr txBox="1"/>
          <p:nvPr/>
        </p:nvSpPr>
        <p:spPr>
          <a:xfrm>
            <a:off x="8202168" y="1426464"/>
            <a:ext cx="3310128" cy="2011680"/>
          </a:xfrm>
          <a:prstGeom prst="rect">
            <a:avLst/>
          </a:prstGeom>
          <a:noFill/>
        </p:spPr>
        <p:txBody>
          <a:bodyPr wrap="square" anchor="t" lIns="0" rIns="0" tIns="0" bIns="0">
            <a:spAutoFit/>
          </a:bodyPr>
          <a:lstStyle/>
          <a:p>
            <a:pPr marL="155448" indent="-155448">
              <a:spcAft>
                <a:spcPts val="1000"/>
              </a:spcAft>
              <a:buClr>
                <a:srgbClr val="059669"/>
              </a:buClr>
              <a:buSzPct val="110000"/>
              <a:buFont typeface="Arial"/>
              <a:buChar char="▪"/>
            </a:pPr>
            <a:r>
              <a:rPr sz="1100" b="1" i="0">
                <a:solidFill>
                  <a:srgbClr val="334155"/>
                </a:solidFill>
                <a:latin typeface="DM Sans"/>
              </a:rPr>
              <a:t>Constraint: </a:t>
            </a:r>
            <a:r>
              <a:rPr sz="1100" b="0" i="0">
                <a:solidFill>
                  <a:srgbClr val="334155"/>
                </a:solidFill>
                <a:latin typeface="DM Sans"/>
              </a:rPr>
              <a:t>Chewing, talking and swallowing all produce masseter EMG that can look like a deliberate clench.</a:t>
            </a:r>
          </a:p>
          <a:p>
            <a:pPr marL="155448" indent="-155448">
              <a:spcAft>
                <a:spcPts val="1000"/>
              </a:spcAft>
              <a:buClr>
                <a:srgbClr val="059669"/>
              </a:buClr>
              <a:buSzPct val="110000"/>
              <a:buFont typeface="Arial"/>
              <a:buChar char="▪"/>
            </a:pPr>
            <a:r>
              <a:rPr sz="1100" b="1" i="0">
                <a:solidFill>
                  <a:srgbClr val="334155"/>
                </a:solidFill>
                <a:latin typeface="DM Sans"/>
              </a:rPr>
              <a:t>If unmanaged: </a:t>
            </a:r>
            <a:r>
              <a:rPr sz="1100" b="0" i="0">
                <a:solidFill>
                  <a:srgbClr val="334155"/>
                </a:solidFill>
                <a:latin typeface="DM Sans"/>
              </a:rPr>
              <a:t>Unwanted fan or light switching during meals or conversation.</a:t>
            </a:r>
          </a:p>
        </p:txBody>
      </p:sp>
      <p:sp>
        <p:nvSpPr>
          <p:cNvPr id="172" name="Rounded Rectangle 171"/>
          <p:cNvSpPr/>
          <p:nvPr/>
        </p:nvSpPr>
        <p:spPr>
          <a:xfrm>
            <a:off x="530352" y="3657600"/>
            <a:ext cx="11128248" cy="190195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3" name="Picture 172" descr="image.png"/>
          <p:cNvPicPr>
            <a:picLocks noChangeAspect="1"/>
          </p:cNvPicPr>
          <p:nvPr/>
        </p:nvPicPr>
        <p:blipFill>
          <a:blip r:embed="rId12"/>
          <a:stretch>
            <a:fillRect/>
          </a:stretch>
        </p:blipFill>
        <p:spPr>
          <a:xfrm>
            <a:off x="694944" y="3794760"/>
            <a:ext cx="155448" cy="155448"/>
          </a:xfrm>
          <a:prstGeom prst="rect">
            <a:avLst/>
          </a:prstGeom>
        </p:spPr>
      </p:pic>
      <p:sp>
        <p:nvSpPr>
          <p:cNvPr id="174" name="TextBox 173"/>
          <p:cNvSpPr txBox="1"/>
          <p:nvPr/>
        </p:nvSpPr>
        <p:spPr>
          <a:xfrm>
            <a:off x="932688" y="3767328"/>
            <a:ext cx="10552176" cy="219456"/>
          </a:xfrm>
          <a:prstGeom prst="rect">
            <a:avLst/>
          </a:prstGeom>
          <a:noFill/>
        </p:spPr>
        <p:txBody>
          <a:bodyPr wrap="square" anchor="t" lIns="0" rIns="0" tIns="0" bIns="0">
            <a:spAutoFit/>
          </a:bodyPr>
          <a:lstStyle/>
          <a:p>
            <a:pPr algn="l"/>
            <a:r>
              <a:rPr sz="1125" b="1" i="0">
                <a:solidFill>
                  <a:srgbClr val="0F172A"/>
                </a:solidFill>
                <a:latin typeface="DM Sans"/>
              </a:rPr>
              <a:t>Other risks tracked</a:t>
            </a:r>
          </a:p>
        </p:txBody>
      </p:sp>
      <p:sp>
        <p:nvSpPr>
          <p:cNvPr id="175" name="TextBox 174"/>
          <p:cNvSpPr txBox="1"/>
          <p:nvPr/>
        </p:nvSpPr>
        <p:spPr>
          <a:xfrm>
            <a:off x="694944" y="4096512"/>
            <a:ext cx="10789920" cy="1417320"/>
          </a:xfrm>
          <a:prstGeom prst="rect">
            <a:avLst/>
          </a:prstGeom>
          <a:noFill/>
        </p:spPr>
        <p:txBody>
          <a:bodyPr wrap="square" anchor="t" lIns="0" rIns="0" tIns="0" bIns="0">
            <a:spAutoFit/>
          </a:bodyPr>
          <a:lstStyle/>
          <a:p>
            <a:pPr marL="155448" indent="-155448">
              <a:spcAft>
                <a:spcPts val="800"/>
              </a:spcAft>
              <a:buClr>
                <a:srgbClr val="059669"/>
              </a:buClr>
              <a:buSzPct val="110000"/>
              <a:buFont typeface="Arial"/>
              <a:buChar char="▪"/>
            </a:pPr>
            <a:r>
              <a:rPr sz="1060" b="1" i="0">
                <a:solidFill>
                  <a:srgbClr val="334155"/>
                </a:solidFill>
                <a:latin typeface="DM Sans"/>
              </a:rPr>
              <a:t>ToF on dark / glossy targets: </a:t>
            </a:r>
            <a:r>
              <a:rPr sz="1060" b="0" i="0">
                <a:solidFill>
                  <a:srgbClr val="334155"/>
                </a:solidFill>
                <a:latin typeface="DM Sans"/>
              </a:rPr>
              <a:t>measured surface distance may not match where the eyes converge.</a:t>
            </a:r>
          </a:p>
          <a:p>
            <a:pPr marL="155448" indent="-155448">
              <a:spcAft>
                <a:spcPts val="800"/>
              </a:spcAft>
              <a:buClr>
                <a:srgbClr val="059669"/>
              </a:buClr>
              <a:buSzPct val="110000"/>
              <a:buFont typeface="Arial"/>
              <a:buChar char="▪"/>
            </a:pPr>
            <a:r>
              <a:rPr sz="1060" b="1" i="0">
                <a:solidFill>
                  <a:srgbClr val="334155"/>
                </a:solidFill>
                <a:latin typeface="DM Sans"/>
              </a:rPr>
              <a:t>No magnetometer: </a:t>
            </a:r>
            <a:r>
              <a:rPr sz="1060" b="0" i="0">
                <a:solidFill>
                  <a:srgbClr val="334155"/>
                </a:solidFill>
                <a:latin typeface="DM Sans"/>
              </a:rPr>
              <a:t>MPU6500 yaw drifts, so it cannot give a stable room heading.</a:t>
            </a:r>
          </a:p>
          <a:p>
            <a:pPr marL="155448" indent="-155448">
              <a:spcAft>
                <a:spcPts val="800"/>
              </a:spcAft>
              <a:buClr>
                <a:srgbClr val="059669"/>
              </a:buClr>
              <a:buSzPct val="110000"/>
              <a:buFont typeface="Arial"/>
              <a:buChar char="▪"/>
            </a:pPr>
            <a:r>
              <a:rPr sz="1060" b="1" i="0">
                <a:solidFill>
                  <a:srgbClr val="334155"/>
                </a:solidFill>
                <a:latin typeface="DM Sans"/>
              </a:rPr>
              <a:t>Relay control path: </a:t>
            </a:r>
            <a:r>
              <a:rPr sz="1060" b="0" i="0">
                <a:solidFill>
                  <a:srgbClr val="334155"/>
                </a:solidFill>
                <a:latin typeface="DM Sans"/>
              </a:rPr>
              <a:t>the DUALR3's local (LAN) vs cloud control options must be confirmed before the app is written.</a:t>
            </a:r>
          </a:p>
        </p:txBody>
      </p:sp>
      <p:sp>
        <p:nvSpPr>
          <p:cNvPr id="176" name="Rounded Rectangle 175"/>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Why this matters: </a:t>
            </a:r>
            <a:r>
              <a:rPr sz="936" b="0" i="0">
                <a:solidFill>
                  <a:srgbClr val="475569"/>
                </a:solidFill>
                <a:latin typeface="DM Sans"/>
              </a:rPr>
              <a:t>each of these could make the demo look like it works on the bench but fail with a real user — so each one has a planned test on the next slide.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Potential Solutions &amp; Risk Mitigation</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graphicFrame>
        <p:nvGraphicFramePr>
          <p:cNvPr id="160" name="Table 159"/>
          <p:cNvGraphicFramePr>
            <a:graphicFrameLocks noGrp="1"/>
          </p:cNvGraphicFramePr>
          <p:nvPr/>
        </p:nvGraphicFramePr>
        <p:xfrm>
          <a:off x="530352" y="960120"/>
          <a:ext cx="11128248" cy="3712464"/>
        </p:xfrm>
        <a:graphic>
          <a:graphicData uri="http://schemas.openxmlformats.org/drawingml/2006/table">
            <a:tbl>
              <a:tblPr firstRow="0" bandRow="0">
                <a:tableStyleId>{2D5ABB26-0587-4C30-8999-92F81FD0307C}</a:tableStyleId>
              </a:tblPr>
              <a:tblGrid>
                <a:gridCol w="2011680"/>
                <a:gridCol w="3840480"/>
                <a:gridCol w="2651760"/>
                <a:gridCol w="2624328"/>
              </a:tblGrid>
              <a:tr h="530352">
                <a:tc>
                  <a:txBody>
                    <a:bodyPr wrap="square"/>
                    <a:lstStyle/>
                    <a:p>
                      <a:r>
                        <a:rPr sz="900" b="1" i="0">
                          <a:solidFill>
                            <a:srgbClr val="0F172A"/>
                          </a:solidFill>
                          <a:latin typeface="DM Sans"/>
                        </a:rPr>
                        <a:t>Risk</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900" b="1" i="0">
                          <a:solidFill>
                            <a:srgbClr val="0F172A"/>
                          </a:solidFill>
                          <a:latin typeface="DM Sans"/>
                        </a:rPr>
                        <a:t>Primary mitigation</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900" b="1" i="0">
                          <a:solidFill>
                            <a:srgbClr val="0F172A"/>
                          </a:solidFill>
                          <a:latin typeface="DM Sans"/>
                        </a:rPr>
                        <a:t>Backup / fallback</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900" b="1" i="0">
                          <a:solidFill>
                            <a:srgbClr val="0F172A"/>
                          </a:solidFill>
                          <a:latin typeface="DM Sans"/>
                        </a:rPr>
                        <a:t>How we will verify</a:t>
                      </a:r>
                    </a:p>
                  </a:txBody>
                  <a:tcPr marL="54864" marR="54864" marT="27432" marB="27432" anchor="ctr">
                    <a:lnL w="6350">
                      <a:noFill/>
                    </a:lnL>
                    <a:lnR w="6350">
                      <a:noFill/>
                    </a:lnR>
                    <a:lnT w="6350">
                      <a:noFill/>
                    </a:lnT>
                    <a:lnB w="6350">
                      <a:solidFill>
                        <a:srgbClr val="E2E8F0"/>
                      </a:solidFill>
                    </a:lnB>
                    <a:solidFill>
                      <a:srgbClr val="E2E8F0"/>
                    </a:solidFill>
                  </a:tcPr>
                </a:tc>
              </a:tr>
              <a:tr h="530352">
                <a:tc>
                  <a:txBody>
                    <a:bodyPr wrap="square"/>
                    <a:lstStyle/>
                    <a:p>
                      <a:r>
                        <a:rPr sz="900" b="1" i="0">
                          <a:solidFill>
                            <a:srgbClr val="0F172A"/>
                          </a:solidFill>
                          <a:latin typeface="DM Sans"/>
                        </a:rPr>
                        <a:t>EOG drift vs vergence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Keep low-frequency path; per-trial baseline removal; discrete near/far targets (as in VergeIO)</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Require ToF depth agreement before any candidate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10-min fixed-gaze recordings at both depths</a:t>
                      </a:r>
                    </a:p>
                  </a:txBody>
                  <a:tcPr marL="54864" marR="54864" marT="27432" marB="27432" anchor="ctr">
                    <a:lnL w="6350">
                      <a:noFill/>
                    </a:lnL>
                    <a:lnR w="6350">
                      <a:noFill/>
                    </a:lnR>
                    <a:lnT w="6350">
                      <a:noFill/>
                    </a:lnT>
                    <a:lnB w="6350">
                      <a:solidFill>
                        <a:srgbClr val="E2E8F0"/>
                      </a:solidFill>
                    </a:lnB>
                    <a:solidFill>
                      <a:srgbClr val="FFFFFF"/>
                    </a:solidFill>
                  </a:tcPr>
                </a:tc>
              </a:tr>
              <a:tr h="530352">
                <a:tc>
                  <a:txBody>
                    <a:bodyPr wrap="square"/>
                    <a:lstStyle/>
                    <a:p>
                      <a:r>
                        <a:rPr sz="900" b="1" i="0">
                          <a:solidFill>
                            <a:srgbClr val="0F172A"/>
                          </a:solidFill>
                          <a:latin typeface="DM Sans"/>
                        </a:rPr>
                        <a:t>ESP32 ADC quality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ADC1 only, linear input band, 1.6 kHz RC, oversampling, Espressif calibration API</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External I2C ADC from the ₹2.9k headroom</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Signal-generator sine sweep before body contact</a:t>
                      </a:r>
                    </a:p>
                  </a:txBody>
                  <a:tcPr marL="54864" marR="54864" marT="27432" marB="27432" anchor="ctr">
                    <a:lnL w="6350">
                      <a:noFill/>
                    </a:lnL>
                    <a:lnR w="6350">
                      <a:noFill/>
                    </a:lnR>
                    <a:lnT w="6350">
                      <a:noFill/>
                    </a:lnT>
                    <a:lnB w="6350">
                      <a:solidFill>
                        <a:srgbClr val="E2E8F0"/>
                      </a:solidFill>
                    </a:lnB>
                    <a:solidFill>
                      <a:srgbClr val="F8FAFC"/>
                    </a:solidFill>
                  </a:tcPr>
                </a:tc>
              </a:tr>
              <a:tr h="530352">
                <a:tc>
                  <a:txBody>
                    <a:bodyPr wrap="square"/>
                    <a:lstStyle/>
                    <a:p>
                      <a:r>
                        <a:rPr sz="900" b="1" i="0">
                          <a:solidFill>
                            <a:srgbClr val="0F172A"/>
                          </a:solidFill>
                          <a:latin typeface="DM Sans"/>
                        </a:rPr>
                        <a:t>False clench triggers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Clench must be held inside a candidate window; per-user threshold; refractory period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Raise threshold / add dwell; physical disarm</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Scripted chew / talk / rest sessions, false triggers counted</a:t>
                      </a:r>
                    </a:p>
                  </a:txBody>
                  <a:tcPr marL="54864" marR="54864" marT="27432" marB="27432" anchor="ctr">
                    <a:lnL w="6350">
                      <a:noFill/>
                    </a:lnL>
                    <a:lnR w="6350">
                      <a:noFill/>
                    </a:lnR>
                    <a:lnT w="6350">
                      <a:noFill/>
                    </a:lnT>
                    <a:lnB w="6350">
                      <a:solidFill>
                        <a:srgbClr val="E2E8F0"/>
                      </a:solidFill>
                    </a:lnB>
                    <a:solidFill>
                      <a:srgbClr val="FFFFFF"/>
                    </a:solidFill>
                  </a:tcPr>
                </a:tc>
              </a:tr>
              <a:tr h="530352">
                <a:tc>
                  <a:txBody>
                    <a:bodyPr wrap="square"/>
                    <a:lstStyle/>
                    <a:p>
                      <a:r>
                        <a:rPr sz="900" b="1" i="0">
                          <a:solidFill>
                            <a:srgbClr val="0F172A"/>
                          </a:solidFill>
                          <a:latin typeface="DM Sans"/>
                        </a:rPr>
                        <a:t>ToF on dark / glossy targets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Matte, high-contrast target cards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Use ToF only as a gate, not as gaze depth</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Distance tests on matte, dark and glossy cards</a:t>
                      </a:r>
                    </a:p>
                  </a:txBody>
                  <a:tcPr marL="54864" marR="54864" marT="27432" marB="27432" anchor="ctr">
                    <a:lnL w="6350">
                      <a:noFill/>
                    </a:lnL>
                    <a:lnR w="6350">
                      <a:noFill/>
                    </a:lnR>
                    <a:lnT w="6350">
                      <a:noFill/>
                    </a:lnT>
                    <a:lnB w="6350">
                      <a:solidFill>
                        <a:srgbClr val="E2E8F0"/>
                      </a:solidFill>
                    </a:lnB>
                    <a:solidFill>
                      <a:srgbClr val="F8FAFC"/>
                    </a:solidFill>
                  </a:tcPr>
                </a:tc>
              </a:tr>
              <a:tr h="530352">
                <a:tc>
                  <a:txBody>
                    <a:bodyPr wrap="square"/>
                    <a:lstStyle/>
                    <a:p>
                      <a:r>
                        <a:rPr sz="900" b="1" i="0">
                          <a:solidFill>
                            <a:srgbClr val="0F172A"/>
                          </a:solidFill>
                          <a:latin typeface="DM Sans"/>
                        </a:rPr>
                        <a:t>IMU yaw drift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Use IMU only to reject head motion</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Fixed-head demo posture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00" b="0" i="0">
                          <a:solidFill>
                            <a:srgbClr val="334155"/>
                          </a:solidFill>
                          <a:latin typeface="DM Sans"/>
                        </a:rPr>
                        <a:t>Logged yaw during 10-min sessions</a:t>
                      </a:r>
                    </a:p>
                  </a:txBody>
                  <a:tcPr marL="54864" marR="54864" marT="27432" marB="27432" anchor="ctr">
                    <a:lnL w="6350">
                      <a:noFill/>
                    </a:lnL>
                    <a:lnR w="6350">
                      <a:noFill/>
                    </a:lnR>
                    <a:lnT w="6350">
                      <a:noFill/>
                    </a:lnT>
                    <a:lnB w="6350">
                      <a:solidFill>
                        <a:srgbClr val="E2E8F0"/>
                      </a:solidFill>
                    </a:lnB>
                    <a:solidFill>
                      <a:srgbClr val="FFFFFF"/>
                    </a:solidFill>
                  </a:tcPr>
                </a:tc>
              </a:tr>
              <a:tr h="530352">
                <a:tc>
                  <a:txBody>
                    <a:bodyPr wrap="square"/>
                    <a:lstStyle/>
                    <a:p>
                      <a:r>
                        <a:rPr sz="900" b="1" i="0">
                          <a:solidFill>
                            <a:srgbClr val="0F172A"/>
                          </a:solidFill>
                          <a:latin typeface="DM Sans"/>
                        </a:rPr>
                        <a:t>Relay control path</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Confirm DUALR3 local-LAN control first</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Vendor app / Home Assistant bridge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00" b="0" i="0">
                          <a:solidFill>
                            <a:srgbClr val="334155"/>
                          </a:solidFill>
                          <a:latin typeface="DM Sans"/>
                        </a:rPr>
                        <a:t>Explicit ON/OFF + state readback test</a:t>
                      </a:r>
                    </a:p>
                  </a:txBody>
                  <a:tcPr marL="54864" marR="54864" marT="27432" marB="27432" anchor="ctr">
                    <a:lnL w="6350">
                      <a:noFill/>
                    </a:lnL>
                    <a:lnR w="6350">
                      <a:noFill/>
                    </a:lnR>
                    <a:lnT w="6350">
                      <a:noFill/>
                    </a:lnT>
                    <a:lnB w="6350">
                      <a:solidFill>
                        <a:srgbClr val="E2E8F0"/>
                      </a:solidFill>
                    </a:lnB>
                    <a:solidFill>
                      <a:srgbClr val="F8FAFC"/>
                    </a:solidFill>
                  </a:tcPr>
                </a:tc>
              </a:tr>
            </a:tbl>
          </a:graphicData>
        </a:graphic>
      </p:graphicFrame>
      <p:sp>
        <p:nvSpPr>
          <p:cNvPr id="161" name="Rounded Rectangle 160"/>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Verification plan: </a:t>
            </a:r>
            <a:r>
              <a:rPr sz="936" b="0" i="0">
                <a:solidFill>
                  <a:srgbClr val="475569"/>
                </a:solidFill>
                <a:latin typeface="DM Sans"/>
              </a:rPr>
              <a:t>every risk above has a bench test; results — including failures — will be reported with the Stage 3 submission.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References &amp; Sources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11128248" cy="4224528"/>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731520" y="1060704"/>
            <a:ext cx="10698480" cy="4023360"/>
          </a:xfrm>
          <a:prstGeom prst="rect">
            <a:avLst/>
          </a:prstGeom>
          <a:noFill/>
        </p:spPr>
        <p:txBody>
          <a:bodyPr wrap="square" anchor="t" lIns="0" rIns="0" tIns="0" bIns="0">
            <a:spAutoFit/>
          </a:bodyPr>
          <a:lstStyle/>
          <a:p>
            <a:pPr>
              <a:spcAft>
                <a:spcPts val="800"/>
              </a:spcAft>
            </a:pPr>
            <a:r>
              <a:rPr sz="1050" b="1" i="0">
                <a:solidFill>
                  <a:srgbClr val="059669"/>
                </a:solidFill>
                <a:latin typeface="DM Sans"/>
              </a:rPr>
              <a:t>[1]  </a:t>
            </a:r>
            <a:r>
              <a:rPr sz="1050" b="0" i="0">
                <a:solidFill>
                  <a:srgbClr val="334155"/>
                </a:solidFill>
                <a:latin typeface="DM Sans"/>
              </a:rPr>
              <a:t>Zhang X. et al., “VergeIO: Depth-Aware Eye Interaction on Glasses,” arXiv:2507.02187 (2025) — arxiv.org/abs/2507.02187</a:t>
            </a:r>
          </a:p>
          <a:p>
            <a:pPr>
              <a:spcAft>
                <a:spcPts val="800"/>
              </a:spcAft>
            </a:pPr>
            <a:r>
              <a:rPr sz="1050" b="1" i="0">
                <a:solidFill>
                  <a:srgbClr val="059669"/>
                </a:solidFill>
                <a:latin typeface="DM Sans"/>
              </a:rPr>
              <a:t>[2]  </a:t>
            </a:r>
            <a:r>
              <a:rPr sz="1050" b="0" i="0">
                <a:solidFill>
                  <a:srgbClr val="334155"/>
                </a:solidFill>
                <a:latin typeface="DM Sans"/>
              </a:rPr>
              <a:t>Upside Down Labs, BioAmp EXG Pill documentation — docs.upsidedownlabs.tech/hardware/bioamp/bioamp-exg-pill</a:t>
            </a:r>
          </a:p>
          <a:p>
            <a:pPr>
              <a:spcAft>
                <a:spcPts val="800"/>
              </a:spcAft>
            </a:pPr>
            <a:r>
              <a:rPr sz="1050" b="1" i="0">
                <a:solidFill>
                  <a:srgbClr val="059669"/>
                </a:solidFill>
                <a:latin typeface="DM Sans"/>
              </a:rPr>
              <a:t>[3]  </a:t>
            </a:r>
            <a:r>
              <a:rPr sz="1050" b="0" i="0">
                <a:solidFill>
                  <a:srgbClr val="334155"/>
                </a:solidFill>
                <a:latin typeface="DM Sans"/>
              </a:rPr>
              <a:t>Upside Down Labs, Muscle BioAmp BisCute documentation — docs.upsidedownlabs.tech/hardware/bioamp/muscle-bioamp-biscute</a:t>
            </a:r>
          </a:p>
          <a:p>
            <a:pPr>
              <a:spcAft>
                <a:spcPts val="800"/>
              </a:spcAft>
            </a:pPr>
            <a:r>
              <a:rPr sz="1050" b="1" i="0">
                <a:solidFill>
                  <a:srgbClr val="059669"/>
                </a:solidFill>
                <a:latin typeface="DM Sans"/>
              </a:rPr>
              <a:t>[4]  </a:t>
            </a:r>
            <a:r>
              <a:rPr sz="1050" b="0" i="0">
                <a:solidFill>
                  <a:srgbClr val="334155"/>
                </a:solidFill>
                <a:latin typeface="DM Sans"/>
              </a:rPr>
              <a:t>STMicroelectronics, VL53L5CX Time-of-Flight 8×8 multizone sensor — st.com/en/imaging-and-photonics-solutions/vl53l5cx.html</a:t>
            </a:r>
          </a:p>
          <a:p>
            <a:pPr>
              <a:spcAft>
                <a:spcPts val="800"/>
              </a:spcAft>
            </a:pPr>
            <a:r>
              <a:rPr sz="1050" b="1" i="0">
                <a:solidFill>
                  <a:srgbClr val="059669"/>
                </a:solidFill>
                <a:latin typeface="DM Sans"/>
              </a:rPr>
              <a:t>[5]  </a:t>
            </a:r>
            <a:r>
              <a:rPr sz="1050" b="0" i="0">
                <a:solidFill>
                  <a:srgbClr val="334155"/>
                </a:solidFill>
                <a:latin typeface="DM Sans"/>
              </a:rPr>
              <a:t>Espressif, ESP-IDF ADC (oneshot) driver and calibration documentation, ESP32 — docs.espressif.com</a:t>
            </a:r>
          </a:p>
          <a:p>
            <a:pPr>
              <a:spcAft>
                <a:spcPts val="800"/>
              </a:spcAft>
            </a:pPr>
            <a:r>
              <a:rPr sz="1050" b="1" i="0">
                <a:solidFill>
                  <a:srgbClr val="059669"/>
                </a:solidFill>
                <a:latin typeface="DM Sans"/>
              </a:rPr>
              <a:t>[6]  </a:t>
            </a:r>
            <a:r>
              <a:rPr sz="1050" b="0" i="0">
                <a:solidFill>
                  <a:srgbClr val="334155"/>
                </a:solidFill>
                <a:latin typeface="DM Sans"/>
              </a:rPr>
              <a:t>Microchip, MCP1700 low-quiescent-current LDO datasheet (DS20001826)</a:t>
            </a:r>
          </a:p>
          <a:p>
            <a:pPr>
              <a:spcAft>
                <a:spcPts val="800"/>
              </a:spcAft>
            </a:pPr>
            <a:r>
              <a:rPr sz="1050" b="1" i="0">
                <a:solidFill>
                  <a:srgbClr val="059669"/>
                </a:solidFill>
                <a:latin typeface="DM Sans"/>
              </a:rPr>
              <a:t>[7]  </a:t>
            </a:r>
            <a:r>
              <a:rPr sz="1050" b="0" i="0">
                <a:solidFill>
                  <a:srgbClr val="334155"/>
                </a:solidFill>
                <a:latin typeface="DM Sans"/>
              </a:rPr>
              <a:t>SONOFF DUALR3 two-gang smart switch — sonoff.in</a:t>
            </a:r>
          </a:p>
          <a:p>
            <a:pPr>
              <a:spcAft>
                <a:spcPts val="800"/>
              </a:spcAft>
            </a:pPr>
            <a:r>
              <a:rPr sz="1050" b="1" i="0">
                <a:solidFill>
                  <a:srgbClr val="059669"/>
                </a:solidFill>
                <a:latin typeface="DM Sans"/>
              </a:rPr>
              <a:t>[8]  </a:t>
            </a:r>
            <a:r>
              <a:rPr sz="1050" b="0" i="0">
                <a:solidFill>
                  <a:srgbClr val="334155"/>
                </a:solidFill>
                <a:latin typeface="DM Sans"/>
              </a:rPr>
              <a:t>International Health Policies, “Spinal cord injuries in India: towards a comprehensive preventive and rehabilitative response”</a:t>
            </a:r>
          </a:p>
          <a:p>
            <a:pPr>
              <a:spcAft>
                <a:spcPts val="800"/>
              </a:spcAft>
            </a:pPr>
            <a:r>
              <a:rPr sz="1050" b="1" i="0">
                <a:solidFill>
                  <a:srgbClr val="059669"/>
                </a:solidFill>
                <a:latin typeface="DM Sans"/>
              </a:rPr>
              <a:t>[9]  </a:t>
            </a:r>
            <a:r>
              <a:rPr sz="1050" b="0" i="0">
                <a:solidFill>
                  <a:srgbClr val="334155"/>
                </a:solidFill>
                <a:latin typeface="DM Sans"/>
              </a:rPr>
              <a:t>Office of the Registrar General &amp; Census Commissioner, India — Census 2011 disability data (via punarbhava.in)</a:t>
            </a:r>
          </a:p>
          <a:p>
            <a:pPr>
              <a:spcAft>
                <a:spcPts val="800"/>
              </a:spcAft>
            </a:pPr>
            <a:r>
              <a:rPr sz="1050" b="1" i="0">
                <a:solidFill>
                  <a:srgbClr val="059669"/>
                </a:solidFill>
                <a:latin typeface="DM Sans"/>
              </a:rPr>
              <a:t>[10]  </a:t>
            </a:r>
            <a:r>
              <a:rPr sz="1050" b="0" i="0">
                <a:solidFill>
                  <a:srgbClr val="334155"/>
                </a:solidFill>
                <a:latin typeface="DM Sans"/>
              </a:rPr>
              <a:t>SCIRE Project, Non-intervention attendant care studies (Robinson-Whelan &amp; Rintala 2003) — scireproject.com</a:t>
            </a:r>
          </a:p>
          <a:p>
            <a:pPr>
              <a:spcAft>
                <a:spcPts val="800"/>
              </a:spcAft>
            </a:pPr>
            <a:r>
              <a:rPr sz="1050" b="1" i="0">
                <a:solidFill>
                  <a:srgbClr val="059669"/>
                </a:solidFill>
                <a:latin typeface="DM Sans"/>
              </a:rPr>
              <a:t>[11]  </a:t>
            </a:r>
            <a:r>
              <a:rPr sz="1050" b="0" i="0">
                <a:solidFill>
                  <a:srgbClr val="334155"/>
                </a:solidFill>
                <a:latin typeface="DM Sans"/>
              </a:rPr>
              <a:t>Amrita Vishwa Vidyapeetham, news release on Netravaad eye-gesture communication device — amrita.edu</a:t>
            </a:r>
          </a:p>
        </p:txBody>
      </p:sp>
      <p:sp>
        <p:nvSpPr>
          <p:cNvPr id="162" name="Rounded Rectangle 161"/>
          <p:cNvSpPr/>
          <p:nvPr/>
        </p:nvSpPr>
        <p:spPr>
          <a:xfrm>
            <a:off x="530352" y="5340096"/>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94944" y="5340096"/>
            <a:ext cx="10835640" cy="402336"/>
          </a:xfrm>
          <a:prstGeom prst="rect">
            <a:avLst/>
          </a:prstGeom>
          <a:noFill/>
        </p:spPr>
        <p:txBody>
          <a:bodyPr wrap="square" anchor="ctr" lIns="0" rIns="0" tIns="0" bIns="0">
            <a:spAutoFit/>
          </a:bodyPr>
          <a:lstStyle/>
          <a:p>
            <a:pPr algn="l"/>
            <a:r>
              <a:rPr sz="936" b="1" i="0">
                <a:solidFill>
                  <a:srgbClr val="0F172A"/>
                </a:solidFill>
                <a:latin typeface="DM Sans"/>
              </a:rPr>
              <a:t>Data sources: </a:t>
            </a:r>
            <a:r>
              <a:rPr sz="936" b="0" i="0">
                <a:solidFill>
                  <a:srgbClr val="475569"/>
                </a:solidFill>
                <a:latin typeface="DM Sans"/>
              </a:rPr>
              <a:t>statistics on slide 2 and the Netravaad price on slides 2–3 come from references [8]–[11]; component specifications from [2]–[7].</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Image Sources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graphicFrame>
        <p:nvGraphicFramePr>
          <p:cNvPr id="160" name="Table 159"/>
          <p:cNvGraphicFramePr>
            <a:graphicFrameLocks noGrp="1"/>
          </p:cNvGraphicFramePr>
          <p:nvPr/>
        </p:nvGraphicFramePr>
        <p:xfrm>
          <a:off x="530352" y="960120"/>
          <a:ext cx="11128248" cy="3364992"/>
        </p:xfrm>
        <a:graphic>
          <a:graphicData uri="http://schemas.openxmlformats.org/drawingml/2006/table">
            <a:tbl>
              <a:tblPr firstRow="0" bandRow="0">
                <a:tableStyleId>{2D5ABB26-0587-4C30-8999-92F81FD0307C}</a:tableStyleId>
              </a:tblPr>
              <a:tblGrid>
                <a:gridCol w="822960"/>
                <a:gridCol w="4206240"/>
                <a:gridCol w="6099048"/>
              </a:tblGrid>
              <a:tr h="420624">
                <a:tc>
                  <a:txBody>
                    <a:bodyPr wrap="square"/>
                    <a:lstStyle/>
                    <a:p>
                      <a:r>
                        <a:rPr sz="960" b="1" i="0">
                          <a:solidFill>
                            <a:srgbClr val="0F172A"/>
                          </a:solidFill>
                          <a:latin typeface="DM Sans"/>
                        </a:rPr>
                        <a:t>Slide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960" b="1" i="0">
                          <a:solidFill>
                            <a:srgbClr val="0F172A"/>
                          </a:solidFill>
                          <a:latin typeface="DM Sans"/>
                        </a:rPr>
                        <a:t>Figure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960" b="1" i="0">
                          <a:solidFill>
                            <a:srgbClr val="0F172A"/>
                          </a:solidFill>
                          <a:latin typeface="DM Sans"/>
                        </a:rPr>
                        <a:t>Source / tool</a:t>
                      </a:r>
                    </a:p>
                  </a:txBody>
                  <a:tcPr marL="54864" marR="54864" marT="27432" marB="27432" anchor="ctr">
                    <a:lnL w="6350">
                      <a:noFill/>
                    </a:lnL>
                    <a:lnR w="6350">
                      <a:noFill/>
                    </a:lnR>
                    <a:lnT w="6350">
                      <a:noFill/>
                    </a:lnT>
                    <a:lnB w="6350">
                      <a:solidFill>
                        <a:srgbClr val="E2E8F0"/>
                      </a:solidFill>
                    </a:lnB>
                    <a:solidFill>
                      <a:srgbClr val="E2E8F0"/>
                    </a:solidFill>
                  </a:tcPr>
                </a:tc>
              </a:tr>
              <a:tr h="420624">
                <a:tc>
                  <a:txBody>
                    <a:bodyPr wrap="square"/>
                    <a:lstStyle/>
                    <a:p>
                      <a:r>
                        <a:rPr sz="960" b="1" i="0">
                          <a:solidFill>
                            <a:srgbClr val="0F172A"/>
                          </a:solidFill>
                          <a:latin typeface="DM Sans"/>
                        </a:rPr>
                        <a:t>2</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Before-state user flow</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Project diagram (drawn for this submission)</a:t>
                      </a:r>
                    </a:p>
                  </a:txBody>
                  <a:tcPr marL="54864" marR="54864" marT="27432" marB="27432" anchor="ctr">
                    <a:lnL w="6350">
                      <a:noFill/>
                    </a:lnL>
                    <a:lnR w="6350">
                      <a:noFill/>
                    </a:lnR>
                    <a:lnT w="6350">
                      <a:noFill/>
                    </a:lnT>
                    <a:lnB w="6350">
                      <a:solidFill>
                        <a:srgbClr val="E2E8F0"/>
                      </a:solidFill>
                    </a:lnB>
                    <a:solidFill>
                      <a:srgbClr val="FFFFFF"/>
                    </a:solidFill>
                  </a:tcPr>
                </a:tc>
              </a:tr>
              <a:tr h="420624">
                <a:tc>
                  <a:txBody>
                    <a:bodyPr wrap="square"/>
                    <a:lstStyle/>
                    <a:p>
                      <a:r>
                        <a:rPr sz="960" b="1" i="0">
                          <a:solidFill>
                            <a:srgbClr val="0F172A"/>
                          </a:solidFill>
                          <a:latin typeface="DM Sans"/>
                        </a:rPr>
                        <a:t>3</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After-state user flow</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Project diagram (drawn for this submission)</a:t>
                      </a:r>
                    </a:p>
                  </a:txBody>
                  <a:tcPr marL="54864" marR="54864" marT="27432" marB="27432" anchor="ctr">
                    <a:lnL w="6350">
                      <a:noFill/>
                    </a:lnL>
                    <a:lnR w="6350">
                      <a:noFill/>
                    </a:lnR>
                    <a:lnT w="6350">
                      <a:noFill/>
                    </a:lnT>
                    <a:lnB w="6350">
                      <a:solidFill>
                        <a:srgbClr val="E2E8F0"/>
                      </a:solidFill>
                    </a:lnB>
                    <a:solidFill>
                      <a:srgbClr val="F8FAFC"/>
                    </a:solidFill>
                  </a:tcPr>
                </a:tc>
              </a:tr>
              <a:tr h="420624">
                <a:tc>
                  <a:txBody>
                    <a:bodyPr wrap="square"/>
                    <a:lstStyle/>
                    <a:p>
                      <a:r>
                        <a:rPr sz="960" b="1" i="0">
                          <a:solidFill>
                            <a:srgbClr val="0F172A"/>
                          </a:solidFill>
                          <a:latin typeface="DM Sans"/>
                        </a:rPr>
                        <a:t>4</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System block diagram</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Project diagram (drawn for this submission)</a:t>
                      </a:r>
                    </a:p>
                  </a:txBody>
                  <a:tcPr marL="54864" marR="54864" marT="27432" marB="27432" anchor="ctr">
                    <a:lnL w="6350">
                      <a:noFill/>
                    </a:lnL>
                    <a:lnR w="6350">
                      <a:noFill/>
                    </a:lnR>
                    <a:lnT w="6350">
                      <a:noFill/>
                    </a:lnT>
                    <a:lnB w="6350">
                      <a:solidFill>
                        <a:srgbClr val="E2E8F0"/>
                      </a:solidFill>
                    </a:lnB>
                    <a:solidFill>
                      <a:srgbClr val="FFFFFF"/>
                    </a:solidFill>
                  </a:tcPr>
                </a:tc>
              </a:tr>
              <a:tr h="420624">
                <a:tc>
                  <a:txBody>
                    <a:bodyPr wrap="square"/>
                    <a:lstStyle/>
                    <a:p>
                      <a:r>
                        <a:rPr sz="960" b="1" i="0">
                          <a:solidFill>
                            <a:srgbClr val="0F172A"/>
                          </a:solidFill>
                          <a:latin typeface="DM Sans"/>
                        </a:rPr>
                        <a:t>5</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Exploded and assembled enclosure views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FreeCAD 1.1 — cad/VergeLink_Enclosure.FCStd</a:t>
                      </a:r>
                    </a:p>
                  </a:txBody>
                  <a:tcPr marL="54864" marR="54864" marT="27432" marB="27432" anchor="ctr">
                    <a:lnL w="6350">
                      <a:noFill/>
                    </a:lnL>
                    <a:lnR w="6350">
                      <a:noFill/>
                    </a:lnR>
                    <a:lnT w="6350">
                      <a:noFill/>
                    </a:lnT>
                    <a:lnB w="6350">
                      <a:solidFill>
                        <a:srgbClr val="E2E8F0"/>
                      </a:solidFill>
                    </a:lnB>
                    <a:solidFill>
                      <a:srgbClr val="F8FAFC"/>
                    </a:solidFill>
                  </a:tcPr>
                </a:tc>
              </a:tr>
              <a:tr h="420624">
                <a:tc>
                  <a:txBody>
                    <a:bodyPr wrap="square"/>
                    <a:lstStyle/>
                    <a:p>
                      <a:r>
                        <a:rPr sz="960" b="1" i="0">
                          <a:solidFill>
                            <a:srgbClr val="0F172A"/>
                          </a:solidFill>
                          <a:latin typeface="DM Sans"/>
                        </a:rPr>
                        <a:t>5</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Strap-loop von Mises stress plot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FreeCAD FEM + CalculiX — cad/VergeLink_StrapLoop_FEA.FCStd</a:t>
                      </a:r>
                    </a:p>
                  </a:txBody>
                  <a:tcPr marL="54864" marR="54864" marT="27432" marB="27432" anchor="ctr">
                    <a:lnL w="6350">
                      <a:noFill/>
                    </a:lnL>
                    <a:lnR w="6350">
                      <a:noFill/>
                    </a:lnR>
                    <a:lnT w="6350">
                      <a:noFill/>
                    </a:lnT>
                    <a:lnB w="6350">
                      <a:solidFill>
                        <a:srgbClr val="E2E8F0"/>
                      </a:solidFill>
                    </a:lnB>
                    <a:solidFill>
                      <a:srgbClr val="FFFFFF"/>
                    </a:solidFill>
                  </a:tcPr>
                </a:tc>
              </a:tr>
              <a:tr h="420624">
                <a:tc>
                  <a:txBody>
                    <a:bodyPr wrap="square"/>
                    <a:lstStyle/>
                    <a:p>
                      <a:r>
                        <a:rPr sz="960" b="1" i="0">
                          <a:solidFill>
                            <a:srgbClr val="0F172A"/>
                          </a:solidFill>
                          <a:latin typeface="DM Sans"/>
                        </a:rPr>
                        <a:t>6</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Mainboard schematic</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960" b="0" i="0">
                          <a:solidFill>
                            <a:srgbClr val="334155"/>
                          </a:solidFill>
                          <a:latin typeface="DM Sans"/>
                        </a:rPr>
                        <a:t>KiCad 10 — kicad/VergeLink_Mainboard.kicad_sch</a:t>
                      </a:r>
                    </a:p>
                  </a:txBody>
                  <a:tcPr marL="54864" marR="54864" marT="27432" marB="27432" anchor="ctr">
                    <a:lnL w="6350">
                      <a:noFill/>
                    </a:lnL>
                    <a:lnR w="6350">
                      <a:noFill/>
                    </a:lnR>
                    <a:lnT w="6350">
                      <a:noFill/>
                    </a:lnT>
                    <a:lnB w="6350">
                      <a:solidFill>
                        <a:srgbClr val="E2E8F0"/>
                      </a:solidFill>
                    </a:lnB>
                    <a:solidFill>
                      <a:srgbClr val="F8FAFC"/>
                    </a:solidFill>
                  </a:tcPr>
                </a:tc>
              </a:tr>
              <a:tr h="420624">
                <a:tc>
                  <a:txBody>
                    <a:bodyPr wrap="square"/>
                    <a:lstStyle/>
                    <a:p>
                      <a:r>
                        <a:rPr sz="960" b="1" i="0">
                          <a:solidFill>
                            <a:srgbClr val="0F172A"/>
                          </a:solidFill>
                          <a:latin typeface="DM Sans"/>
                        </a:rPr>
                        <a:t>7</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FreeCAD session screenshot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960" b="0" i="0">
                          <a:solidFill>
                            <a:srgbClr val="334155"/>
                          </a:solidFill>
                          <a:latin typeface="DM Sans"/>
                        </a:rPr>
                        <a:t>Screen capture of the project model</a:t>
                      </a:r>
                    </a:p>
                  </a:txBody>
                  <a:tcPr marL="54864" marR="54864" marT="27432" marB="27432" anchor="ctr">
                    <a:lnL w="6350">
                      <a:noFill/>
                    </a:lnL>
                    <a:lnR w="6350">
                      <a:noFill/>
                    </a:lnR>
                    <a:lnT w="6350">
                      <a:noFill/>
                    </a:lnT>
                    <a:lnB w="6350">
                      <a:solidFill>
                        <a:srgbClr val="E2E8F0"/>
                      </a:solidFill>
                    </a:lnB>
                    <a:solidFill>
                      <a:srgbClr val="FFFFFF"/>
                    </a:solidFill>
                  </a:tcPr>
                </a:tc>
              </a:tr>
            </a:tbl>
          </a:graphicData>
        </a:graphic>
      </p:graphicFrame>
      <p:sp>
        <p:nvSpPr>
          <p:cNvPr id="161" name="Rounded Rectangle 160"/>
          <p:cNvSpPr/>
          <p:nvPr/>
        </p:nvSpPr>
        <p:spPr>
          <a:xfrm>
            <a:off x="530352" y="4754880"/>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94944" y="4754880"/>
            <a:ext cx="10835640" cy="402336"/>
          </a:xfrm>
          <a:prstGeom prst="rect">
            <a:avLst/>
          </a:prstGeom>
          <a:noFill/>
        </p:spPr>
        <p:txBody>
          <a:bodyPr wrap="square" anchor="ctr" lIns="0" rIns="0" tIns="0" bIns="0">
            <a:spAutoFit/>
          </a:bodyPr>
          <a:lstStyle/>
          <a:p>
            <a:pPr algn="l"/>
            <a:r>
              <a:rPr sz="936" b="1" i="0">
                <a:solidFill>
                  <a:srgbClr val="0F172A"/>
                </a:solidFill>
                <a:latin typeface="DM Sans"/>
              </a:rPr>
              <a:t>Third-party images: </a:t>
            </a:r>
            <a:r>
              <a:rPr sz="936" b="0" i="0">
                <a:solidFill>
                  <a:srgbClr val="475569"/>
                </a:solidFill>
                <a:latin typeface="DM Sans"/>
              </a:rPr>
              <a:t>none. All files are in the project repository: github.com/amalnathkp13-boop/vergelink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